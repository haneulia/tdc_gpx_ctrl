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bccd7d5935410d" /><Relationship Type="http://schemas.openxmlformats.org/officeDocument/2006/relationships/extended-properties" Target="/docProps/app.xml" Id="Reba7c8d48cbf47c1" /><Relationship Type="http://schemas.openxmlformats.org/officeDocument/2006/relationships/officeDocument" Target="/ppt/presentation.xml" Id="R2f2b2721325247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79e978bca04dc2"/>
  </p:sldMasterIdLst>
  <p:notesMasterIdLst>
    <p:notesMasterId xmlns:r="http://schemas.openxmlformats.org/officeDocument/2006/relationships" r:id="R00345d67f1a14fc1"/>
  </p:notesMasterIdLst>
  <p:sldIdLst>
    <p:sldId xmlns:r="http://schemas.openxmlformats.org/officeDocument/2006/relationships" id="256" r:id="R6746bb1d1c734bbd"/>
    <p:sldId xmlns:r="http://schemas.openxmlformats.org/officeDocument/2006/relationships" id="257" r:id="R7ec2c20fbaba4a6c"/>
    <p:sldId xmlns:r="http://schemas.openxmlformats.org/officeDocument/2006/relationships" id="258" r:id="Raa24f583d1e8468d"/>
    <p:sldId xmlns:r="http://schemas.openxmlformats.org/officeDocument/2006/relationships" id="259" r:id="R3316626d3eb042b0"/>
    <p:sldId xmlns:r="http://schemas.openxmlformats.org/officeDocument/2006/relationships" id="260" r:id="R794fb0b0d4224d52"/>
    <p:sldId xmlns:r="http://schemas.openxmlformats.org/officeDocument/2006/relationships" id="261" r:id="R89a3a0739f4c43fd"/>
    <p:sldId xmlns:r="http://schemas.openxmlformats.org/officeDocument/2006/relationships" id="262" r:id="R4c4463beca994e83"/>
    <p:sldId xmlns:r="http://schemas.openxmlformats.org/officeDocument/2006/relationships" id="263" r:id="Rdd66abe6d58f4284"/>
    <p:sldId xmlns:r="http://schemas.openxmlformats.org/officeDocument/2006/relationships" id="264" r:id="Ra3044b022b0d480e"/>
    <p:sldId xmlns:r="http://schemas.openxmlformats.org/officeDocument/2006/relationships" id="265" r:id="R1f947d72ac904f33"/>
    <p:sldId xmlns:r="http://schemas.openxmlformats.org/officeDocument/2006/relationships" id="266" r:id="R35d18e9fe8254128"/>
    <p:sldId xmlns:r="http://schemas.openxmlformats.org/officeDocument/2006/relationships" id="267" r:id="R61a54ea36e854540"/>
    <p:sldId xmlns:r="http://schemas.openxmlformats.org/officeDocument/2006/relationships" id="268" r:id="R8ece9dd29f2a4924"/>
    <p:sldId xmlns:r="http://schemas.openxmlformats.org/officeDocument/2006/relationships" id="269" r:id="Ra09171481fe84a07"/>
    <p:sldId xmlns:r="http://schemas.openxmlformats.org/officeDocument/2006/relationships" id="270" r:id="Ra4c824803def426b"/>
    <p:sldId xmlns:r="http://schemas.openxmlformats.org/officeDocument/2006/relationships" id="271" r:id="R52943c25b99c4d4b"/>
    <p:sldId xmlns:r="http://schemas.openxmlformats.org/officeDocument/2006/relationships" id="272" r:id="R195817607e3143ca"/>
    <p:sldId xmlns:r="http://schemas.openxmlformats.org/officeDocument/2006/relationships" id="273" r:id="R5ce36402b6ad45ba"/>
    <p:sldId xmlns:r="http://schemas.openxmlformats.org/officeDocument/2006/relationships" id="274" r:id="R28a1240791e046c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79e978bca04dc2" /><Relationship Type="http://schemas.openxmlformats.org/officeDocument/2006/relationships/theme" Target="/ppt/theme/theme1.xml" Id="R8f14deaa49684237" /><Relationship Type="http://schemas.openxmlformats.org/officeDocument/2006/relationships/notesMaster" Target="/ppt/notesMasters/notesMaster1.xml" Id="R00345d67f1a14fc1" /><Relationship Type="http://schemas.openxmlformats.org/officeDocument/2006/relationships/presProps" Target="/ppt/presProps.xml" Id="R034e526c555046d4" /><Relationship Type="http://schemas.openxmlformats.org/officeDocument/2006/relationships/viewProps" Target="/ppt/viewProps.xml" Id="R2f9f654b55e74646" /><Relationship Type="http://schemas.openxmlformats.org/officeDocument/2006/relationships/tableStyles" Target="/ppt/tableStyles.xml" Id="R173bbe1a3f9c4215" /><Relationship Type="http://schemas.openxmlformats.org/officeDocument/2006/relationships/slide" Target="/ppt/slides/slide1.xml" Id="R6746bb1d1c734bbd" /><Relationship Type="http://schemas.openxmlformats.org/officeDocument/2006/relationships/slide" Target="/ppt/slides/slide2.xml" Id="R7ec2c20fbaba4a6c" /><Relationship Type="http://schemas.openxmlformats.org/officeDocument/2006/relationships/slide" Target="/ppt/slides/slide3.xml" Id="Raa24f583d1e8468d" /><Relationship Type="http://schemas.openxmlformats.org/officeDocument/2006/relationships/slide" Target="/ppt/slides/slide4.xml" Id="R3316626d3eb042b0" /><Relationship Type="http://schemas.openxmlformats.org/officeDocument/2006/relationships/slide" Target="/ppt/slides/slide5.xml" Id="R794fb0b0d4224d52" /><Relationship Type="http://schemas.openxmlformats.org/officeDocument/2006/relationships/slide" Target="/ppt/slides/slide6.xml" Id="R89a3a0739f4c43fd" /><Relationship Type="http://schemas.openxmlformats.org/officeDocument/2006/relationships/slide" Target="/ppt/slides/slide7.xml" Id="R4c4463beca994e83" /><Relationship Type="http://schemas.openxmlformats.org/officeDocument/2006/relationships/slide" Target="/ppt/slides/slide8.xml" Id="Rdd66abe6d58f4284" /><Relationship Type="http://schemas.openxmlformats.org/officeDocument/2006/relationships/slide" Target="/ppt/slides/slide9.xml" Id="Ra3044b022b0d480e" /><Relationship Type="http://schemas.openxmlformats.org/officeDocument/2006/relationships/slide" Target="/ppt/slides/slide10.xml" Id="R1f947d72ac904f33" /><Relationship Type="http://schemas.openxmlformats.org/officeDocument/2006/relationships/slide" Target="/ppt/slides/slide11.xml" Id="R35d18e9fe8254128" /><Relationship Type="http://schemas.openxmlformats.org/officeDocument/2006/relationships/slide" Target="/ppt/slides/slide12.xml" Id="R61a54ea36e854540" /><Relationship Type="http://schemas.openxmlformats.org/officeDocument/2006/relationships/slide" Target="/ppt/slides/slide13.xml" Id="R8ece9dd29f2a4924" /><Relationship Type="http://schemas.openxmlformats.org/officeDocument/2006/relationships/slide" Target="/ppt/slides/slide14.xml" Id="Ra09171481fe84a07" /><Relationship Type="http://schemas.openxmlformats.org/officeDocument/2006/relationships/slide" Target="/ppt/slides/slide15.xml" Id="Ra4c824803def426b" /><Relationship Type="http://schemas.openxmlformats.org/officeDocument/2006/relationships/slide" Target="/ppt/slides/slide16.xml" Id="R52943c25b99c4d4b" /><Relationship Type="http://schemas.openxmlformats.org/officeDocument/2006/relationships/slide" Target="/ppt/slides/slide17.xml" Id="R195817607e3143ca" /><Relationship Type="http://schemas.openxmlformats.org/officeDocument/2006/relationships/slide" Target="/ppt/slides/slide18.xml" Id="R5ce36402b6ad45ba" /><Relationship Type="http://schemas.openxmlformats.org/officeDocument/2006/relationships/slide" Target="/ppt/slides/slide19.xml" Id="R28a1240791e046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3ac027dcd0149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bfc2df96f2445f" /><Relationship Type="http://schemas.openxmlformats.org/officeDocument/2006/relationships/notesMaster" Target="/ppt/notesMasters/notesMaster1.xml" Id="R2f6ff16bca834b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7f76585e76444e" /><Relationship Type="http://schemas.openxmlformats.org/officeDocument/2006/relationships/notesMaster" Target="/ppt/notesMasters/notesMaster1.xml" Id="Ra245a454105641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e82650dc2444e0" /><Relationship Type="http://schemas.openxmlformats.org/officeDocument/2006/relationships/notesMaster" Target="/ppt/notesMasters/notesMaster1.xml" Id="Rd1f411f58d7941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817dff215c4483" /><Relationship Type="http://schemas.openxmlformats.org/officeDocument/2006/relationships/notesMaster" Target="/ppt/notesMasters/notesMaster1.xml" Id="Rabaa39408f2e46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42cdc8bcef47a4" /><Relationship Type="http://schemas.openxmlformats.org/officeDocument/2006/relationships/notesMaster" Target="/ppt/notesMasters/notesMaster1.xml" Id="Rc84c83d0d71b4a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cf286d6c4a4724" /><Relationship Type="http://schemas.openxmlformats.org/officeDocument/2006/relationships/notesMaster" Target="/ppt/notesMasters/notesMaster1.xml" Id="Ref3c42c59e2049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a16839c16846db" /><Relationship Type="http://schemas.openxmlformats.org/officeDocument/2006/relationships/notesMaster" Target="/ppt/notesMasters/notesMaster1.xml" Id="R5212fdab391c4e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bb6ca97a24469f" /><Relationship Type="http://schemas.openxmlformats.org/officeDocument/2006/relationships/notesMaster" Target="/ppt/notesMasters/notesMaster1.xml" Id="R51461c68b9764c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bd4e2e00cb45e3" /><Relationship Type="http://schemas.openxmlformats.org/officeDocument/2006/relationships/notesMaster" Target="/ppt/notesMasters/notesMaster1.xml" Id="R3cb6af1d416747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8970c688cb14ae4" /><Relationship Type="http://schemas.openxmlformats.org/officeDocument/2006/relationships/notesMaster" Target="/ppt/notesMasters/notesMaster1.xml" Id="Rd44d7c1e9e7e489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10de3cabe054ef3" /><Relationship Type="http://schemas.openxmlformats.org/officeDocument/2006/relationships/notesMaster" Target="/ppt/notesMasters/notesMaster1.xml" Id="R2edc6be0801f45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86eb5fc196f43e6" /><Relationship Type="http://schemas.openxmlformats.org/officeDocument/2006/relationships/notesMaster" Target="/ppt/notesMasters/notesMaster1.xml" Id="R6a8049c1c560458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636038cf3d44998" /><Relationship Type="http://schemas.openxmlformats.org/officeDocument/2006/relationships/notesMaster" Target="/ppt/notesMasters/notesMaster1.xml" Id="R6fe9b0d8e7f6490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5e9747ac7784b29" /><Relationship Type="http://schemas.openxmlformats.org/officeDocument/2006/relationships/notesMaster" Target="/ppt/notesMasters/notesMaster1.xml" Id="R88fc1d25bf1c427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8496f2ca0fe4259" /><Relationship Type="http://schemas.openxmlformats.org/officeDocument/2006/relationships/notesMaster" Target="/ppt/notesMasters/notesMaster1.xml" Id="R7a1a6ff9a85c46a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37b20eedd3e46ec" /><Relationship Type="http://schemas.openxmlformats.org/officeDocument/2006/relationships/notesMaster" Target="/ppt/notesMasters/notesMaster1.xml" Id="Re44b50db2e2a491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608e72ccb4e4a88" /><Relationship Type="http://schemas.openxmlformats.org/officeDocument/2006/relationships/notesMaster" Target="/ppt/notesMasters/notesMaster1.xml" Id="Ra44fb7eb16974b8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108f21ecd9b422c" /><Relationship Type="http://schemas.openxmlformats.org/officeDocument/2006/relationships/notesMaster" Target="/ppt/notesMasters/notesMaster1.xml" Id="Rd5d47c9589d7435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2ad1ff3310741ba" /><Relationship Type="http://schemas.openxmlformats.org/officeDocument/2006/relationships/notesMaster" Target="/ppt/notesMasters/notesMaster1.xml" Id="Rcfb727b4ed1a46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HDL 워크스페이스 기준 코드 분석 보고서. 실행 가능한 운용 개념과 코드 리뷰 지적을 함께 제공한다.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파일 수와 라인 수는 로컬 소스에서 산출했다. rg는 sandbox에서 접근 거부되어 PowerShell Select-String/Get-Content로 분석했다.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상단 5개 블록은 주 데이터 경로, 하단 2개 블록은 sequencing과 관측 경로로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운용상 가장 중요한 보강점은 클럭 주파수 계약을 하나로 정리하는 것이다.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SW 드라이버 문서에 power-up 및 error recovery 순서가 있다. PPT에서는 실제 운용 절차로 다시 압축한다.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운영자는 정상 흐름의 각 경계가 어떤 상태/status로 닫히는지 알아야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config_ctrl의 header comment가 reset-domain map을 자세히 설명한다. 원문은 tdc_gpx_config_ctrl.vhd 초반.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bus_phy는 TDC 병렬 버스 timing closure와 contention 방지가 핵심이다.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drain_done/faulted flag 전달은 후단 frame/row fault observability와 연결된다.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cell_builder는 해당 코드에서 가장 상세한 운용 주석이 있는 모듈 중 하나다.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VDMA frame size 보존을 위해 abort보다 blank-fill/self-complete 정책이 중요하다.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face_seq를 이해하면 왜 top이 많은 idle/tvalid 신호를 되먹임하는지 보인다.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fault propagation은 이번 분석에서 보강 설명이 필요한 핵심이다.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운용자가 status를 오해하면 정상 self-complete와 faulted close를 구분하지 못한다.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방어적 설계의 핵심은 시스템이 멈추지 않는 대신 status 해석이 더 중요해졌다는 점이다.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합성/시뮬레이션을 이번 실행에서 돌리지는 못했다. 코드 리뷰 기반 finding이다.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요청한 '부족한 운용 개념 추가' 목적에 맞춘 구체 항목.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이번 작업은 PPT 산출이 목적이므로 소스 컴파일은 실행하지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마무리는 실행 가능한 next action으로 압축한다.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1fc78dad19487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866606dafb54c23" /><Relationship Type="http://schemas.openxmlformats.org/officeDocument/2006/relationships/slideLayout" Target="/ppt/slideLayouts/slideLayout2.xml" Id="Rc1aad4b5c92042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aad4b5c92042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1dd3b2cc354297" /><Relationship Type="http://schemas.openxmlformats.org/officeDocument/2006/relationships/notesSlide" Target="/ppt/notesSlides/notesSlide1.xml" Id="R1e7d2950417c4c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4865da65ca44b4" /><Relationship Type="http://schemas.openxmlformats.org/officeDocument/2006/relationships/notesSlide" Target="/ppt/notesSlides/notesSlide2.xml" Id="Rfeab961169dd4d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bb3847842040e7" /><Relationship Type="http://schemas.openxmlformats.org/officeDocument/2006/relationships/notesSlide" Target="/ppt/notesSlides/notesSlide3.xml" Id="R00ea1814fff54b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f1ba4b24d2415e" /><Relationship Type="http://schemas.openxmlformats.org/officeDocument/2006/relationships/notesSlide" Target="/ppt/notesSlides/notesSlide4.xml" Id="R289620faf3374e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51c55e40e34d7d" /><Relationship Type="http://schemas.openxmlformats.org/officeDocument/2006/relationships/notesSlide" Target="/ppt/notesSlides/notesSlide5.xml" Id="Rc7cca94f8aee4f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7c36b172df4f53" /><Relationship Type="http://schemas.openxmlformats.org/officeDocument/2006/relationships/notesSlide" Target="/ppt/notesSlides/notesSlide6.xml" Id="Rd816cda9b6fd4d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6f65d41a484e1e" /><Relationship Type="http://schemas.openxmlformats.org/officeDocument/2006/relationships/notesSlide" Target="/ppt/notesSlides/notesSlide7.xml" Id="R9041a482267f41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4585364f394ae7" /><Relationship Type="http://schemas.openxmlformats.org/officeDocument/2006/relationships/notesSlide" Target="/ppt/notesSlides/notesSlide8.xml" Id="Rc26264075c8b41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c7e2acc7b24b11" /><Relationship Type="http://schemas.openxmlformats.org/officeDocument/2006/relationships/notesSlide" Target="/ppt/notesSlides/notesSlide9.xml" Id="R2eb593702fc44b8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26d44a0c5949dd" /><Relationship Type="http://schemas.openxmlformats.org/officeDocument/2006/relationships/notesSlide" Target="/ppt/notesSlides/notesSlide10.xml" Id="Rbc4936654aef4fc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306b98db7f43cc" /><Relationship Type="http://schemas.openxmlformats.org/officeDocument/2006/relationships/notesSlide" Target="/ppt/notesSlides/notesSlide11.xml" Id="R4e9ee9183c3e439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901677c62545cf" /><Relationship Type="http://schemas.openxmlformats.org/officeDocument/2006/relationships/notesSlide" Target="/ppt/notesSlides/notesSlide12.xml" Id="Rbdb70b23937145b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7a8edebff64a2d" /><Relationship Type="http://schemas.openxmlformats.org/officeDocument/2006/relationships/notesSlide" Target="/ppt/notesSlides/notesSlide13.xml" Id="R5041ebb6fad24cd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8372030d0e445a" /><Relationship Type="http://schemas.openxmlformats.org/officeDocument/2006/relationships/notesSlide" Target="/ppt/notesSlides/notesSlide14.xml" Id="Rf9cc0e6f4b0c48b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e82f3c696d4779" /><Relationship Type="http://schemas.openxmlformats.org/officeDocument/2006/relationships/notesSlide" Target="/ppt/notesSlides/notesSlide15.xml" Id="R9d3c65969cc24ee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9b39e028d24667" /><Relationship Type="http://schemas.openxmlformats.org/officeDocument/2006/relationships/notesSlide" Target="/ppt/notesSlides/notesSlide16.xml" Id="R2b32d391fb80410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8da218072d4f2d" /><Relationship Type="http://schemas.openxmlformats.org/officeDocument/2006/relationships/notesSlide" Target="/ppt/notesSlides/notesSlide17.xml" Id="Ra95e2d6a4eae4c1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a601ca383842b4" /><Relationship Type="http://schemas.openxmlformats.org/officeDocument/2006/relationships/notesSlide" Target="/ppt/notesSlides/notesSlide18.xml" Id="Rfdeafea40400496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0c75b4d3f642e8" /><Relationship Type="http://schemas.openxmlformats.org/officeDocument/2006/relationships/notesSlide" Target="/ppt/notesSlides/notesSlide19.xml" Id="Ra63cb9bf83504a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04BE34-5177-4B14-8DB5-50C33D9BB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DC07B6-C65A-4D51-9BAA-0C911EC0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8B6F5-B3A0-4650-B370-11CEF967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42950"/>
            <a:ext cx="342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6A4"/>
          </a:solidFill>
          <a:ln xmlns:a="http://schemas.openxmlformats.org/drawingml/2006/main" w="0">
            <a:solidFill>
              <a:srgbClr val="2CA6A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2F85CA-BB6D-4CC8-9822-3D539006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647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7F3D0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A7F3D0"/>
                </a:solidFill>
                <a:latin typeface="Aptos Mono"/>
                <a:ea typeface="Aptos Mono"/>
                <a:cs typeface="Aptos Mono"/>
              </a:rPr>
              <a:t>TDC-GPX Controller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5205E7-4C14-45FC-856C-57164966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8858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tdc_gpx_top 운용 개념 및 코드 리뷰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56CF92-1CBC-474A-B0E4-FA488AFC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38450"/>
            <a:ext cx="781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CE8F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DCE8F7"/>
                </a:solidFill>
                <a:latin typeface="Malgun Gothic"/>
                <a:ea typeface="Malgun Gothic"/>
                <a:cs typeface="Malgun Gothic"/>
              </a:rPr>
              <a:t>Top 모듈과 하위 클러스터의 동작 흐름, 운용 계약, 상태/오류 관측, 코드 보강 포인트를 현재 HDL 기준으로 정리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559B5F-D735-44AA-9BDD-AFB20737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29100"/>
            <a:ext cx="3381375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B5C74D-72D3-449A-9370-6BAB7F5F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2910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36B53A-AE9F-4531-8E33-4C6FE67A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3057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목적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2D6405-30BF-4BB0-81CA-472864A2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05350"/>
            <a:ext cx="3057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운용 개념의 빈틈을 보강하고, 코드상 유지보수/통합 리스크를 보고합니다.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5D9406-0355-4F8D-85E9-58DA22A3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229100"/>
            <a:ext cx="3381375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3E154F-AF14-415D-8227-8C2E752E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22910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6A4"/>
          </a:solidFill>
          <a:ln xmlns:a="http://schemas.openxmlformats.org/drawingml/2006/main" w="0">
            <a:solidFill>
              <a:srgbClr val="2CA6A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81096F-21E9-4C7C-A959-58B899FC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381500"/>
            <a:ext cx="3057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A6A4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CA6A4"/>
                </a:solidFill>
                <a:latin typeface="Aptos Mono"/>
                <a:ea typeface="Aptos Mono"/>
                <a:cs typeface="Aptos Mono"/>
              </a:rPr>
              <a:t>분석 범위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97A11C-AB35-460C-9F8C-9DC83C98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705350"/>
            <a:ext cx="3057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tdc_gpx_top.vhd 및 직접 연결된 CSR, 제어, decode, cell, output, status 계층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460B9E-0600-418E-AAF1-4F2B7798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29100"/>
            <a:ext cx="3381375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99A403-E67E-4AA7-A9AC-90CEB00B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2910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58D115-01F2-4351-921A-4990E2E8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81500"/>
            <a:ext cx="3057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작성일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300962-C6B0-4382-BEEE-DAF631BC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05350"/>
            <a:ext cx="3057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2026-04-29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소스 경로: HDL workspace</a:t>
            </a:r>
          </a:p>
        </p:txBody>
      </p:sp>
    </p:spTree>
    <p:extLst>
      <p:ext uri="{BB962C8B-B14F-4D97-AF65-F5344CB8AC3E}">
        <p14:creationId xmlns:p14="http://schemas.microsoft.com/office/powerpoint/2010/main" val="5476953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CC45CD-09BB-41E1-A8DE-D5787F12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217DB8-E653-4328-AD43-6AA62678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4ABB13-6E45-4D74-9007-572A2637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TDC-GPX TOP 코드 분석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35983-459C-4B48-AE26-2FA83F5D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분석 범위와 읽는 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52000E-4DCC-405C-A1B6-DD4BA0E1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02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4E504A-9235-4E55-98D9-F8E808B4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7907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601DF4-5FC0-4558-83CF-2AB1F99C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790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8AD0A4-275F-4918-82D6-A1DE6EA4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1447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2250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BC7557-D9C2-42BA-B443-48D40760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85925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tdc_gpx_*.vhd 파일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AF89C6-B12C-4ABB-AF4B-20EFA258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066800"/>
            <a:ext cx="17907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11B1F8-1C1A-441D-AACA-AAEAAAEC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066800"/>
            <a:ext cx="1790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C64A67-C302-41FE-A935-DE77DE87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257300"/>
            <a:ext cx="1447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2250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C8965D-B7B8-44B0-A5BD-83904A70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685925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테스트벤치/시나리오 파일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6861C6-CB8F-4483-BAEB-CA7A8C8F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066800"/>
            <a:ext cx="17907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CB19C1-E452-4710-9355-ECD7E395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066800"/>
            <a:ext cx="1790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225A6C-2952-41C4-BC2A-AB6D0F28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257300"/>
            <a:ext cx="1447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2250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1,090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A465D7-F53D-4CEF-A103-ACC3ECD6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685925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tdc_gpx_top.vhd 라인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A137FD-8732-4A6E-99D1-0C14EBDC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066800"/>
            <a:ext cx="17907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35D834-D4DC-4ADD-8186-BC7C21F8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066800"/>
            <a:ext cx="1790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BD6"/>
          </a:solidFill>
          <a:ln xmlns:a="http://schemas.openxmlformats.org/drawingml/2006/main" w="0">
            <a:solidFill>
              <a:srgbClr val="5B5B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0D6188-8590-4556-8DB2-464B4CF0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257300"/>
            <a:ext cx="1447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2250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3BCFF5-EAB5-4E7D-BB49-5E42602B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685925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주요 클럭 도메인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FAA6E1-6A8C-4912-80B7-E9BA8E12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066800"/>
            <a:ext cx="17907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8FF466-C572-4873-B152-3299E3BD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066800"/>
            <a:ext cx="1790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6538CA-15BC-4E47-9AA4-71A874AF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257300"/>
            <a:ext cx="1447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2250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077C1D-9F06-41CF-8E5F-6F33258E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685925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Top 직접 인스턴스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B56B87-D17F-402B-A504-18D29298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86050"/>
            <a:ext cx="3429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6F7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E18CDB-571E-4717-A07A-9EAE9AD4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86050"/>
            <a:ext cx="666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8F9DE6-C3A4-44EB-861B-EDDCAE62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3105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운용 개념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A589D6-47DE-49C8-9E05-ED371182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31051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SW가 어떤 순서로 CSR을 쓰고, start/shot/stop/soft_reset/force_reinit을 어떤 조건에서 발행해야 하는지 설명합니다.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F8CCAE-0907-4897-A772-5165CCDA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86050"/>
            <a:ext cx="3429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DC5270-6DA8-4C73-B568-AC460A34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86050"/>
            <a:ext cx="666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B8F82D-0215-4090-8749-F2016760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38450"/>
            <a:ext cx="3105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데이터 경로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3DA543-D7DF-473C-9F87-8418BC69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62300"/>
            <a:ext cx="31051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TDC raw word가 decode, event, cell, face, header 단계를 지나 VDMA 라인으로 나오는 흐름을 추적합니다.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DB88CA-7A9E-415C-B67B-7BB7BD11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86050"/>
            <a:ext cx="3429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78EFA1-C638-4A1A-A173-8D118A6F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86050"/>
            <a:ext cx="666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A748CA-F897-4429-A965-1C58F589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3105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코드 검토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A8DAF6-7CD7-49EA-960B-FB212BB8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62300"/>
            <a:ext cx="31051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확정 버그보다 통합 리스크, 문서 불일치, unused glue, legacy 인터페이스, VHDL 표준 의존성을 중점으로 봅니다.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DB957D1-DCD7-4720-91B7-0D5C1A18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388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주요 근거: tdc_gpx_top.vhd, tdc_gpx_config_ctrl.vhd, tdc_gpx_pkg.vhd, Doc/register_map.md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AE4FC3-6013-45DE-A34A-B6BE717E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1D48C91-BE54-4AF9-8296-2107AC43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source: current HDL workspace review, 2026-04-29</a:t>
            </a:r>
          </a:p>
        </p:txBody>
      </p:sp>
    </p:spTree>
    <p:extLst>
      <p:ext uri="{BB962C8B-B14F-4D97-AF65-F5344CB8AC3E}">
        <p14:creationId xmlns:p14="http://schemas.microsoft.com/office/powerpoint/2010/main" val="17616786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783324-3E9C-4F44-921D-8DB5C520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CDB0C-E2DE-490D-B58D-FB22D316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B40AC3-F4C6-495F-A2CB-CFF82265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TDC-GPX TOP 코드 분석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7D0692-9A32-4365-A0B2-F90335DC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Top-level 모듈 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E00DC9-9197-48ED-9A99-DB15A3DC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03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4A0929-86BA-40F6-86A1-208CE7B2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tdc_gpx_top은 7개 블록을 조립하는 시스템 경계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61B439-7E4A-43EB-A05D-8A6B5A5E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제어/상태, 칩 버스, decode, cell, output, sequencing이 Top에서 만나며 대부분의 운용 계약도 여기서 닫힙니다.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51EB8A-4A6A-40BF-B0C2-470772AF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0"/>
            <a:ext cx="19240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2A9998-3133-4CC1-82DF-58F086FB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0"/>
            <a:ext cx="1924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BD6"/>
          </a:solidFill>
          <a:ln xmlns:a="http://schemas.openxmlformats.org/drawingml/2006/main" w="0">
            <a:solidFill>
              <a:srgbClr val="5B5B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29C806-9728-4360-B465-6564B1B3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581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csr_pipeline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0F8D56-F979-47EF-93AC-4AE9830B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571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AXI-Lite #2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pipeline control/status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10C3EB-0906-48ED-9BAC-3EB3B116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71825"/>
            <a:ext cx="5143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04948F-DF68-4F9B-B029-58056D98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48025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D01F69-78AC-4BEC-B445-62F380A9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62250"/>
            <a:ext cx="19240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34747E-BF1D-480E-BEF7-D6BA0BBF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62250"/>
            <a:ext cx="1924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C3D47E-43F8-4D0F-A902-78D683ED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71800"/>
            <a:ext cx="1581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config_ctrl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749B33-E8AC-4F89-AEDC-A4A418B7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76600"/>
            <a:ext cx="1571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chip CSR + cmd_arb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bus_phy/chip_ctrl x4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E4D43E-1455-43F0-9260-7827900B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71825"/>
            <a:ext cx="5143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66652C-8CF6-454F-A8FE-8AC8429F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48025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C878AC-D75D-44EF-A324-49A510BF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19240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F6C3E6-BE84-44E4-B2C8-2CD61D4C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1924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C313E5-66E2-4A86-98DD-CBD12FAE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71800"/>
            <a:ext cx="1581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decode_pipe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6816A3-6FDA-4498-9D35-D1AF85C7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76600"/>
            <a:ext cx="1571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raw word decode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raw_event_builder x4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7228DD-0BAE-48C5-BD4A-077FA6F9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71825"/>
            <a:ext cx="5143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44B808-403D-4418-A7DA-D16C7E95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48025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BD589F-9630-4FFF-B6CB-99FE9F46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62250"/>
            <a:ext cx="19240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C3C6B9-32C7-4DF9-AAFD-CC847B8E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62250"/>
            <a:ext cx="1924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0F0041-D2AF-42DF-91DC-24FC314E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71800"/>
            <a:ext cx="1581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cell_pipe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033D15-A671-40AB-8ECB-A6253E26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276600"/>
            <a:ext cx="1571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slope demux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cell_builder rise/fall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E373F0-A0E2-454D-B066-28AC9F59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71825"/>
            <a:ext cx="5143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919022-7284-4809-B3AA-74C303FC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48025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BC984C-AD22-4B4A-AA4A-EDF91A2C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62250"/>
            <a:ext cx="19240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0C3D5F-BBAA-426D-B365-330FC45F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62250"/>
            <a:ext cx="1924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A39B73-95D4-4034-953B-86AFCA25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971800"/>
            <a:ext cx="1581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rPr>
              <a:t>output_stage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B64121-CA7D-493C-912A-A2EE7847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276600"/>
            <a:ext cx="1571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face_assembler + FIFO</a:t>
            </a:r>
          </a:p>
          <a:p xmlns:a="http://schemas.openxmlformats.org/drawingml/2006/main">
            <a:pPr algn="l">
              <a:def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header_inserter x2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12D05A-2752-4669-B8BA-23BFA354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91050"/>
            <a:ext cx="36385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837112-A93D-4036-A245-F2A90FC7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91050"/>
            <a:ext cx="3638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4BF9A2-B99C-4FE5-85AA-AA268579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800600"/>
            <a:ext cx="3295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face_seq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DB841F-6A48-4E4C-B8DC-4499FAFC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29200"/>
            <a:ext cx="3162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cmd_start 수락, shot/face gating, frame/face id, geometry snapshot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78A946-7C55-4C4E-AFE2-3163814E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91050"/>
            <a:ext cx="4095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5E7B67-FE2D-465F-B3F9-E3BC5D15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91050"/>
            <a:ext cx="4095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47556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CFC489B-9DBF-408E-B064-DC85CC04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00600"/>
            <a:ext cx="3752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status_agg + top stickies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1684406-1F1A-484D-AA0F-AF62EA4D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029200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busy/error/sticky/counter를 t_tdc_status로 모아 CSR에 전달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3CD77F0-96D9-47BA-9656-1ABD6499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388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Top 직접 인스턴스: tdc_gpx_top.vhd:403,450,605,631,695,820,883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397DE65-071F-4999-B426-4DEAFA99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AC2233F-A62E-452C-A051-EB36ECE3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source: current HDL workspace review, 2026-04-29</a:t>
            </a:r>
          </a:p>
        </p:txBody>
      </p:sp>
    </p:spTree>
    <p:extLst>
      <p:ext uri="{BB962C8B-B14F-4D97-AF65-F5344CB8AC3E}">
        <p14:creationId xmlns:p14="http://schemas.microsoft.com/office/powerpoint/2010/main" val="19641488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7936E5-F464-490D-9DB5-A37E2335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3E5354-6C31-4EBC-B8A5-A9217355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1EBB78-F3E4-4DE5-BFC0-1965DA24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TDC-GPX TOP 코드 분석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7B93E-684C-4AE2-BA20-38860E0B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클럭 도메인과 CDC 계약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D24E93-D6E5-4E8E-95D4-AFFBC22B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04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A86291-7121-49B0-853A-21F6448C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33909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0F0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2CA2C0-B9C7-41E3-A07A-6D1D5069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666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BD6"/>
          </a:solidFill>
          <a:ln xmlns:a="http://schemas.openxmlformats.org/drawingml/2006/main" w="0">
            <a:solidFill>
              <a:srgbClr val="5B5B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4CB55C-67FD-4200-8D18-ECE822FE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19200"/>
            <a:ext cx="3067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rPr>
              <a:t>s_axi_aclk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ABFFB5-B1FA-4D19-8C09-0550A066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43050"/>
            <a:ext cx="3067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PS/AXI-Lite 도메인. CSR register IP가 위치하고 CTL/STAT은 handshake CDC로 runtime 도메인과 왕복합니다.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1DE614-CCB7-4ACC-9E3A-6A3620E9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066800"/>
            <a:ext cx="33909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6F7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D638E9-FC3C-424D-9EA4-3406BC34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066800"/>
            <a:ext cx="666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B4CF48-280D-4E48-8313-307D79B4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219200"/>
            <a:ext cx="3067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i_axis_aclk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EFCD48-4CC8-4E3A-877B-444C125A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543050"/>
            <a:ext cx="3067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AXI-Stream 처리 도메인. face_seq, decode/cell/output/status의 주 제어와 데이터 처리 기준입니다.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A7344D-DD8A-4E2B-A70C-3E99AFEF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066800"/>
            <a:ext cx="33909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67FBA3-5CE1-4EB8-A8ED-8F370A0D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066800"/>
            <a:ext cx="666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2B58A0-F477-4D64-9EE7-DAFFC077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219200"/>
            <a:ext cx="3067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i_tdc_clk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A11B51-EE48-4379-8842-A0E010BF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543050"/>
            <a:ext cx="30670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TDC-GPX 병렬 버스 도메인. bus_phy, chip_ctrl 및 per-chip FSM이 동작하고 raw FIFO로 AXI 도메인에 넘어갑니다.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60799C-3F4B-4A74-96BF-A59F5818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81350"/>
            <a:ext cx="20002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5B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6B1CD7-B863-4289-9658-A1D29331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2575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xpm_cdc_handshake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2BB9D8-5D4B-4D9F-8320-4392F1CE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81350"/>
            <a:ext cx="20002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EBB60E-531A-40A9-BEFF-06C05005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575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xpm_cdc_pulse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43B2F8-D63E-4873-9C20-AE573421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81350"/>
            <a:ext cx="20002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50A818-4DA8-426B-8292-E31E18A5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575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xpm_fifo_async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1606FD-4F41-4F70-A123-EC5DD58C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운용 계약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4928C9-75D0-45E8-9082-FC23408B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67151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1. CSR 설정은 CDC idle 확인 후 명령을 내보내야 합니다.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2. quasi-static 설정은 명령 펄스보다 먼저 안정화되어야 합니다.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3. TDC 도메인 sticky는 AXI 도메인으로 2-FF 또는 handshake를 거쳐 관측됩니다.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4. soft_reset/err_soft_clear는 모든 sticky를 동일하게 지우지 않습니다.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01426E-E78B-4FA6-9068-B908146B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10DAA6-5311-4E10-84E6-976363F5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957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330519-FF01-441E-876A-C6AE23D6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48150"/>
            <a:ext cx="3009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주의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5C4837-6018-491E-B076-4DCB1BF8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72000"/>
            <a:ext cx="3009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859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코드 주석에 i_axis_aclk 150 MHz와 200 MHz 표기가 섞여 있습니다. timeout/거리 환산 계약은 반드시 하나로 고정해야 합니다.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C333FB-A96A-4F2C-B24A-D2F3C2E3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38850"/>
            <a:ext cx="942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주석 불일치 예: tdc_gpx_top.vhd:20 vs :45, tdc_gpx_config_ctrl.vhd:22/:68, tdc_gpx_cfg_pkg.vhd:305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204F62-0DF0-4724-B4C3-6189B65A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B77EDF-BEF2-4C8B-976F-C0275850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source: current HDL workspace review, 2026-04-29</a:t>
            </a:r>
          </a:p>
        </p:txBody>
      </p:sp>
    </p:spTree>
    <p:extLst>
      <p:ext uri="{BB962C8B-B14F-4D97-AF65-F5344CB8AC3E}">
        <p14:creationId xmlns:p14="http://schemas.microsoft.com/office/powerpoint/2010/main" val="14353191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F531D4-096A-4406-97AD-DC26E7A6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820727-2701-4CB4-AFA7-A6B6FE5D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AFC9B6-1A21-495C-8056-92EBE072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TDC-GPX TOP 코드 분석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F0D142-C798-4187-9575-78F49FF6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CSR와 command plane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A07ABA-6ECC-4D55-AE92-10FD12A66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05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69F226-5654-492A-8776-07919D2D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두 CSR 포트가 하나의 운용 상태를 만든다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49201E-5610-459F-8CE9-57923B99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pipeline CSR은 start/stop/geometry/status, chip CSR은 TDC register image와 개별 register access를 담당합니다.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927A09-B1B9-4013-B6FA-E884139F2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32385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0F0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DAB6BE-59A3-4052-9C25-8EE035F3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6667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BD6"/>
          </a:solidFill>
          <a:ln xmlns:a="http://schemas.openxmlformats.org/drawingml/2006/main" w="0">
            <a:solidFill>
              <a:srgbClr val="5B5B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4534D5-3F19-4D92-B4CE-DF72C65B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914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rPr>
              <a:t>csr_pipeline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00EE8C-9CF9-42DE-92F9-E84AE548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29146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CTL0 MAIN_CTRL: active mask, n_faces, stops, drain, COMMAND</a:t>
            </a:r>
          </a:p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CTL1 RANGE_COLS: max_range_clks, cols_per_face</a:t>
            </a:r>
          </a:p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CTL2 AUX_CMD: force_reinit, err_soft_clear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DC68A3-1BBA-4BE4-AB64-0852BDF3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32385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E6F7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644E33-5B2C-462D-8B85-704641CC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6667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877B9F-CC61-4B89-8CB5-666C2144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28900"/>
            <a:ext cx="2914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csr_chip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7A8979-50E8-4FE8-875A-55E32C50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52750"/>
            <a:ext cx="29146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BUS_TIMING, START_OFF1, CFG_REG7, CFG_IMAGE[0..15], SCAN_TIMEOUT, per-chip reg read/write trigger와 결과 STAT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2DE934-AF9A-492F-9E77-6313E372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76500"/>
            <a:ext cx="32385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373188-5685-4BB7-AEF7-B444CFEE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76500"/>
            <a:ext cx="6667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D6228C-4D05-405E-BDFF-A21CBCAA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28900"/>
            <a:ext cx="2914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cmd_arb / gating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43F7B1-825F-45BD-8003-27356A10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52750"/>
            <a:ext cx="29146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cfg_write는 전체 pipeline idle일 때 통과합니다. reg access는 chip mask 기반으로 병렬 dispatch하고 timeout/reject sticky를 남깁니다.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D7DED8-80A5-4459-909D-5685F6CF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91100"/>
            <a:ext cx="18097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B5B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7EECA5-1435-4A4E-96E5-D4437717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673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write config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A8E151-E599-4BC4-A31B-D9D04264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18097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C76F73-3E85-44C4-97AB-994046B8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0673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cmd_cfg_write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427BDA-2D8D-46D0-8D2E-E6828BAC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991100"/>
            <a:ext cx="18097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47E456-BEBF-4859-A959-A12B6205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0673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poll busy=0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F8C088-656B-4B10-8502-E23254DC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991100"/>
            <a:ext cx="180975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5A1BF8-5429-468B-9BA5-79190C4A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0673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cmd_start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AAFB3F-D25D-474E-9DA6-3D9BA225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추천 운용 순서: CFG_IMAGE/BUS_TIMING 작성 -&gt; cmd_cfg_write -&gt; busy=0 확인 -&gt; RANGE/SCAN 설정 -&gt; cmd_start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933837-82B4-4341-80AB-692C797A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38850"/>
            <a:ext cx="885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Doc/register_map.md, tdc_gpx_csr_pipeline.vhd:1-47, tdc_gpx_csr_chip.vhd:1-56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FA8EFD-4222-4A4A-8958-EA0B3E1E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544B14-FFBA-4D2B-91CB-588231A0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source: current HDL workspace review, 2026-04-29</a:t>
            </a:r>
          </a:p>
        </p:txBody>
      </p:sp>
    </p:spTree>
    <p:extLst>
      <p:ext uri="{BB962C8B-B14F-4D97-AF65-F5344CB8AC3E}">
        <p14:creationId xmlns:p14="http://schemas.microsoft.com/office/powerpoint/2010/main" val="3682517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522B9D-A79D-49D0-853E-F77EF903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3DF3D1-F8CB-4722-B228-748DA75A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15A7AA-3032-4F25-A3AB-59BC592B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TDC-GPX TOP 코드 분석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AB8E4-F394-4F39-90B6-AC0564AA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정상 측정 lifecycle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55F4F-4FCA-444E-A4BB-4F6B3F6F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06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7C5573-7813-4E5C-9048-303C9299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6383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A6E9E8-C4BD-4800-91BF-C9C9485C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5BD6"/>
          </a:solidFill>
          <a:ln xmlns:a="http://schemas.openxmlformats.org/drawingml/2006/main" w="0">
            <a:solidFill>
              <a:srgbClr val="5B5B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70835E-4AFE-48B1-980A-5C4487EF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F378CF-7201-4F62-891D-74DAD064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1450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BD6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5B5BD6"/>
                </a:solidFill>
                <a:latin typeface="Aptos Mono"/>
                <a:ea typeface="Aptos Mono"/>
                <a:cs typeface="Aptos Mono"/>
              </a:rPr>
              <a:t>1. Configure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BA780C-77D2-4992-B88C-92A646D8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295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CSR 설정과 cfg_write</a:t>
            </a:r>
          </a:p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칩 register image 반영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9D048E-8E0A-4B99-8FA3-E4C9BB37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971675"/>
            <a:ext cx="476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DA1CDB-7694-4AE0-879B-44B1BA75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047875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0314BE-35C4-4763-AEB8-F387B48C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524000"/>
            <a:ext cx="16383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475F3F-230F-44AE-B38C-364BCAE8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695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D25AEE-CE23-4F41-8795-0DC0C6A3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752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E67785-F9AF-43A8-B64F-53FE3B2D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71450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2. Arm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4BA040-7B96-4EC7-9434-290D4812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152650"/>
            <a:ext cx="1295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cmd_start accepted</a:t>
            </a:r>
          </a:p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face/geometry snapshot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F037AF-5A7C-4601-B86E-BD0A659C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971675"/>
            <a:ext cx="476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CC63CE-6A94-404A-8B81-6FF58680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047875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641A35-1B4D-4F3C-B088-2B2D9061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24000"/>
            <a:ext cx="16383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547594-B325-4DF5-B0E0-E5617D97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95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56ABDA-5973-42DB-9D99-A99181B0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52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B225CF-A4AA-45BA-8593-5571C002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71450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3. Shot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F16DB4-CDE2-48AD-BD0F-492EA6FA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52650"/>
            <a:ext cx="1295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shot_start edge pulse</a:t>
            </a:r>
          </a:p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active chip별 capture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302DF7-BF3D-4B48-B55D-26677B90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971675"/>
            <a:ext cx="476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3A47A6-61C1-42F6-9044-54B52DA9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47875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8E70A0-2011-4F87-A034-B59B4103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24000"/>
            <a:ext cx="16383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6318B5-7EF2-4B88-82BA-AD741832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50D998-92EA-47D3-8E65-7FDA2BC8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52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8EB455-889F-4B81-BF4B-33E671A5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1450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4. Drain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B24AEE-0283-4535-8A79-E23424C4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52650"/>
            <a:ext cx="1295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IrFlag/EF/expected count</a:t>
            </a:r>
          </a:p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raw beat + drain_done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19A720-234D-448C-B652-02BDDAC4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71675"/>
            <a:ext cx="476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7F48A4-A467-4B2F-8462-2A6E93FD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47875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E477C6-58E0-488A-8F30-278F16DC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24000"/>
            <a:ext cx="16383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7DBDC1-2094-483A-9F1D-41E6CF81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95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36DD0C-4FAA-4F25-A116-1AE9BF0D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52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8AAB7E-51AF-4163-92C1-A9DCC1C4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71450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5. Build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850E49-9B6E-44B4-B1A7-E0F01E12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52650"/>
            <a:ext cx="1295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decode -&gt; event -&gt; cell</a:t>
            </a:r>
          </a:p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rise/fall 분리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820E979-F8DD-4B5E-A60B-3B766B21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71675"/>
            <a:ext cx="476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F4406B-47AD-4E49-B416-0CE0E7F3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047875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868252-BD07-45F3-9B1B-5DFF8F50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524000"/>
            <a:ext cx="16383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CFEF335-F3FE-47C5-9B40-DAB9497A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695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57FF9C1-71FE-44B9-93A9-1DC6F926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7526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E49819E-F5A1-43D2-97F4-E9EED027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71450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6. Frame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F1FB2C8-3017-4646-A936-1EE75E21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152650"/>
            <a:ext cx="1295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face row assemble</a:t>
            </a:r>
          </a:p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header prefix + VDMA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4BAE84B-1AC8-4C85-83A6-866BB91E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31623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6F7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1B2714B-23AF-4D7A-9403-AB86DCF6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6667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4DC6F47-7212-427E-A3D0-5ACBD7C7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2838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핵심 스냅샷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F3487B1-8BF7-4AB6-87A7-5A0096B1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2838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face_seq가 packet_start/face_start 경계에서 cfg, active_mask, stops, cols, rows, hsize를 잡아 downstream metadata와 beat count를 맞춥니다.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B3E3960-7EF7-4134-B209-6F98F691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67100"/>
            <a:ext cx="31623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A1E8365-9119-44D2-B96D-8EB1160A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67100"/>
            <a:ext cx="6667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6413945-7689-4F44-8A7B-7CFD07E0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19500"/>
            <a:ext cx="2838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핵심 backpressure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42453A5-4E7D-4029-A2BA-5ADCD6A6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943350"/>
            <a:ext cx="2838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각 단계는 AXI ready/valid, skid, FIFO, timeout/blank-fill로 다음 shot이 이전 shot tail에 막히지 않도록 설계되었습니다.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4F3BF07-9109-47C0-ACD6-97C6A349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67100"/>
            <a:ext cx="31623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DB8D194-E5FE-4A95-BCE9-0EAD40B6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67100"/>
            <a:ext cx="66675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DA129DD-29C3-4B42-956C-F302E40C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19500"/>
            <a:ext cx="2838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핵심 관측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14DB080-85D9-425D-A6B5-E82DE064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943350"/>
            <a:ext cx="2838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정상 종료뿐 아니라 faulted frame/row, drain mismatch, run timeout cause, chip error split이 CSR status로 올라옵니다.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F50E4D9-CD88-4D1F-918C-C01E2018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993EB25-5B9F-43CB-8211-5250281A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source: current HDL workspace review, 2026-04-29</a:t>
            </a:r>
          </a:p>
        </p:txBody>
      </p:sp>
    </p:spTree>
    <p:extLst>
      <p:ext uri="{BB962C8B-B14F-4D97-AF65-F5344CB8AC3E}">
        <p14:creationId xmlns:p14="http://schemas.microsoft.com/office/powerpoint/2010/main" val="15778125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B1A926-5D8B-4ABB-A291-0D435A30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A4761B-51ED-43F8-9FC5-5DC42E85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A4C514-217E-495D-AB22-DEEAAAFB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TDC-GPX TOP 코드 분석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F9E213-330C-46ED-A811-77FD919C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Cluster 1: chip control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CBEF4D-0D33-47F0-973C-5D139F64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07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6EA6CB-8F91-4CA6-B87D-A2E323AB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config_ctrl은 칩별 FSM과 물리 버스의 교차점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D4E66E-96EC-45C6-B3DA-780BB610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CSR/명령은 AXI 도메인에서 출발하고, chip_ctrl/bus_phy는 TDC clock에서 동작하며 raw CDC FIFO로 decode_pipe에 전달됩니다.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7A23CD-F1BF-4B9E-B48C-6E85485A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28575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8C0685-50C4-4830-B31F-C1022296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666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BD6"/>
          </a:solidFill>
          <a:ln xmlns:a="http://schemas.openxmlformats.org/drawingml/2006/main" w="0">
            <a:solidFill>
              <a:srgbClr val="5B5B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259652-DA2A-4F79-9BB9-8AE23617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2533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rPr>
              <a:t>csr_chip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80F73E-2FCF-418F-84A8-BE87C45E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71800"/>
            <a:ext cx="2533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chip-owned CTL/STAT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cfg_image CDC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02310C-911C-40E7-80E7-3F8219AE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95550"/>
            <a:ext cx="28575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3DF32A-18BF-4F5B-AFEF-C87D0969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95550"/>
            <a:ext cx="666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C66F9B-1CC4-49B3-9935-8D3FA414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47950"/>
            <a:ext cx="2533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cmd_arb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CA92B8-18BB-4240-9414-7BE1D7BD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71800"/>
            <a:ext cx="2533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cfg/reg command serialize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per-chip dispatch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A8EE96-79F7-495B-99D7-78BF71D4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95550"/>
            <a:ext cx="28575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17BFBF-88E8-4B7A-81FF-8FA9F40F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95550"/>
            <a:ext cx="666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C47580-D76E-401B-AB54-802AB77E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47950"/>
            <a:ext cx="2533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err_handler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39C24C-1D93-49DD-8F7A-4F39B953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71800"/>
            <a:ext cx="2533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ErrFlag debounce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Reg12 read/recovery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17D721-7277-479A-A033-BE336228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28575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9739C4-B90A-4E0D-A069-1355E6FD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666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D4D8E8-5806-4D29-B1D5-B06F3025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57700"/>
            <a:ext cx="2533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stop_cfg_decode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F889AF-94B7-45A6-A272-B3A09473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81550"/>
            <a:ext cx="2533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stop event counts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range window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3EB18F-6C16-4099-943C-8E5B613B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05300"/>
            <a:ext cx="28575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8A33C2-329F-4068-BFE1-7E53904C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05300"/>
            <a:ext cx="666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54F058-0307-4728-830B-E75BC0AF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57700"/>
            <a:ext cx="2533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chip_ctrl x4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18C625-E455-4B80-89A2-03FDC2E1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81550"/>
            <a:ext cx="2533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init/run/reg sub-FSM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raw FIFO hold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C8BC3B-0C45-4999-9552-54A01912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05300"/>
            <a:ext cx="28575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F39DA-A6B4-4BD2-91A8-542BDCC7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05300"/>
            <a:ext cx="6667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2524B5-A3D6-4B44-B5D1-3E7763C8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57700"/>
            <a:ext cx="2533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bus_phy x4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05761E-6EFA-4145-858F-8A7E38E7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81550"/>
            <a:ext cx="2533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28-bit async bus</a:t>
            </a:r>
          </a:p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IOBUF/timing FSM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418A7F-4DB0-4BD1-BBDD-7CDA9179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895600"/>
            <a:ext cx="666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AF6D98-DCB4-4368-B1E9-BF4A583C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971800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250469-26B1-46E1-9E36-AB4F838A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895600"/>
            <a:ext cx="666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8506A0-0DF4-44EF-AF95-40D161EF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971800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D31803-E31C-40CB-84B2-D90327E7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705350"/>
            <a:ext cx="666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3B0D0C-57EA-4257-930B-096B0F6B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781550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0AB99D-606E-46D7-B494-8CE70E62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705350"/>
            <a:ext cx="666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B4B248-929F-46F8-A75C-DB5A7641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781550"/>
            <a:ext cx="38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D8E782-2254-40B2-80DF-1A8B4B45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2943225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C930E23-160D-475F-9970-11B65A84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905250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TDC clock side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AC66357-A789-4663-9B1B-60B04E8E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38850"/>
            <a:ext cx="838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핵심 FSM: chip_ctrl PH_INIT/PH_IDLE/PH_RUN/PH_REG/PH_CFG_WRITE/PH_RESP_DRAIN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55BB59E-AD0E-45A5-8453-5E398119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1479801-7096-48C4-9543-04300910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source: current HDL workspace review, 2026-04-29</a:t>
            </a:r>
          </a:p>
        </p:txBody>
      </p:sp>
    </p:spTree>
    <p:extLst>
      <p:ext uri="{BB962C8B-B14F-4D97-AF65-F5344CB8AC3E}">
        <p14:creationId xmlns:p14="http://schemas.microsoft.com/office/powerpoint/2010/main" val="4233752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E74D4E-FAB3-43BF-95C7-EFD8DAC3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16AEEA-75F9-416E-8269-C7076915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5575A0-B5C4-4A96-A9B0-CEF340D9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TDC-GPX TOP 코드 분석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0376DD-3CF2-4598-8FC1-B3EC9F26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TDC-GPX bus timing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CA3429-07D1-4F97-9196-4A845B39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08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4DC76-3B46-4569-9BFD-AE32AB00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bus_phy는 tick-phase FSM으로 READ/WRITE를 표준화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A09533-3794-4C14-9E8C-97BBCE58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transaction entry에서 bus_ticks를 snapshot하고, READ/WRITE turnaround와 IOBUF 방향을 제어합니다.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A1B2DD-4652-42C9-9AA6-5BB90323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1428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B5B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93B4DD-7D9E-4627-AF95-512B1F48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67050"/>
            <a:ext cx="1238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Tick 0</a:t>
            </a:r>
          </a:p>
          <a:p xmlns:a="http://schemas.openxmlformats.org/drawingml/2006/main">
            <a:pPr algn="ctr">
              <a:defRPr sz="11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5B5BD6"/>
                </a:solidFill>
                <a:latin typeface="Malgun Gothic"/>
                <a:ea typeface="Malgun Gothic"/>
                <a:cs typeface="Malgun Gothic"/>
              </a:rPr>
              <a:t>ADR setup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AD39A6-21B6-49AA-A6D9-005088DB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38500"/>
            <a:ext cx="476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641787-862B-4CCE-AB0E-9B6D4C49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1470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FD2775-0873-44B9-BFF1-E85F49CE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57500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728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7C48DE-3BF9-411A-A084-FC6B8ADE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67050"/>
            <a:ext cx="2667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Tick 1..N-2</a:t>
            </a:r>
          </a:p>
          <a:p xmlns:a="http://schemas.openxmlformats.org/drawingml/2006/main">
            <a:pPr algn="ctr">
              <a:defRPr sz="11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RDN/WRN 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33A1AE-5B86-4786-8E60-07B88999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238500"/>
            <a:ext cx="476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64FA48-3F9E-4786-8EF8-2D8A487E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1470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F36F51-0B1D-4682-939C-2E44680B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1428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68DE96-2E23-43F7-8583-534DFF13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67050"/>
            <a:ext cx="1238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Tick N-2</a:t>
            </a:r>
          </a:p>
          <a:p xmlns:a="http://schemas.openxmlformats.org/drawingml/2006/main">
            <a:pPr algn="ctr">
              <a:defRPr sz="112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READ sample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563105-E8C3-4259-8CB5-F777E1B6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38500"/>
            <a:ext cx="476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9C6721-D118-4EDA-8762-5844FB2F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14700"/>
            <a:ext cx="190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99E3A1-06A7-433C-9ED2-0EE65378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57500"/>
            <a:ext cx="2095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855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4A398F-A541-4305-BDED-6E17B167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67050"/>
            <a:ext cx="1905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Tick N-1</a:t>
            </a:r>
          </a:p>
          <a:p xmlns:a="http://schemas.openxmlformats.org/drawingml/2006/main">
            <a:pPr algn="ctr">
              <a:defRPr sz="1125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strobe high + response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3957D9-5525-42A3-8C14-49E3E205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3048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6F7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BB8F7B-379A-41FE-B327-EE4772DE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E1238A-2E83-4FE0-A8D7-44D93070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운용 파라미터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5F32CE-144C-4975-AD3C-332BD99B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272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bus_clk_div와 bus_ticks 조합은 TDC datasheet timing을 만족해야 합니다. 코드상 fastest safe는 ticks=5/div=1로 설명됩니다.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710613-C891-489E-9A9F-26A1FC00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76750"/>
            <a:ext cx="3048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EE5FE6-E065-4BFB-9B56-5D86DF6C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767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07298B-8454-479F-AA5F-792E7F34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2915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응답 경로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F01F61-ADA7-4B26-95C6-49628572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53000"/>
            <a:ext cx="272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READ data와 WRITE ack는 32-bit AXI-Stream response로 chip_ctrl에 전달됩니다. tvalid는 tready까지 유지됩니다.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58AC1F-9DA1-4134-9ADF-7A886B23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76750"/>
            <a:ext cx="3048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1B96FE-EFA6-4860-B635-B71CB879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767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32127A-0F2F-45D0-9F7A-B26646AB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2915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안전 불변식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FE8F4E-2B85-4D54-8635-434E273F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953000"/>
            <a:ext cx="272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WRITE 시 OEN drive, READ/IDLE 시 Hi-Z, read/write 전환 시 turnaround gap을 유지합니다.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9EEE91-7984-4E17-88F3-F033F54E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388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tdc_gpx_bus_phy.vhd:6-71, tdc_gpx_cfg_pkg.vhd:266-305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4A6595-F5F9-4F40-9329-99DDCDBB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89E039-24B6-405A-8E61-9A716B39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source: current HDL workspace review, 2026-04-29</a:t>
            </a:r>
          </a:p>
        </p:txBody>
      </p:sp>
    </p:spTree>
    <p:extLst>
      <p:ext uri="{BB962C8B-B14F-4D97-AF65-F5344CB8AC3E}">
        <p14:creationId xmlns:p14="http://schemas.microsoft.com/office/powerpoint/2010/main" val="8088189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C54C1B-7FF1-4214-961C-FBBFB3AA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2AE9DF-1DFB-4DCB-9B75-46E6E728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EDCC9-A5CF-4F60-8456-0A4524DE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TDC-GPX TOP 코드 분석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E17360-82FF-48C6-8A48-8E97FF05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Decode와 raw event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AD539-BD77-485C-A2A7-B8C56CAC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09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357D62-B70C-46EE-9F7F-2CF34C95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Raw IFIFO word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99696-3DDD-4ED4-8E59-BEC639DF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857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6F7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1A73E5-0C09-4AB6-8C9E-DCE0A4F4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666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32AF89-1FA0-4957-9210-D7EFFD34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2533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decoder_i_mode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029214-3A4C-43F4-A5FD-46515B49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25336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tdata[27:0] raw word에서 ChaCode, Slope, Hit를 추출하고 ififo_id/drain_done/faulted flag를 보존합니다.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4EADB2-5356-441A-A295-0C698A03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86000"/>
            <a:ext cx="11239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86C59-F048-4B7B-9A98-1ACFF4E1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36220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skid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5DB05D-E28D-4C0D-9395-A0B06BCE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695450"/>
            <a:ext cx="2857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1E11E5-9ACD-42FD-9667-0FF7C818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695450"/>
            <a:ext cx="666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05C65B-5BF9-4C95-A07D-C384DE7C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47850"/>
            <a:ext cx="2533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raw_event_builder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478215-488B-492C-866C-97EB8260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71700"/>
            <a:ext cx="25336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chip_id, shot_seq, stop_id_local, hit_seq_local을 붙여 cell_builder가 소비할 32b data + 16b user event를 만듭니다.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66D1DD-C19C-4B74-A632-5420B051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86000"/>
            <a:ext cx="11239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C4216-69D2-4350-AE4B-3D2174C0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62200"/>
            <a:ext cx="83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skid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8E33E2-AA91-4735-957E-03F0AD48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95450"/>
            <a:ext cx="20955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056E43-895C-4E74-96F5-6CF02A60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95450"/>
            <a:ext cx="666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B4D51A-0922-4C68-B2A4-F1E12AB0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847850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cell_pipe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A25C54-97B3-41BA-9961-E5C98CBE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171700"/>
            <a:ext cx="17716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slope bit으로 rise/fall cell_builder에 분기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06C804-365B-4B1A-977A-8C92507C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30289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0F0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58D788-47F0-4E6C-BEF4-2673E8BB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BD6"/>
          </a:solidFill>
          <a:ln xmlns:a="http://schemas.openxmlformats.org/drawingml/2006/main" w="0">
            <a:solidFill>
              <a:srgbClr val="5B5BD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20EA3C-D0D1-4687-B16D-FB51E0E7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52900"/>
            <a:ext cx="2705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rPr>
              <a:t>Control beat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B35308-8F8C-4659-94EC-66E3BD97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76750"/>
            <a:ext cx="2705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drain_done beat는 data가 없지만 ififo_id와 faulted flag를 계속 운반합니다.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1CD80C-FA97-43DA-82FC-AB4FDBB1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00500"/>
            <a:ext cx="30289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68195D-8716-4C87-B6EF-833AB59F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0050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837117-12BA-4287-8A10-1C431666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52900"/>
            <a:ext cx="2705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Stop ID guard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4184B6-F1FB-4B81-939A-75703D79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76750"/>
            <a:ext cx="2705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face_stops_per_chip 기준 out-of-range stop_id는 status로 올라갑니다.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746B71-AA89-43E7-9D9F-E224DE80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0"/>
            <a:ext cx="30289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B5C246-D151-4D63-AEAE-4FDF6EE9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C1F815-D185-4FE9-AEC3-25964946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52900"/>
            <a:ext cx="2705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Abort flush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27FF8E-A1B4-415E-8A8F-A5AF5D34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76750"/>
            <a:ext cx="2705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pipeline_abort는 decode/event skid를 flush해 old shot tail을 제거합니다.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CF4270-4C21-40D1-8697-A8B8EC72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3885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tdc_gpx_decode_pipe.vhd:1-14, tdc_gpx_decoder_i_mode.vhd:1-37, tdc_gpx_raw_event_builder.vhd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751DC9-8A6A-4304-89FB-2B5A7CFE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5C6C06-72D9-49DE-8CF4-E6B7BF6E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source: current HDL workspace review, 2026-04-29</a:t>
            </a:r>
          </a:p>
        </p:txBody>
      </p:sp>
    </p:spTree>
    <p:extLst>
      <p:ext uri="{BB962C8B-B14F-4D97-AF65-F5344CB8AC3E}">
        <p14:creationId xmlns:p14="http://schemas.microsoft.com/office/powerpoint/2010/main" val="14232012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0ED458-F9A4-4BCB-8A39-846564CE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A9BC7-2FB5-4D0F-A5D4-25736725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426BCD-CCE2-49AC-A625-5F485400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TDC-GPX TOP 코드 분석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F1176D-A298-4209-AD91-8592E565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Cell builder와 slope split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A208C3-F770-477E-AC23-3B2A0361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10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658250-E185-4233-B612-EE340DF6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Sparse hit stream을 dense cell slice로 변환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D44BC8-DD12-4323-B6D0-FA9F2086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chip당 rise/fall cell_builder가 있고, dual buffer ownership FSM으로 collect와 output을 분리합니다.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012139-C2DD-49C1-8E86-10DC3586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0670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6F7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70D98D-C5EF-4B94-9BF0-C7E31F87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6667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4F5897-4BB2-4E30-9BBB-B1DFDC20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2743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p_collect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9EB8F6-6A31-4CCB-84BD-5191B9AF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2743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shot_start에서 free buffer를 잡고 hit를 저장합니다. IFIFO1 done 이후 BUF_SHARED로 전환해 early output을 허용합니다.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9848E6-7146-41F5-930A-95AF4ADC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71750"/>
            <a:ext cx="30670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793928-364D-4EED-AD05-99A0B6F6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71750"/>
            <a:ext cx="6667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951492-808E-425A-AD5D-BA972752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24150"/>
            <a:ext cx="2743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p_output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F0530D-1244-4B25-A818-5C3ED8F2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48000"/>
            <a:ext cx="2743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stop 0-3을 먼저 내보내고 IFIFO2 완료를 기다립니다. timeout 시 synthetic final beat로 slice를 닫습니다.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9FE563-522C-4E7F-BDE8-09B33075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71750"/>
            <a:ext cx="30670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AFAADB-9948-4A1E-9789-12CBD403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71750"/>
            <a:ext cx="6667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D4F293-F1E1-4951-A629-5AFD8494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24150"/>
            <a:ext cx="2743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runtime max_hits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676F1E-AF76-4848-99C5-84D7BF10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48000"/>
            <a:ext cx="2743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max_hits_cfg에 따라 cell beat 수를 동적으로 줄입니다. 000은 canonical하게 7로 취급됩니다.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19F607-818D-42D1-8C00-B5B028A4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933950"/>
            <a:ext cx="2057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0FA515-62C4-4253-BA42-A741145D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29200"/>
            <a:ext cx="1752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291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BUF_FREE</a:t>
            </a:r>
          </a:p>
          <a:p xmlns:a="http://schemas.openxmlformats.org/drawingml/2006/main">
            <a:pPr algn="ctr">
              <a:defRPr sz="975" b="0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BUF_COLLECT</a:t>
            </a:r>
          </a:p>
          <a:p xmlns:a="http://schemas.openxmlformats.org/drawingml/2006/main">
            <a:pPr algn="ctr">
              <a:defRPr sz="975" b="0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BUF_SHARED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05C573-FB28-421B-9387-BED73B85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067300"/>
            <a:ext cx="11430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88EA4E-DA82-4425-9C3B-E1264161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435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done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629494-7688-494F-92CE-D08C0A73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33950"/>
            <a:ext cx="2057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5CE460-D152-4956-9FC4-05A35DE1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0863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dual buffer</a:t>
            </a:r>
          </a:p>
          <a:p xmlns:a="http://schemas.openxmlformats.org/drawingml/2006/main">
            <a:pPr algn="ctr">
              <a:defRPr sz="11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0B7285"/>
                </a:solidFill>
                <a:latin typeface="Malgun Gothic"/>
                <a:ea typeface="Malgun Gothic"/>
                <a:cs typeface="Malgun Gothic"/>
              </a:rPr>
              <a:t>owner FSM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96702E-4445-4293-8D2E-BF0B441D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067300"/>
            <a:ext cx="11430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EED71D-B328-49BA-AA3E-E696B46E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1435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slice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252D56-E61F-472E-98BB-3503C6ED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33950"/>
            <a:ext cx="2057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C2410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CDED2A-A7FB-4084-A858-BD0F71BF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0673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rPr>
              <a:t>tuser(0)=faulted</a:t>
            </a:r>
          </a:p>
          <a:p xmlns:a="http://schemas.openxmlformats.org/drawingml/2006/main">
            <a:pPr algn="ctr">
              <a:defRPr sz="1050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rPr>
              <a:t>on tlast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60319C-0E62-4236-AD72-5F6C3E24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3885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tdc_gpx_cell_builder.vhd:1-111, tdc_gpx_cell_pipe.vhd:238-280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26CB0B-95A1-459A-89C1-0BCE3D2C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C827DB-866D-4ED3-B331-8C32F4AE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source: current HDL workspace review, 2026-04-29</a:t>
            </a:r>
          </a:p>
        </p:txBody>
      </p:sp>
    </p:spTree>
    <p:extLst>
      <p:ext uri="{BB962C8B-B14F-4D97-AF65-F5344CB8AC3E}">
        <p14:creationId xmlns:p14="http://schemas.microsoft.com/office/powerpoint/2010/main" val="786047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066C50-8E58-4459-83B6-0FA37BBB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E2F7A-F46E-4A5A-A405-6D3E1B6C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2F112B-1F30-4CBE-8293-F7480DCD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TDC-GPX TOP 코드 분석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89A0F-7AC5-44D5-90BE-79CCAA62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Output stage와 VDMA packet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AC81FD-88F1-41CA-A02A-0F3D9C4C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11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AD267F-6987-46FD-BCBF-6C5A1317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rise/fall 각각 row assemble 후 header를 붙인다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4CE134-4850-4A65-A7C9-35162B10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face_assembler는 chip order를 고정하고, header_inserter는 face 첫 line에 48-byte metadata prefix를 삽입합니다.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39F182-8FC2-4765-B1B8-8C966837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30003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6F7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846C14-4014-4DC9-9FD1-D99012AC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90AD05-5196-4BDD-950B-093481F2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2676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face_assembler x2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62289C-57F1-4BED-9A0E-F1AE33C9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26765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4-chip cell stream을 chip0..3 순서의 packed row로 조립합니다. inactive chip은 skip, timeout chip은 blank-fill합니다.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B12C83-3E3C-4FBC-99A9-3A0965D3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086100"/>
            <a:ext cx="12192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57833C-456E-4AA2-8C3C-CD5E22F1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162300"/>
            <a:ext cx="933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sync FIFO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B93A5A-8840-4833-AF12-E42C37CE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95550"/>
            <a:ext cx="30003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767BBA-DE51-4A1C-8C13-7A755057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955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9CBA81-A2E7-461E-93B3-4312A150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47950"/>
            <a:ext cx="2676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header_inserter x2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7FE410-15C9-4307-A436-F35479C9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71800"/>
            <a:ext cx="26765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line prefix를 만들고 SOF/EOL을 제어합니다. 첫 line만 실제 header metadata를 담습니다.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FECC8F-4B6F-4055-87DA-98BE5131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86100"/>
            <a:ext cx="12192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1C7C3D-76DB-43B8-93C5-CF98DE50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62300"/>
            <a:ext cx="933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AXIS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61B1CD-90E1-43D1-AD52-0C54780A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495550"/>
            <a:ext cx="1524000" cy="1714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CFE3DA-D6A1-4492-830D-0CBED51E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4955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FB4495-4F99-4938-A6DF-ACA89B2D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647950"/>
            <a:ext cx="1200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VDMA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3ECEF8-FE6D-4295-A8F4-AA96E446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971800"/>
            <a:ext cx="1200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rise output</a:t>
            </a:r>
          </a:p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fall output</a:t>
            </a:r>
          </a:p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separate stream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3FC9CD-F6E5-450E-ADBC-D28D3DEF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7680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B33E64-5341-4323-AE3A-A46CB9FE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91100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48B header prefix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78A465-922A-42A4-8E86-55CDC9ED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876800"/>
            <a:ext cx="5943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8B80D5-421E-464A-9D97-6F296EA3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91100"/>
            <a:ext cx="542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cell data: active_chips x stops_per_chip x beats_per_cell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8614DB-C4A4-45D9-B7A8-0A813DE9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7680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681348-7494-43AF-A007-B5CF43FD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991100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EOL/tlast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6636B1-14B7-4BF4-8560-99E18D02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38850"/>
            <a:ext cx="990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tdc_gpx_output_stage.vhd:1-19, tdc_gpx_face_assembler.vhd:1-57, tdc_gpx_header_inserter.vhd:1-76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C016C8-0D57-4CB3-A91A-B3455E14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6F00EF-9C62-4053-8030-874748CB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source: current HDL workspace review, 2026-04-29</a:t>
            </a:r>
          </a:p>
        </p:txBody>
      </p:sp>
    </p:spTree>
    <p:extLst>
      <p:ext uri="{BB962C8B-B14F-4D97-AF65-F5344CB8AC3E}">
        <p14:creationId xmlns:p14="http://schemas.microsoft.com/office/powerpoint/2010/main" val="20669563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B78801-1D51-497B-8914-1A608BC3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F93075-3BAA-4A52-BE6B-F27E5FEF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E9C7E7-AFB8-4F38-9E4B-B880D4FB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TDC-GPX TOP 코드 분석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F47B1-D0AC-4792-9CCC-57007511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Face sequencer와 snapshot policy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270083-78E0-42E5-A21E-5E7DB210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12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39FBE7-4642-4A78-9C7A-59BCC9CC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31813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6F7F8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DA99CB-E480-4971-B861-F3C60207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9793E1-619C-43EE-BF59-FC6200A0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954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C76C27-DAC1-4E3F-85BF-2B7D1B73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2857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ST_IDLE -&gt; ST_WAIT_SHOT -&gt; ST_IN_FACE</a:t>
            </a:r>
          </a:p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cmd_start는 pending latch로 보존하고, invalid config는 cfg_rejected로 돌려보냅니다.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362E2F-86AD-4D7B-AC68-39F753F2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143000"/>
            <a:ext cx="31813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3B37B0-4A61-4512-B3D6-115BCEC7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1430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EDAE00-DE33-49DA-B2BC-6B43CE20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2954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Gating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D557E6-2689-4D3C-9CF8-E5F5B7F5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19250"/>
            <a:ext cx="2857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pipeline idle, chip busy, header/assembler idle, tvalid drain 상태를 보고 start/shot/face pulse를 게이트합니다.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4016CE-7103-4E55-A0E2-D616FFFF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143000"/>
            <a:ext cx="31813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D1A4C1-A07D-469E-9F45-1A59F6CD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14300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62C0ED-6282-4E96-A005-321B52B5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2954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Snapshot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3A69BC-136B-4088-B536-967903EB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19250"/>
            <a:ext cx="2857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packet_start 경계에서 cfg_face, active_mask, stops, cols, rows, hsize, id를 잡아 downstream과 header를 일치시킵니다.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ED5073-D49A-4EE6-B952-7868EAE1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운용상 의미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CA1723-508E-4F40-83D3-01639F4F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7524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1. CSR 값은 실행 중 바뀔 수 있지만, 한 face 안에서 쓰이는 metadata/beat count는 snapshot 기준입니다.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2. stops_per_chip&lt;2, stops_per_chip&gt;8, active_mask=0, cols_per_face&lt;1, n_faces=0 같은 geometry 오류는 start 단계에서 거부됩니다.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3. rise-primary/fall-optional 구조로 인해 일부 abort/complete gating은 의도적으로 비대칭입니다.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A89117-0DCF-4BEA-B588-28296699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24250"/>
            <a:ext cx="23431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2C3772-AFE5-4084-9176-A9C9C207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24250"/>
            <a:ext cx="6667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4E3D34-E0C6-432F-86B2-7A0B7A9C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76650"/>
            <a:ext cx="2019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주의할 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3CFACD-3F97-4AB7-872B-337E3FE7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00500"/>
            <a:ext cx="2019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525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shot_start는 raw level이 아니라 edge pulse로 처리합니다. multi-cycle assertion은 중복 shot으로 번지지 않게 막혀 있습니다.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CF1DB9-2EBA-4B98-9582-317E8E21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3885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tdc_gpx_face_seq.vhd:1-18, :173-180, :530, Doc/known_issues.md Category 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B416CF-8452-49B7-9CFA-7D068101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52454F-0136-4EE7-98C6-5E7D909E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source: current HDL workspace review, 2026-04-29</a:t>
            </a:r>
          </a:p>
        </p:txBody>
      </p:sp>
    </p:spTree>
    <p:extLst>
      <p:ext uri="{BB962C8B-B14F-4D97-AF65-F5344CB8AC3E}">
        <p14:creationId xmlns:p14="http://schemas.microsoft.com/office/powerpoint/2010/main" val="188121423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118542-BF68-4BD0-BE85-AD58BE28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6FB71B-6AC5-4068-8824-452A2A77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89140-376F-4FB2-A048-B9C5B05C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TDC-GPX TOP 코드 분석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49A443-DA04-4D76-9296-4E2AACB0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오류 복구와 fault propagation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A0B31D-4A35-4CD8-95ED-5B955757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13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D2AC31-DFCA-4ECC-AF72-A8ABB114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14450"/>
            <a:ext cx="4762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764F13-80FA-487A-B526-1DF53C44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144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C8D102-1C92-4092-834E-85EB625F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4668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ErrFlag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32FFE5-AD88-45B3-8AD0-8B01883C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4438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bus_phy sync -&gt; err_handler debounce -&gt; Reg12 read -&gt; per-chip soft reset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B214D5-3A71-44F5-9DBA-471EC748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14450"/>
            <a:ext cx="4762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BD9081-4269-426A-A9B7-014522E6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144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421F7F-E02A-4369-AE3F-CE7F74C9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668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Drain fault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40A044-CC70-4214-9DBC-9CF8E1A6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90700"/>
            <a:ext cx="4438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chip_run mismatch/fallback -&gt; drain_done faulted -&gt; cell tuser -&gt; row/frame faulted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634336-C517-4272-8469-5FDF1E02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4762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A43776-1A8E-42B9-B672-BED87539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BD6"/>
          </a:solidFill>
          <a:ln xmlns:a="http://schemas.openxmlformats.org/drawingml/2006/main" w="0">
            <a:solidFill>
              <a:srgbClr val="5B5B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6531A3-3A71-4B50-8280-D2FEF685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718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rPr>
              <a:t>Bus fatal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D59ACA-9576-47F3-B414-9C1DE136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4438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PH_RESP_DRAIN quarantine cap + stuck bus -&gt; bus_fatal_mask -&gt; err_fatal OR-fold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E5B340-70EE-4C61-A97D-785853AF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19450"/>
            <a:ext cx="4762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4738A9-F0BA-47FF-AD05-F1239865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194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34CCA4-A178-405C-977D-C4631DDE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718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Pipeline fault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BA24BF-3FE2-48CE-8CB4-62EF187F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95700"/>
            <a:ext cx="4438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overrun/timeout/abort -&gt; blank-fill or synthetic close -&gt; sticky/counter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EF4F33-D17C-4A9A-9EF0-28A35789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운용 규칙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C06928-68A8-46C1-88B1-65E04367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72100"/>
            <a:ext cx="838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err_soft_clear는 일부 sticky만 지웁니다. bus_fatal, quarantine_escape, force_reinit 사용 이력처럼 system-level 조치가 필요한 항목은 reset/re-init 정책과 묶어야 합니다.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6E692D-772A-4553-89E9-C6A511FD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38850"/>
            <a:ext cx="923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tdc_gpx_err_handler.vhd:1-33, tdc_gpx_chip_ctrl.vhd:34-47, tdc_gpx_top.vhd:922-1079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81DE23-F712-4611-A785-DDE75FA4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088D06-D7DA-4678-8724-48C08DCB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source: current HDL workspace review, 2026-04-29</a:t>
            </a:r>
          </a:p>
        </p:txBody>
      </p:sp>
    </p:spTree>
    <p:extLst>
      <p:ext uri="{BB962C8B-B14F-4D97-AF65-F5344CB8AC3E}">
        <p14:creationId xmlns:p14="http://schemas.microsoft.com/office/powerpoint/2010/main" val="67129939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696BF7-D87E-41D7-9C4D-5E6DED3B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45C06-C98E-4AE0-84E2-E9C08B2F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14A30D-8CC3-40AE-8479-DF33D64C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TDC-GPX TOP 코드 분석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200B43-31C5-4445-A74E-D42A97B8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Status와 관측 표면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5D623D-D3B5-4D69-A2B3-13839A40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14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8E679-C5F6-4793-B0A6-13C4FCDF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Top은 status_agg 결과에 추가 sticky를 덧붙인다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49D280-994C-4A7C-8BFC-E5BFE411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STAT5/6/7에 더해 Round 12/13 진단 신호가 t_tdc_status 필드로 확장되어 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E5D83D-614E-4244-9CCA-FFDE8FFF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24003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1D4AB4-8FEA-4F65-8F94-618B6064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6667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37ECDB-1194-4AA4-94C5-2A370661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2076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STAT5 기본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D5B251-E792-4E03-ABEF-C70F07A1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20764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busy, overrun, err_fatal,</a:t>
            </a:r>
          </a:p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chip_error, drain_timeout,</a:t>
            </a:r>
          </a:p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sequence_error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BC6D89-4A90-4A0B-B037-D8239C56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24150"/>
            <a:ext cx="24003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F8211E-5054-453D-9B02-37955EEF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24150"/>
            <a:ext cx="6667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C8C482-486A-4C49-A92A-B19134E1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76550"/>
            <a:ext cx="2076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STAT6 확장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EE9B8F-A83D-4636-B449-A72AC6A1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200400"/>
            <a:ext cx="20764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err_read_timeout,</a:t>
            </a:r>
          </a:p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reg_rejected/zero_mask,</a:t>
            </a:r>
          </a:p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shot overrun count,</a:t>
            </a:r>
          </a:p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reg overflow mask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0CA334-1E09-4EA3-85BF-057EFA1D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24150"/>
            <a:ext cx="24003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97E723-A0A5-4FBE-9EF2-3D1BC539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24150"/>
            <a:ext cx="6667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AA3E52-ACFE-4CC9-8859-69D8166A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76550"/>
            <a:ext cx="2076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STAT7/이후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D00CFD-D734-473B-AE55-A4977CB1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20764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reg_timeout_mask,</a:t>
            </a:r>
          </a:p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stop_id_error_mask,</a:t>
            </a:r>
          </a:p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run_timeout_cause,</a:t>
            </a:r>
          </a:p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face_start collapsed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BB2AE2-5AC8-4A56-8C67-B5448D15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24150"/>
            <a:ext cx="24003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E25C8B-8C5D-4CB8-96AB-30F37E52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24150"/>
            <a:ext cx="6667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0BB9BA-F6C6-47ED-9290-513709E0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76550"/>
            <a:ext cx="2076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Top 추가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1EB062-0D72-4D31-B523-E57590FD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00400"/>
            <a:ext cx="20764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bus_fatal, drain_faulted,</a:t>
            </a:r>
          </a:p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row/frame faulted,</a:t>
            </a:r>
          </a:p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raw/drop/mismatch masks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94B028-35DD-4F59-9E0C-1AF213BA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4762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E3B708-13FA-469B-B373-D68EBACC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63B3CA-1497-4ADE-A5CF-E30D989D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054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해석 원칙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5D6996-5E1D-420A-8197-4EE76E68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2925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level, pulse-latched sticky, wrap counter가 섞여 있습니다. SW는 각 field의 clear 조건과 rollover를 별도 표로 관리해야 합니다.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4E85E2-6AFE-4912-AD2C-EE7C44F5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953000"/>
            <a:ext cx="4762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E4D27B-EAD1-47D5-B14D-82883183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95300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315B4E-1A77-4207-A1DC-5D94B800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1054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문서 보강 필요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FD0326-82D4-4643-AEB3-FFF70E8A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429250"/>
            <a:ext cx="443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142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Doc/status_observability.md는 일부 항목을 아직 '미노출'로 설명합니다. 현재 top wiring 기준으로 갱신이 필요합니다.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A0C369-0833-49D4-90AC-5621BC92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3885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tdc_gpx_top.vhd:922-1088, tdc_gpx_pkg.vhd t_tdc_status, Doc/register_map.md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82F940-57DB-42FD-BD69-16B5FA67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A568A3-B06C-45D7-94F0-F7ECDCB7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source: current HDL workspace review, 2026-04-29</a:t>
            </a:r>
          </a:p>
        </p:txBody>
      </p:sp>
    </p:spTree>
    <p:extLst>
      <p:ext uri="{BB962C8B-B14F-4D97-AF65-F5344CB8AC3E}">
        <p14:creationId xmlns:p14="http://schemas.microsoft.com/office/powerpoint/2010/main" val="64847999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9899E8-7D37-4DE3-821D-100B7115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65F99F-A991-4172-A7C0-4ACB7919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D1773E-8E90-4D26-B754-17C4965A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TDC-GPX TOP 코드 분석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5646FC-D4CA-45D7-A0A6-D40E21CD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Backpressure와 timeout 보호 장치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A27649-CED8-41D4-9D14-425FCDE5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15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CED035-58EA-4713-A508-B088C617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7F10FA-7A2B-417B-8F31-06682363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7CAE3-0DF3-463E-AA85-8EE6464D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43050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skid/FIFO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12FB4D-1224-404C-85D5-1F4DDF47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2819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raw, decode, event, face 단계에 skid 또는 XPM FIFO를 배치해 1-cycle late backpressure를 흡수합니다.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77A7C2-890D-420A-A248-02696481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39065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D36EF2-6867-40B0-BEAE-5C642AED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3906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2F07B8-44EE-4D12-9471-486A7622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43050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shot overrun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AFEF96-57DA-4AC0-A019-F8A4E8E1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66900"/>
            <a:ext cx="2819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face_assembler는 abort 대신 blank-fill로 line size를 보존하고 error metadata를 남깁니다.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B4F3F9-67A8-49B6-8680-8979A822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39065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E5B636-04BE-46B2-8774-AEB2B5CD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3906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58D967-0A44-47B5-A6F0-89CC2547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43050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drain watchdog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ECD2AD-F055-4897-9B4D-5C7B922E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66900"/>
            <a:ext cx="2819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chip_run/header/cell_builder 각각 long-wait escape 또는 synthetic close를 사용합니다.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CEA628-E465-4767-A3CA-FB25634B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760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834CBE-F051-463E-B36B-4F9A2D29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76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BD6"/>
          </a:solidFill>
          <a:ln xmlns:a="http://schemas.openxmlformats.org/drawingml/2006/main" w="0">
            <a:solidFill>
              <a:srgbClr val="5B5B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6FAF56-E39A-47B2-9C4C-981F3178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rPr>
              <a:t>command guard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2F8C91-30AD-489F-8092-67F17C8F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33850"/>
            <a:ext cx="2819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cmd_arb는 cfg_write idle gating, reg pending queue, dispatch/response timeout을 둡니다.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285D9C-77F1-403D-A154-550C5342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5760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3C9219-FB16-4A42-9682-9F2D1F0A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576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B73BE1-C5F8-46A2-8E0E-784EA24F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10000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fault observability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FAA62D-8BB6-42B7-AB12-2B5160E9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33850"/>
            <a:ext cx="2819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drop/mismatch/fatal/faulted frame-row 등 원인별 sticky가 늘어났습니다.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AC8770-4E39-4D80-B53F-051B99E0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5760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3765E8-EBB4-4F90-86AC-ED64527F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576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D842DA-E245-4674-89B9-C9A16093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10000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남는 리스크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165492-CAE2-42B3-B9D8-136664EF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33850"/>
            <a:ext cx="2819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대부분의 보호 로직은 liveness를 보장하지만, 데이터 품질은 faulted/sticky 해석을 SW가 반드시 따라가야 보존됩니다.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FFC06F-5805-4812-B4B1-59D3515D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38850"/>
            <a:ext cx="923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근거: chip_ctrl raw FIFO, cell_builder quarantine, face_assembler blank-fill, header_inserter drain watchdog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FC18B9-A49D-4B12-A42A-598B8AC7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ED933F-B62B-4235-875C-256639A1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source: current HDL workspace review, 2026-04-29</a:t>
            </a:r>
          </a:p>
        </p:txBody>
      </p:sp>
    </p:spTree>
    <p:extLst>
      <p:ext uri="{BB962C8B-B14F-4D97-AF65-F5344CB8AC3E}">
        <p14:creationId xmlns:p14="http://schemas.microsoft.com/office/powerpoint/2010/main" val="81440805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166093-8994-4BC6-B43B-CFAB0D0A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542317-FDCC-461C-B89E-146C713D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84E30D-BA02-451A-9200-4A825C31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TDC-GPX TOP 코드 분석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C204ED-A0BC-4FFB-9B0A-B1D94BBF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코드 검토 결과: 부실/리스크 항목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FBF3EA-310F-46CA-854E-8A299FB6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16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651087-6274-408E-9D2C-7319020F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81100"/>
            <a:ext cx="438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02F20D-25D1-411F-9B48-E82D21F7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66825"/>
            <a:ext cx="285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등급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CC5854-7858-4CA5-9E2A-AD281695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1811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6742EB-DEDA-42E8-8BE5-807527BD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266825"/>
            <a:ext cx="1657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항목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8F1F53-7675-4BD8-B87C-B7C8D482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181100"/>
            <a:ext cx="590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76CAA6-467A-4B28-A3A5-4D881A2E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266825"/>
            <a:ext cx="5753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영향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45DCA8-3530-49A1-823D-6B552076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181100"/>
            <a:ext cx="314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4BDA36-1DF3-4779-86A9-D593E41C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266825"/>
            <a:ext cx="2990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근거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5B4BBB-0115-41F9-A931-7380F88B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438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C802FA-4BF3-4292-8CE8-2F0669F4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28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DB09A1-1D0B-4850-AE83-BD4B1F77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43FA59-7B63-4A36-8E2D-EBD6BFFF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00200"/>
            <a:ext cx="1657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클럭 계약 불일치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BA2EE5-E416-439B-8A3E-8E9CEA94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24000"/>
            <a:ext cx="590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6DCBDC-8908-4552-9069-01A30474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600200"/>
            <a:ext cx="5753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i_axis_aclk가 150 MHz와 200 MHz로 혼재. timeout/거리/CDC reset hold 해석이 흔들릴 수 있음.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24A60C-DC47-4783-B562-BDDE45F0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2400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F07AB6-C1F2-450B-974D-2188C9E3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00200"/>
            <a:ext cx="2990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top:20/:45, config_ctrl:22/:68, cfg_pkg:305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1F5B68-D317-459F-94F3-9E9485A1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438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89B1E3-04C1-49BA-8D8F-9899DD19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28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596AE9-04C5-4E6C-BFA6-418ED67E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24C382-313A-4759-8DD9-90F8407B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66950"/>
            <a:ext cx="1657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Top 설명과 구현 불일치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34D19B-6B07-4BE0-AD1A-ECA782DF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90750"/>
            <a:ext cx="590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7D2C4A-5815-491A-A081-96DDABE7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66950"/>
            <a:ext cx="5753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header는 pure structural/no processes라 하지만 top에 sticky latch process 5개가 존재.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7B13EB-8220-4DA1-9C2E-55C58009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9075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74F9BF-8979-4894-A287-C2A23C93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66950"/>
            <a:ext cx="2990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top:8, :973, :1032, :1045, :1058, :1079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D7A55C-517A-45CB-87C4-067BF6A4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438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CF84E2-C619-462B-80A9-DF9C1A7B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33700"/>
            <a:ext cx="28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58BF73-4E6C-4E80-B8A4-3AEA2C5C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0B1945-F131-4DAF-A292-7D55E12F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33700"/>
            <a:ext cx="1657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VHDL-2008 output read 의존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D71CC1-B01F-4466-8680-5A5F8630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57500"/>
            <a:ext cx="590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280025-A624-4B32-8D7E-3A87A386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933700"/>
            <a:ext cx="5753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o_m_axis_tvalid/fall_tvalid를 내부 feedback으로 읽음. IP packager/구형 flow에서 표준 옵션 확인 필요.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A295E0-542B-440D-AAD7-1E72E661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5750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9DB361-38F3-4625-9DF4-FE6E008A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33700"/>
            <a:ext cx="2990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top:840-841, :901-902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254722-E2A0-4A02-B29F-3494E238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438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7A744B-0827-424F-8D52-E0D52D3D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00450"/>
            <a:ext cx="28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E84E23-CAD8-4079-95BA-B7CA61D3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EE442C-F897-4F9D-B024-C252E16F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0450"/>
            <a:ext cx="1657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unused glue signals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010927-E62B-4B58-B160-A032FE22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24250"/>
            <a:ext cx="590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FD735C-FE4B-4D5B-A5FC-7BDC646A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600450"/>
            <a:ext cx="5753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s_cfg_image, s_cmd_cfg_write_g, s_hsize_bytes_r, s_frame_done_both, s_row_done 계열이 선언/구동 후 미소비.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71FE344-6826-4937-87CC-D6267C91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2425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2D2B45A-BD45-4DD2-B5A6-EB808E90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00450"/>
            <a:ext cx="2990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top:165/:199/:255/:306/:314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0FC11E8-75B8-480A-84D1-AF37D332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0"/>
            <a:ext cx="438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CD896E3-0CBE-46C3-AAB0-2945FE56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67200"/>
            <a:ext cx="28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E0EF38B-E79A-47D5-8FF0-075CCC59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1FE0D16-EB0E-4F78-B0DE-EA1F94FB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67200"/>
            <a:ext cx="1657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legacy/stub 인터페이스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C694C20-4009-4599-851A-04C5242E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191000"/>
            <a:ext cx="590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3B115D8-B52B-4F78-825C-B2B173D0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267200"/>
            <a:ext cx="5753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o_face_abort는 영구 0, o_reg_loop_resume은 reserved open. 호환성 유지 목적이나 cleanup backlog로 남음.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40D78E8-72C7-4BC2-AAE0-7F4A6A6C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9100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E1AB0B4-9E03-4A0F-B1B1-C63405F1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67200"/>
            <a:ext cx="2990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top:553, :766-773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A312D01-411F-439B-82EE-768E709F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438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B21240F-44C4-4355-9E5B-FDC02D21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33950"/>
            <a:ext cx="28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28ED101-8A8F-4038-B235-072D6E2A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AC7F7CA-A56B-4775-8401-4CB329F7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33950"/>
            <a:ext cx="1657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문서 debt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1CE98C7-1C94-4326-B030-B5B3474F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57750"/>
            <a:ext cx="5905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D416CCD-AA1C-43B0-A6C8-29DA4D69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933950"/>
            <a:ext cx="5753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status_observability.md와 현재 top status wiring 사이에 차이가 있음. SW 문서 갱신 필요.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6E28A02-292B-416B-84C0-9DA9D29F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857750"/>
            <a:ext cx="314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CBD5E1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1A79B07-C33F-4544-BED2-5EA8FAE4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933950"/>
            <a:ext cx="2990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Doc/status_observability.md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CEDC138-BA75-48CE-8069-5D65C35B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952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C2410C"/>
                </a:solidFill>
                <a:latin typeface="Malgun Gothic"/>
                <a:ea typeface="Malgun Gothic"/>
                <a:cs typeface="Malgun Gothic"/>
              </a:rPr>
              <a:t>확정 P0 기능 결함은 소스 리뷰만으로 확인되지 않았습니다. 위 항목은 운용/통합/유지보수 리스크입니다.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CBBB726-938D-4DB0-9745-F9535013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EEF867E-BCFE-4833-8496-7B049F44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source: current HDL workspace review, 2026-04-29</a:t>
            </a:r>
          </a:p>
        </p:txBody>
      </p:sp>
    </p:spTree>
    <p:extLst>
      <p:ext uri="{BB962C8B-B14F-4D97-AF65-F5344CB8AC3E}">
        <p14:creationId xmlns:p14="http://schemas.microsoft.com/office/powerpoint/2010/main" val="6999307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F06969-FF8B-4D59-9EFC-822C34B2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0BDE11-6AF0-458E-BAD5-FA4D7845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7B30F5-867D-4331-B5F9-875B8FEF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TDC-GPX TOP 코드 분석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EDA6A0-864B-4C08-AC7C-054D9AF7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운용 개념 보강이 필요한 항목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1DDC8A-22CB-4471-B461-AD854E05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17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2730D3-A140-4A9F-A82C-AB8A3E1C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4762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D780C5-4624-4869-BBA9-27A5A8DB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5FA10A-3E54-4D4C-8B11-347A9DDD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525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클럭 기준 표준화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ADE6A3-D21C-4E6C-AED4-B417702F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76400"/>
            <a:ext cx="443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AXI 처리 클럭을 150 MHz로 볼지 200 MHz로 볼지 확정하고 timeout, 거리 환산, reset hold 주석을 한 번에 정리합니다.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135BC8-46F3-4CF4-BAA1-2D5427DE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00150"/>
            <a:ext cx="4762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6ED146-AB33-47C9-A65B-2835CB6B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0015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C04412-51B3-48D3-92C6-8B78B240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525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force_reinit 절차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5A9806-5577-4C1C-AF61-AAEF289F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76400"/>
            <a:ext cx="443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PH_RESP_DRAIN stuck 시 외부 버스 flush/reset 확인 후 force_reinit을 쓰는 SW runbook이 필요합니다.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7E1C05-873A-4D6D-A12A-488569C9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4762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003ECF-009C-4C73-B726-EC47B3FB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62B018-0698-47AB-A29D-FFB8EB55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sticky clear matrix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4E5489-18E4-47AB-878B-0B83E0AD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443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reset, cmd_soft_reset, err_soft_clear, per-shot clear, never-clear 항목을 표로 분리해야 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656316-D192-4ED4-BF76-6B9A834C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0350"/>
            <a:ext cx="4762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B53D2D-C00A-4DFD-BF3B-65CF95BC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035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12B156-B9E9-4592-B484-18E5546B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527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faulted frame policy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EBD9E0-6D1F-4556-B72F-E7ED1169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76600"/>
            <a:ext cx="443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row_done_faulted/frame_done_faulted, tuser faulted, blank-fill metadata를 SW가 어떤 수준에서 폐기/사용할지 정의합니다.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C1BEF3-D543-423E-B053-15595F0D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4762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9B8B2E-69CB-4D83-AC72-0ADF785C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BD6"/>
          </a:solidFill>
          <a:ln xmlns:a="http://schemas.openxmlformats.org/drawingml/2006/main" w="0">
            <a:solidFill>
              <a:srgbClr val="5B5BD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DD7A71-9D7F-4E00-8D3E-BA9D1F35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rPr>
              <a:t>legacy cleanup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C6E892-51CE-46B8-87AA-25D02C72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76800"/>
            <a:ext cx="443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face_abort stub, unused top glue, open reserved outputs를 다음 interface-cleanup round에 정리합니다.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B13FF2-0D78-4AC8-8B45-8A79F804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00550"/>
            <a:ext cx="4762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43B860-4F48-4858-BAB2-B7FFCE83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0055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636F56-E444-4696-B7C0-18DF2D02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529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33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0233F"/>
                </a:solidFill>
                <a:latin typeface="Aptos Mono"/>
                <a:ea typeface="Aptos Mono"/>
                <a:cs typeface="Aptos Mono"/>
              </a:rPr>
              <a:t>문서 동기화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2BE94F-D5A5-4C99-9C9D-8F2343CF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76800"/>
            <a:ext cx="443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register_map, status_observability, known_issues의 Round 상태를 현재 코드와 맞춥니다.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706861-A4D9-42C5-BF01-ED04D47C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388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이 슬라이드는 코드 수정 지시가 아니라 운용 문서/드라이버 계약 보강 항목입니다.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C92FE2-1A04-4218-8BBB-E9536CE7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1E9875-2F68-4F67-A5D5-4F194C63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source: current HDL workspace review, 2026-04-29</a:t>
            </a:r>
          </a:p>
        </p:txBody>
      </p:sp>
    </p:spTree>
    <p:extLst>
      <p:ext uri="{BB962C8B-B14F-4D97-AF65-F5344CB8AC3E}">
        <p14:creationId xmlns:p14="http://schemas.microsoft.com/office/powerpoint/2010/main" val="214578814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D60E10-CE6F-44B0-AED8-59715C5C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5098B-1013-4B74-8CF9-4433FBC9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53425E-50B5-49CA-A9A4-EDA3C56E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TDC-GPX TOP 코드 분석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CD5A0-72F9-441F-A4E9-A0B3F732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검증 및 테스트 커버리지 관찰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40339B-0838-4E53-825A-CED8BA9F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18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A599E8-B029-4029-A0F5-9E7FC3AD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1B4DED-877E-46F0-8C20-80A94EA4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D7B838-C74A-4508-AE11-848B5A7C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66850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테스트 자산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DD57AE-06E3-4398-8050-2436B1F4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28194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tb_tdc_gpx_full_int, top_int, config_ctrl, chip_ctrl, output_stage 등 14개 테스트벤치/시나리오 파일이 존재합니다.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C3CD48-F2F9-4F26-B4BE-D685E7EEE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314450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E2C232-5F1E-4414-91C6-F7AF2224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31445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619E4C-0DD1-4BDA-B6CE-68F71565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466850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검증 공백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5D33B3-47F2-4BFC-95E4-6EB87960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790700"/>
            <a:ext cx="28194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이번 PPT 생성 작업에서는 xvhdl/ghdl이 PATH에서 확인되지 않아 컴파일/시뮬레이션을 재실행하지 못했습니다.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C1114F-F18A-4EDE-9519-0F8EEEB9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314450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E977D7-E982-4BEC-A154-336887C1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31445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686EC4-5204-4ABA-9504-D476E563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466850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우선 재검증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A64B95-6D69-472E-A8D2-AB16A732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790700"/>
            <a:ext cx="28194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클럭 계약 정리 후 reset/CDC, force_reinit, faulted frame, fall-only abort, status clear matrix를 targeted TB로 재확인해야 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DC9532-B126-4B44-94BC-E3AE10E0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0233F"/>
                </a:solidFill>
                <a:latin typeface="Malgun Gothic"/>
                <a:ea typeface="Malgun Gothic"/>
                <a:cs typeface="Malgun Gothic"/>
              </a:rPr>
              <a:t>권장 테스트 묶음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8BAD24-6475-461B-ACE9-AF149005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7429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1. CDC idle 이전 cmd_start/cfg_write가 막히는지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2. max_range_clks 기반 drain/header/cell watchdog 상호 정합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3. drain mismatch -&gt; tuser faulted -&gt; row/frame sticky propagation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4. output port read 의존이 선택한 VHDL flow에서 합성/패키징되는지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5. unused glue 제거 후 status/VDMA 파형 변화가 없는지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BA089A-7C1A-4D70-A1A3-33AA8B77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76650"/>
            <a:ext cx="23431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0F0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9342EB-2E59-46A7-B184-FDDE8F68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76650"/>
            <a:ext cx="666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BD6"/>
          </a:solidFill>
          <a:ln xmlns:a="http://schemas.openxmlformats.org/drawingml/2006/main" w="0">
            <a:solidFill>
              <a:srgbClr val="5B5B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404CEB-6CBA-4736-AD12-DC14ABA5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29050"/>
            <a:ext cx="2019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5B5BD6"/>
                </a:solidFill>
                <a:latin typeface="Aptos Mono"/>
                <a:ea typeface="Aptos Mono"/>
                <a:cs typeface="Aptos Mono"/>
              </a:rPr>
              <a:t>주의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EC2AC7-08A4-462D-9476-45CFEBA5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152900"/>
            <a:ext cx="2019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현재 git worktree에는 기존 수정/미추적 Doc 파일이 있습니다. 소스 변경 시 사용자 변경과 분리해 다뤄야 합니다.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013D9D-B30E-4209-B8AD-3D68EB8C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3885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테스트 파일 예: tb_tdc_gpx_full_int.vhd, tb_tdc_gpx_top_int.vhd, tb_tdc_gpx_output_stage.vhd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222064-E718-4FA2-B5A8-5CE480BD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813C58-5BFB-439B-B7FC-0B6FBC8B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source: current HDL workspace review, 2026-04-29</a:t>
            </a:r>
          </a:p>
        </p:txBody>
      </p:sp>
    </p:spTree>
    <p:extLst>
      <p:ext uri="{BB962C8B-B14F-4D97-AF65-F5344CB8AC3E}">
        <p14:creationId xmlns:p14="http://schemas.microsoft.com/office/powerpoint/2010/main" val="2241304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9BAC17-C724-40EB-BDA7-3F8B67E5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F"/>
          </a:solidFill>
          <a:ln xmlns:a="http://schemas.openxmlformats.org/drawingml/2006/main" w="0">
            <a:solidFill>
              <a:srgbClr val="10233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73A5BC-E8D3-47AF-87C0-3A6C9DC0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921F5-338E-42D1-9C1F-C7E50FE4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CD34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CD34D"/>
                </a:solidFill>
                <a:latin typeface="Aptos Mono"/>
                <a:ea typeface="Aptos Mono"/>
                <a:cs typeface="Aptos Mono"/>
              </a:rPr>
              <a:t>TDC-GPX TOP 코드 분석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15A2DC-518D-4DDC-B1BD-B79C1A50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권장 next actions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2632CA-6E70-4C91-80C5-A74837A9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48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BEAFE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DBEAFE"/>
                </a:solidFill>
                <a:latin typeface="Aptos Mono"/>
                <a:ea typeface="Aptos Mono"/>
                <a:cs typeface="Aptos Mono"/>
              </a:rPr>
              <a:t>19 /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16FD0D-B972-433E-9C92-FE230C33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운용 문서와 코드 hygiene를 먼저 맞추는 것이 효과적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432E15-A7C5-4F21-9468-58F1E421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대부분의 핵심 datapath는 방어 로직이 충분하지만, 통합자가 같은 계약을 읽도록 만드는 일이 남아 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239ADC-F92E-405F-94A4-6A9328B7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0C"/>
          </a:solidFill>
          <a:ln xmlns:a="http://schemas.openxmlformats.org/drawingml/2006/main" w="0">
            <a:solidFill>
              <a:srgbClr val="C2410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2EACDD-B434-46F4-8079-7ABBB440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19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BEA8FC-5190-48EF-AB9A-E70946FA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241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2410C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C2410C"/>
                </a:solidFill>
                <a:latin typeface="Aptos Mono"/>
                <a:ea typeface="Aptos Mono"/>
                <a:cs typeface="Aptos Mono"/>
              </a:rPr>
              <a:t>Clock contract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33C001-ED74-40C4-9B28-1F390DF8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724150"/>
            <a:ext cx="657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150/200 MHz 표기를 정리하고 timeout/거리/CDC reset hold를 하나의 기준으로 문서화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E4B740-44AE-4DBD-95B8-7BD0D3A1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7285"/>
          </a:solidFill>
          <a:ln xmlns:a="http://schemas.openxmlformats.org/drawingml/2006/main" w="0">
            <a:solidFill>
              <a:srgbClr val="0B728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D7A569-E196-42D4-B14E-8E9952B1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19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8D285D-99A0-4D80-8497-933BC7E3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05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7285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0B7285"/>
                </a:solidFill>
                <a:latin typeface="Aptos Mono"/>
                <a:ea typeface="Aptos Mono"/>
                <a:cs typeface="Aptos Mono"/>
              </a:rPr>
              <a:t>Status runbook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9E0E4C-A166-43F1-AE45-CCC0E74A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505200"/>
            <a:ext cx="657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STAT5/6/7 및 추가 t_tdc_status field의 clear/latency/rollover 의미를 SW 표로 제공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479A3C-8832-4421-BFED-1056FC97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5BD6"/>
          </a:solidFill>
          <a:ln xmlns:a="http://schemas.openxmlformats.org/drawingml/2006/main" w="0">
            <a:solidFill>
              <a:srgbClr val="5B5B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1EA671-2474-4EB1-B5AA-03B96384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19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F9ACB1-0466-4D41-BD32-2875AE5F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862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5BD6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5B5BD6"/>
                </a:solidFill>
                <a:latin typeface="Aptos Mono"/>
                <a:ea typeface="Aptos Mono"/>
                <a:cs typeface="Aptos Mono"/>
              </a:rPr>
              <a:t>Interface cleanup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2A0058-CF1F-4255-BB49-2A4E6A19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286250"/>
            <a:ext cx="657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509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unused top signal과 legacy open 포트를 제거하거나 reserved 이유를 code comment로 좁혀 표시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C6CFD6-19B9-4128-81D8-CEB237C7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A2CB62-B715-4C91-BE39-912C19C8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4450"/>
            <a:ext cx="19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F4F894-C5BE-43EE-9FD2-811E4F63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55A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2F855A"/>
                </a:solidFill>
                <a:latin typeface="Aptos Mono"/>
                <a:ea typeface="Aptos Mono"/>
                <a:cs typeface="Aptos Mono"/>
              </a:rPr>
              <a:t>Targeted regression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AD9972-9DAC-424F-936E-86F97A03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067300"/>
            <a:ext cx="657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force_reinit, bus_fatal, faulted frame, blank-fill, fall-only abort를 집중 검증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CA04FD-669C-4E2A-A27A-F160C162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00150"/>
            <a:ext cx="3429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2F01A0-3BC5-4F19-B8C4-85F8B4C2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0015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A351CC-95A0-4195-A3CB-492AE828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52550"/>
            <a:ext cx="3105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7706"/>
                </a:solidFill>
                <a:latin typeface="Aptos Mono"/>
                <a:ea typeface="Aptos Mono"/>
                <a:cs typeface="Aptos Mono"/>
              </a:rPr>
              <a:t>핵심 결론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5A96E7-FEF6-483A-A23D-800477AE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76400"/>
            <a:ext cx="3105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11827"/>
                </a:solidFill>
                <a:latin typeface="Malgun Gothic"/>
                <a:ea typeface="Malgun Gothic"/>
                <a:cs typeface="Malgun Gothic"/>
              </a:rPr>
              <a:t>운용 안정성은 status 해석과 SW 절차에 크게 의존합니다. 코드 자체보다 계약의 선명도가 다음 품질 병목입니다.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40D21B-9E74-411D-934F-72FD30CC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55D172-0863-4467-A770-C2C97C51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source: current HDL workspace review, 2026-04-29</a:t>
            </a:r>
          </a:p>
        </p:txBody>
      </p:sp>
    </p:spTree>
    <p:extLst>
      <p:ext uri="{BB962C8B-B14F-4D97-AF65-F5344CB8AC3E}">
        <p14:creationId xmlns:p14="http://schemas.microsoft.com/office/powerpoint/2010/main" val="18268185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2026-04-29T00:31:22.9140000Z</dcterms:created>
  <dcterms:modified xsi:type="dcterms:W3CDTF">2026-04-29T00:31:22.9140000Z</dcterms:modified>
</coreProperties>
</file>