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notesMasterIdLst>
    <p:notesMasterId r:id="rId7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AFB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28600"/>
            <a:ext cx="11155680" cy="4572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Polygon Mirror Budget 모델</a:t>
            </a:r>
            <a:endParaRPr lang="en-US" sz="2100" dirty="0"/>
          </a:p>
        </p:txBody>
      </p:sp>
      <p:sp>
        <p:nvSpPr>
          <p:cNvPr id="3" name="Text 1"/>
          <p:cNvSpPr/>
          <p:nvPr/>
        </p:nvSpPr>
        <p:spPr>
          <a:xfrm>
            <a:off x="530352" y="667512"/>
            <a:ext cx="11064240" cy="29260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13.888889us start_tdc 간격에서 후단 8us를 예약하고 남은 시간으로 C04 drain 가능성을 판단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02920" y="987552"/>
            <a:ext cx="11155680" cy="0"/>
          </a:xfrm>
          <a:prstGeom prst="line">
            <a:avLst/>
          </a:prstGeom>
          <a:noFill/>
          <a:ln w="10160">
            <a:solidFill>
              <a:srgbClr val="CBD5E1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85800" y="1325880"/>
            <a:ext cx="1508760" cy="731520"/>
          </a:xfrm>
          <a:prstGeom prst="roundRect">
            <a:avLst>
              <a:gd name="adj" fmla="val 7500"/>
            </a:avLst>
          </a:prstGeom>
          <a:solidFill>
            <a:srgbClr val="EFF6FF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49808" y="1371600"/>
            <a:ext cx="1380744" cy="6400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10Hz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1회전 100ms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2240280" y="1691640"/>
            <a:ext cx="548640" cy="0"/>
          </a:xfrm>
          <a:prstGeom prst="line">
            <a:avLst/>
          </a:prstGeom>
          <a:noFill/>
          <a:ln w="17780">
            <a:solidFill>
              <a:srgbClr val="2563EB"/>
            </a:solidFill>
            <a:prstDash val="solid"/>
            <a:tailEnd type="triangle"/>
          </a:ln>
        </p:spPr>
      </p:sp>
      <p:sp>
        <p:nvSpPr>
          <p:cNvPr id="8" name="Shape 6"/>
          <p:cNvSpPr/>
          <p:nvPr/>
        </p:nvSpPr>
        <p:spPr>
          <a:xfrm>
            <a:off x="2834640" y="1325880"/>
            <a:ext cx="1600200" cy="731520"/>
          </a:xfrm>
          <a:prstGeom prst="roundRect">
            <a:avLst>
              <a:gd name="adj" fmla="val 7500"/>
            </a:avLst>
          </a:prstGeom>
          <a:solidFill>
            <a:srgbClr val="ECFEFF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898648" y="1371600"/>
            <a:ext cx="1472184" cy="6400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5각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72도 = 20ms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480560" y="1691640"/>
            <a:ext cx="548640" cy="0"/>
          </a:xfrm>
          <a:prstGeom prst="line">
            <a:avLst/>
          </a:prstGeom>
          <a:noFill/>
          <a:ln w="17780">
            <a:solidFill>
              <a:srgbClr val="0891B2"/>
            </a:solidFill>
            <a:prstDash val="solid"/>
            <a:tailEnd type="triangle"/>
          </a:ln>
        </p:spPr>
      </p:sp>
      <p:sp>
        <p:nvSpPr>
          <p:cNvPr id="11" name="Shape 9"/>
          <p:cNvSpPr/>
          <p:nvPr/>
        </p:nvSpPr>
        <p:spPr>
          <a:xfrm>
            <a:off x="5074920" y="1325880"/>
            <a:ext cx="1737360" cy="731520"/>
          </a:xfrm>
          <a:prstGeom prst="roundRect">
            <a:avLst>
              <a:gd name="adj" fmla="val 7500"/>
            </a:avLst>
          </a:prstGeom>
          <a:solidFill>
            <a:srgbClr val="F5F3FF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138928" y="1371600"/>
            <a:ext cx="1609344" cy="6400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60도 사용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16.666667ms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6858000" y="1691640"/>
            <a:ext cx="548640" cy="0"/>
          </a:xfrm>
          <a:prstGeom prst="line">
            <a:avLst/>
          </a:prstGeom>
          <a:noFill/>
          <a:ln w="17780">
            <a:solidFill>
              <a:srgbClr val="7C3AED"/>
            </a:solidFill>
            <a:prstDash val="solid"/>
            <a:tailEnd type="triangle"/>
          </a:ln>
        </p:spPr>
      </p:sp>
      <p:sp>
        <p:nvSpPr>
          <p:cNvPr id="14" name="Shape 12"/>
          <p:cNvSpPr/>
          <p:nvPr/>
        </p:nvSpPr>
        <p:spPr>
          <a:xfrm>
            <a:off x="7452360" y="1325880"/>
            <a:ext cx="1600200" cy="731520"/>
          </a:xfrm>
          <a:prstGeom prst="roundRect">
            <a:avLst>
              <a:gd name="adj" fmla="val 7500"/>
            </a:avLst>
          </a:prstGeom>
          <a:solidFill>
            <a:srgbClr val="FFF7ED"/>
          </a:solidFill>
          <a:ln w="12700">
            <a:solidFill>
              <a:srgbClr val="EA580C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516368" y="1371600"/>
            <a:ext cx="1472184" cy="6400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0.05도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1200 points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9098280" y="1691640"/>
            <a:ext cx="548640" cy="0"/>
          </a:xfrm>
          <a:prstGeom prst="line">
            <a:avLst/>
          </a:prstGeom>
          <a:noFill/>
          <a:ln w="17780">
            <a:solidFill>
              <a:srgbClr val="EA580C"/>
            </a:solidFill>
            <a:prstDash val="solid"/>
            <a:tailEnd type="triangle"/>
          </a:ln>
        </p:spPr>
      </p:sp>
      <p:sp>
        <p:nvSpPr>
          <p:cNvPr id="17" name="Shape 15"/>
          <p:cNvSpPr/>
          <p:nvPr/>
        </p:nvSpPr>
        <p:spPr>
          <a:xfrm>
            <a:off x="9692640" y="1325880"/>
            <a:ext cx="1828800" cy="731520"/>
          </a:xfrm>
          <a:prstGeom prst="roundRect">
            <a:avLst>
              <a:gd name="adj" fmla="val 7500"/>
            </a:avLst>
          </a:prstGeom>
          <a:solidFill>
            <a:srgbClr val="ECFDF5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9756648" y="1371600"/>
            <a:ext cx="1700784" cy="6400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start 간격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13.888889us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1005840" y="2926080"/>
            <a:ext cx="2194560" cy="438912"/>
          </a:xfrm>
          <a:prstGeom prst="rect">
            <a:avLst/>
          </a:prstGeom>
          <a:solidFill>
            <a:srgbClr val="E2E8F0"/>
          </a:solidFill>
          <a:ln w="6985">
            <a:solidFill>
              <a:srgbClr val="CBD5E1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1042416" y="2944368"/>
            <a:ext cx="2121408" cy="40233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030" b="1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항목</a:t>
            </a:r>
            <a:endParaRPr lang="en-US" sz="1030" dirty="0"/>
          </a:p>
        </p:txBody>
      </p:sp>
      <p:sp>
        <p:nvSpPr>
          <p:cNvPr id="21" name="Shape 19"/>
          <p:cNvSpPr/>
          <p:nvPr/>
        </p:nvSpPr>
        <p:spPr>
          <a:xfrm>
            <a:off x="3200400" y="2926080"/>
            <a:ext cx="8046720" cy="438912"/>
          </a:xfrm>
          <a:prstGeom prst="rect">
            <a:avLst/>
          </a:prstGeom>
          <a:solidFill>
            <a:srgbClr val="E2E8F0"/>
          </a:solidFill>
          <a:ln w="6985">
            <a:solidFill>
              <a:srgbClr val="CBD5E1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236976" y="2944368"/>
            <a:ext cx="7973568" cy="40233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030" b="1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값</a:t>
            </a:r>
            <a:endParaRPr lang="en-US" sz="1030" dirty="0"/>
          </a:p>
        </p:txBody>
      </p:sp>
      <p:sp>
        <p:nvSpPr>
          <p:cNvPr id="23" name="Shape 21"/>
          <p:cNvSpPr/>
          <p:nvPr/>
        </p:nvSpPr>
        <p:spPr>
          <a:xfrm>
            <a:off x="1005840" y="3364992"/>
            <a:ext cx="2194560" cy="438912"/>
          </a:xfrm>
          <a:prstGeom prst="rect">
            <a:avLst/>
          </a:prstGeom>
          <a:solidFill>
            <a:srgbClr val="FFFFFF"/>
          </a:solidFill>
          <a:ln w="6985">
            <a:solidFill>
              <a:srgbClr val="CBD5E1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1042416" y="3383280"/>
            <a:ext cx="2121408" cy="40233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030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후단 예약</a:t>
            </a:r>
            <a:endParaRPr lang="en-US" sz="1030" dirty="0"/>
          </a:p>
        </p:txBody>
      </p:sp>
      <p:sp>
        <p:nvSpPr>
          <p:cNvPr id="25" name="Shape 23"/>
          <p:cNvSpPr/>
          <p:nvPr/>
        </p:nvSpPr>
        <p:spPr>
          <a:xfrm>
            <a:off x="3200400" y="3364992"/>
            <a:ext cx="8046720" cy="438912"/>
          </a:xfrm>
          <a:prstGeom prst="rect">
            <a:avLst/>
          </a:prstGeom>
          <a:solidFill>
            <a:srgbClr val="FFFFFF"/>
          </a:solidFill>
          <a:ln w="6985">
            <a:solidFill>
              <a:srgbClr val="CBD5E1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236976" y="3383280"/>
            <a:ext cx="7973568" cy="40233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030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VDMA + PS + Ethernet = 8.000000 us</a:t>
            </a:r>
            <a:endParaRPr lang="en-US" sz="1030" dirty="0"/>
          </a:p>
        </p:txBody>
      </p:sp>
      <p:sp>
        <p:nvSpPr>
          <p:cNvPr id="27" name="Shape 25"/>
          <p:cNvSpPr/>
          <p:nvPr/>
        </p:nvSpPr>
        <p:spPr>
          <a:xfrm>
            <a:off x="1005840" y="3803904"/>
            <a:ext cx="2194560" cy="438912"/>
          </a:xfrm>
          <a:prstGeom prst="rect">
            <a:avLst/>
          </a:prstGeom>
          <a:solidFill>
            <a:srgbClr val="FFFFFF"/>
          </a:solidFill>
          <a:ln w="6985">
            <a:solidFill>
              <a:srgbClr val="CBD5E1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1042416" y="3822192"/>
            <a:ext cx="2121408" cy="40233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030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pre-ToF 예산</a:t>
            </a:r>
            <a:endParaRPr lang="en-US" sz="1030" dirty="0"/>
          </a:p>
        </p:txBody>
      </p:sp>
      <p:sp>
        <p:nvSpPr>
          <p:cNvPr id="29" name="Shape 27"/>
          <p:cNvSpPr/>
          <p:nvPr/>
        </p:nvSpPr>
        <p:spPr>
          <a:xfrm>
            <a:off x="3200400" y="3803904"/>
            <a:ext cx="8046720" cy="438912"/>
          </a:xfrm>
          <a:prstGeom prst="rect">
            <a:avLst/>
          </a:prstGeom>
          <a:solidFill>
            <a:srgbClr val="FFFFFF"/>
          </a:solidFill>
          <a:ln w="6985">
            <a:solidFill>
              <a:srgbClr val="CBD5E1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3236976" y="3822192"/>
            <a:ext cx="7973568" cy="40233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030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13.888889 us - 8.000000 us = 5.888889 us</a:t>
            </a:r>
            <a:endParaRPr lang="en-US" sz="1030" dirty="0"/>
          </a:p>
        </p:txBody>
      </p:sp>
      <p:sp>
        <p:nvSpPr>
          <p:cNvPr id="31" name="Shape 29"/>
          <p:cNvSpPr/>
          <p:nvPr/>
        </p:nvSpPr>
        <p:spPr>
          <a:xfrm>
            <a:off x="1005840" y="4242816"/>
            <a:ext cx="2194560" cy="438912"/>
          </a:xfrm>
          <a:prstGeom prst="rect">
            <a:avLst/>
          </a:prstGeom>
          <a:solidFill>
            <a:srgbClr val="FFFFFF"/>
          </a:solidFill>
          <a:ln w="6985">
            <a:solidFill>
              <a:srgbClr val="CBD5E1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1042416" y="4261104"/>
            <a:ext cx="2121408" cy="40233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030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거리별 C04 예산</a:t>
            </a:r>
            <a:endParaRPr lang="en-US" sz="1030" dirty="0"/>
          </a:p>
        </p:txBody>
      </p:sp>
      <p:sp>
        <p:nvSpPr>
          <p:cNvPr id="33" name="Shape 31"/>
          <p:cNvSpPr/>
          <p:nvPr/>
        </p:nvSpPr>
        <p:spPr>
          <a:xfrm>
            <a:off x="3200400" y="4242816"/>
            <a:ext cx="8046720" cy="438912"/>
          </a:xfrm>
          <a:prstGeom prst="rect">
            <a:avLst/>
          </a:prstGeom>
          <a:solidFill>
            <a:srgbClr val="FFFFFF"/>
          </a:solidFill>
          <a:ln w="6985">
            <a:solidFill>
              <a:srgbClr val="CBD5E1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3236976" y="4261104"/>
            <a:ext cx="7973568" cy="40233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030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5.888889 us - 왕복시간(distance)</a:t>
            </a:r>
            <a:endParaRPr lang="en-US" sz="1030" dirty="0"/>
          </a:p>
        </p:txBody>
      </p:sp>
      <p:sp>
        <p:nvSpPr>
          <p:cNvPr id="35" name="Shape 33"/>
          <p:cNvSpPr/>
          <p:nvPr/>
        </p:nvSpPr>
        <p:spPr>
          <a:xfrm>
            <a:off x="1005840" y="4681728"/>
            <a:ext cx="2194560" cy="438912"/>
          </a:xfrm>
          <a:prstGeom prst="rect">
            <a:avLst/>
          </a:prstGeom>
          <a:solidFill>
            <a:srgbClr val="FFFFFF"/>
          </a:solidFill>
          <a:ln w="6985">
            <a:solidFill>
              <a:srgbClr val="CBD5E1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1042416" y="4700016"/>
            <a:ext cx="2121408" cy="40233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030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판정</a:t>
            </a:r>
            <a:endParaRPr lang="en-US" sz="1030" dirty="0"/>
          </a:p>
        </p:txBody>
      </p:sp>
      <p:sp>
        <p:nvSpPr>
          <p:cNvPr id="37" name="Shape 35"/>
          <p:cNvSpPr/>
          <p:nvPr/>
        </p:nvSpPr>
        <p:spPr>
          <a:xfrm>
            <a:off x="3200400" y="4681728"/>
            <a:ext cx="8046720" cy="438912"/>
          </a:xfrm>
          <a:prstGeom prst="rect">
            <a:avLst/>
          </a:prstGeom>
          <a:solidFill>
            <a:srgbClr val="FFFFFF"/>
          </a:solidFill>
          <a:ln w="6985">
            <a:solidFill>
              <a:srgbClr val="CBD5E1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3236976" y="4700016"/>
            <a:ext cx="7973568" cy="40233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030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C04 drain time &lt;= 거리별 C04 예산</a:t>
            </a:r>
            <a:endParaRPr lang="en-US" sz="1030" dirty="0"/>
          </a:p>
        </p:txBody>
      </p:sp>
      <p:sp>
        <p:nvSpPr>
          <p:cNvPr id="39" name="Text 37"/>
          <p:cNvSpPr/>
          <p:nvPr/>
        </p:nvSpPr>
        <p:spPr>
          <a:xfrm>
            <a:off x="594360" y="6364224"/>
            <a:ext cx="10972800" cy="2286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TB: tb_tdc_gpx_polygon_budget_matrix.vhd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AFB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28600"/>
            <a:ext cx="11155680" cy="4572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max_hits_cfg 스왑 결과</a:t>
            </a:r>
            <a:endParaRPr lang="en-US" sz="2100" dirty="0"/>
          </a:p>
        </p:txBody>
      </p:sp>
      <p:sp>
        <p:nvSpPr>
          <p:cNvPr id="3" name="Text 1"/>
          <p:cNvSpPr/>
          <p:nvPr/>
        </p:nvSpPr>
        <p:spPr>
          <a:xfrm>
            <a:off x="530352" y="667512"/>
            <a:ext cx="11064240" cy="29260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각 거리에서 PASS 가능한 최대 cfg를 선택한다. 거리가 길어질수록 왕복시간이 커져 budget이 감소한다.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02920" y="987552"/>
            <a:ext cx="11155680" cy="0"/>
          </a:xfrm>
          <a:prstGeom prst="line">
            <a:avLst/>
          </a:prstGeom>
          <a:noFill/>
          <a:ln w="10160">
            <a:solidFill>
              <a:srgbClr val="CBD5E1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31520" y="1325880"/>
            <a:ext cx="1188720" cy="594360"/>
          </a:xfrm>
          <a:prstGeom prst="rect">
            <a:avLst/>
          </a:prstGeom>
          <a:solidFill>
            <a:srgbClr val="E2E8F0"/>
          </a:solidFill>
          <a:ln w="6985">
            <a:solidFill>
              <a:srgbClr val="CBD5E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68096" y="1344168"/>
            <a:ext cx="1115568" cy="55778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Width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1920240" y="1325880"/>
            <a:ext cx="2103120" cy="594360"/>
          </a:xfrm>
          <a:prstGeom prst="rect">
            <a:avLst/>
          </a:prstGeom>
          <a:solidFill>
            <a:srgbClr val="E2E8F0"/>
          </a:solidFill>
          <a:ln w="6985">
            <a:solidFill>
              <a:srgbClr val="CBD5E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956816" y="1344168"/>
            <a:ext cx="2029968" cy="55778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cfg=7 유지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023360" y="1325880"/>
            <a:ext cx="5669280" cy="594360"/>
          </a:xfrm>
          <a:prstGeom prst="rect">
            <a:avLst/>
          </a:prstGeom>
          <a:solidFill>
            <a:srgbClr val="E2E8F0"/>
          </a:solidFill>
          <a:ln w="6985">
            <a:solidFill>
              <a:srgbClr val="CBD5E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059936" y="1344168"/>
            <a:ext cx="5596128" cy="55778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스왑 구간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9692640" y="1325880"/>
            <a:ext cx="1280160" cy="594360"/>
          </a:xfrm>
          <a:prstGeom prst="rect">
            <a:avLst/>
          </a:prstGeom>
          <a:solidFill>
            <a:srgbClr val="E2E8F0"/>
          </a:solidFill>
          <a:ln w="6985">
            <a:solidFill>
              <a:srgbClr val="CBD5E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9729216" y="1344168"/>
            <a:ext cx="1207008" cy="55778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완전 FAIL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731520" y="1920240"/>
            <a:ext cx="1188720" cy="594360"/>
          </a:xfrm>
          <a:prstGeom prst="rect">
            <a:avLst/>
          </a:prstGeom>
          <a:solidFill>
            <a:srgbClr val="FFFFFF"/>
          </a:solidFill>
          <a:ln w="6985">
            <a:solidFill>
              <a:srgbClr val="CBD5E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68096" y="1938528"/>
            <a:ext cx="1115568" cy="55778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100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32bit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1920240" y="1920240"/>
            <a:ext cx="2103120" cy="594360"/>
          </a:xfrm>
          <a:prstGeom prst="rect">
            <a:avLst/>
          </a:prstGeom>
          <a:solidFill>
            <a:srgbClr val="FFFFFF"/>
          </a:solidFill>
          <a:ln w="6985">
            <a:solidFill>
              <a:srgbClr val="CBD5E1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956816" y="1938528"/>
            <a:ext cx="2029968" cy="55778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100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10m~710m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4023360" y="1920240"/>
            <a:ext cx="5669280" cy="594360"/>
          </a:xfrm>
          <a:prstGeom prst="rect">
            <a:avLst/>
          </a:prstGeom>
          <a:solidFill>
            <a:srgbClr val="FFFFFF"/>
          </a:solidFill>
          <a:ln w="6985">
            <a:solidFill>
              <a:srgbClr val="CBD5E1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059936" y="1938528"/>
            <a:ext cx="5596128" cy="55778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100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720~740m cfg6, 750~770m cfg4, 780~800m cfg2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9692640" y="1920240"/>
            <a:ext cx="1280160" cy="594360"/>
          </a:xfrm>
          <a:prstGeom prst="rect">
            <a:avLst/>
          </a:prstGeom>
          <a:solidFill>
            <a:srgbClr val="FFFFFF"/>
          </a:solidFill>
          <a:ln w="6985">
            <a:solidFill>
              <a:srgbClr val="CBD5E1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9729216" y="1938528"/>
            <a:ext cx="1207008" cy="55778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100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810m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731520" y="2514600"/>
            <a:ext cx="1188720" cy="594360"/>
          </a:xfrm>
          <a:prstGeom prst="rect">
            <a:avLst/>
          </a:prstGeom>
          <a:solidFill>
            <a:srgbClr val="FFFFFF"/>
          </a:solidFill>
          <a:ln w="6985">
            <a:solidFill>
              <a:srgbClr val="CBD5E1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68096" y="2532888"/>
            <a:ext cx="1115568" cy="55778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100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64bit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1920240" y="2514600"/>
            <a:ext cx="2103120" cy="594360"/>
          </a:xfrm>
          <a:prstGeom prst="rect">
            <a:avLst/>
          </a:prstGeom>
          <a:solidFill>
            <a:srgbClr val="FFFFFF"/>
          </a:solidFill>
          <a:ln w="6985">
            <a:solidFill>
              <a:srgbClr val="CBD5E1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1956816" y="2532888"/>
            <a:ext cx="2029968" cy="55778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100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10m~780m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4023360" y="2514600"/>
            <a:ext cx="5669280" cy="594360"/>
          </a:xfrm>
          <a:prstGeom prst="rect">
            <a:avLst/>
          </a:prstGeom>
          <a:solidFill>
            <a:srgbClr val="FFFFFF"/>
          </a:solidFill>
          <a:ln w="6985">
            <a:solidFill>
              <a:srgbClr val="CBD5E1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059936" y="2532888"/>
            <a:ext cx="5596128" cy="55778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100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790~810m cfg4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9692640" y="2514600"/>
            <a:ext cx="1280160" cy="594360"/>
          </a:xfrm>
          <a:prstGeom prst="rect">
            <a:avLst/>
          </a:prstGeom>
          <a:solidFill>
            <a:srgbClr val="FFFFFF"/>
          </a:solidFill>
          <a:ln w="6985">
            <a:solidFill>
              <a:srgbClr val="CBD5E1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9729216" y="2532888"/>
            <a:ext cx="1207008" cy="55778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100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820m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731520" y="3108960"/>
            <a:ext cx="1188720" cy="594360"/>
          </a:xfrm>
          <a:prstGeom prst="rect">
            <a:avLst/>
          </a:prstGeom>
          <a:solidFill>
            <a:srgbClr val="FFFFFF"/>
          </a:solidFill>
          <a:ln w="6985">
            <a:solidFill>
              <a:srgbClr val="CBD5E1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768096" y="3127248"/>
            <a:ext cx="1115568" cy="55778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100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128bit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1920240" y="3108960"/>
            <a:ext cx="2103120" cy="594360"/>
          </a:xfrm>
          <a:prstGeom prst="rect">
            <a:avLst/>
          </a:prstGeom>
          <a:solidFill>
            <a:srgbClr val="FFFFFF"/>
          </a:solidFill>
          <a:ln w="6985">
            <a:solidFill>
              <a:srgbClr val="CBD5E1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1956816" y="3127248"/>
            <a:ext cx="2029968" cy="55778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100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10m~810m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4023360" y="3108960"/>
            <a:ext cx="5669280" cy="594360"/>
          </a:xfrm>
          <a:prstGeom prst="rect">
            <a:avLst/>
          </a:prstGeom>
          <a:solidFill>
            <a:srgbClr val="FFFFFF"/>
          </a:solidFill>
          <a:ln w="6985">
            <a:solidFill>
              <a:srgbClr val="CBD5E1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059936" y="3127248"/>
            <a:ext cx="5596128" cy="55778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100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없음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9692640" y="3108960"/>
            <a:ext cx="1280160" cy="594360"/>
          </a:xfrm>
          <a:prstGeom prst="rect">
            <a:avLst/>
          </a:prstGeom>
          <a:solidFill>
            <a:srgbClr val="FFFFFF"/>
          </a:solidFill>
          <a:ln w="6985">
            <a:solidFill>
              <a:srgbClr val="CBD5E1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9729216" y="3127248"/>
            <a:ext cx="1207008" cy="55778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100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820m</a:t>
            </a:r>
            <a:endParaRPr lang="en-US" sz="1100" dirty="0"/>
          </a:p>
        </p:txBody>
      </p:sp>
      <p:sp>
        <p:nvSpPr>
          <p:cNvPr id="37" name="Shape 35"/>
          <p:cNvSpPr/>
          <p:nvPr/>
        </p:nvSpPr>
        <p:spPr>
          <a:xfrm>
            <a:off x="914400" y="3886200"/>
            <a:ext cx="2743200" cy="1005840"/>
          </a:xfrm>
          <a:prstGeom prst="roundRect">
            <a:avLst>
              <a:gd name="adj" fmla="val 5455"/>
            </a:avLst>
          </a:prstGeom>
          <a:solidFill>
            <a:srgbClr val="FEF2F2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978408" y="3931920"/>
            <a:ext cx="2615184" cy="9144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32bit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payload beat가 많아서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가장 먼저 cfg를 낮춤</a:t>
            </a:r>
            <a:endParaRPr lang="en-US" sz="1100" dirty="0"/>
          </a:p>
        </p:txBody>
      </p:sp>
      <p:sp>
        <p:nvSpPr>
          <p:cNvPr id="39" name="Shape 37"/>
          <p:cNvSpPr/>
          <p:nvPr/>
        </p:nvSpPr>
        <p:spPr>
          <a:xfrm>
            <a:off x="3977640" y="3886200"/>
            <a:ext cx="2560320" cy="1005840"/>
          </a:xfrm>
          <a:prstGeom prst="roundRect">
            <a:avLst>
              <a:gd name="adj" fmla="val 5455"/>
            </a:avLst>
          </a:prstGeom>
          <a:solidFill>
            <a:srgbClr val="FFF7ED"/>
          </a:solidFill>
          <a:ln w="12700">
            <a:solidFill>
              <a:srgbClr val="EA580C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4041648" y="3931920"/>
            <a:ext cx="2432304" cy="9144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64bit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790m부터 cfg4로 제한</a:t>
            </a:r>
            <a:endParaRPr lang="en-US" sz="1100" dirty="0"/>
          </a:p>
        </p:txBody>
      </p:sp>
      <p:sp>
        <p:nvSpPr>
          <p:cNvPr id="41" name="Shape 39"/>
          <p:cNvSpPr/>
          <p:nvPr/>
        </p:nvSpPr>
        <p:spPr>
          <a:xfrm>
            <a:off x="6858000" y="3886200"/>
            <a:ext cx="2560320" cy="1005840"/>
          </a:xfrm>
          <a:prstGeom prst="roundRect">
            <a:avLst>
              <a:gd name="adj" fmla="val 5455"/>
            </a:avLst>
          </a:prstGeom>
          <a:solidFill>
            <a:srgbClr val="ECFDF5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6922008" y="3931920"/>
            <a:ext cx="2432304" cy="9144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128bit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810m까지 cfg7 유지</a:t>
            </a:r>
            <a:endParaRPr lang="en-US" sz="1100" dirty="0"/>
          </a:p>
        </p:txBody>
      </p:sp>
      <p:sp>
        <p:nvSpPr>
          <p:cNvPr id="43" name="Text 41"/>
          <p:cNvSpPr/>
          <p:nvPr/>
        </p:nvSpPr>
        <p:spPr>
          <a:xfrm>
            <a:off x="594360" y="6364224"/>
            <a:ext cx="10972800" cy="2286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Boundary logs: xsim_polygon_budget_matrix.log:36,180,188,196,204,212,370,378,386,550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AFB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28600"/>
            <a:ext cx="11155680" cy="4572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32bit 경계</a:t>
            </a:r>
            <a:endParaRPr lang="en-US" sz="2100" dirty="0"/>
          </a:p>
        </p:txBody>
      </p:sp>
      <p:sp>
        <p:nvSpPr>
          <p:cNvPr id="3" name="Text 1"/>
          <p:cNvSpPr/>
          <p:nvPr/>
        </p:nvSpPr>
        <p:spPr>
          <a:xfrm>
            <a:off x="530352" y="667512"/>
            <a:ext cx="11064240" cy="29260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32bit는 cfg group이 촘촘히 나뉘어 거리 증가에 따라 단계적으로 cfg를 낮춘다.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02920" y="987552"/>
            <a:ext cx="11155680" cy="0"/>
          </a:xfrm>
          <a:prstGeom prst="line">
            <a:avLst/>
          </a:prstGeom>
          <a:noFill/>
          <a:ln w="10160">
            <a:solidFill>
              <a:srgbClr val="CBD5E1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85800" y="1234440"/>
            <a:ext cx="1005840" cy="475488"/>
          </a:xfrm>
          <a:prstGeom prst="rect">
            <a:avLst/>
          </a:prstGeom>
          <a:solidFill>
            <a:srgbClr val="E2E8F0"/>
          </a:solidFill>
          <a:ln w="6985">
            <a:solidFill>
              <a:srgbClr val="CBD5E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22376" y="1252728"/>
            <a:ext cx="932688" cy="43891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거리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1691640" y="1234440"/>
            <a:ext cx="1828800" cy="475488"/>
          </a:xfrm>
          <a:prstGeom prst="rect">
            <a:avLst/>
          </a:prstGeom>
          <a:solidFill>
            <a:srgbClr val="E2E8F0"/>
          </a:solidFill>
          <a:ln w="6985">
            <a:solidFill>
              <a:srgbClr val="CBD5E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728216" y="1252728"/>
            <a:ext cx="1755648" cy="43891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budget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3520440" y="1234440"/>
            <a:ext cx="1188720" cy="475488"/>
          </a:xfrm>
          <a:prstGeom prst="rect">
            <a:avLst/>
          </a:prstGeom>
          <a:solidFill>
            <a:srgbClr val="E2E8F0"/>
          </a:solidFill>
          <a:ln w="6985">
            <a:solidFill>
              <a:srgbClr val="CBD5E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557016" y="1252728"/>
            <a:ext cx="1115568" cy="43891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권장 cfg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4709160" y="1234440"/>
            <a:ext cx="1645920" cy="475488"/>
          </a:xfrm>
          <a:prstGeom prst="rect">
            <a:avLst/>
          </a:prstGeom>
          <a:solidFill>
            <a:srgbClr val="E2E8F0"/>
          </a:solidFill>
          <a:ln w="6985">
            <a:solidFill>
              <a:srgbClr val="CBD5E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745736" y="1252728"/>
            <a:ext cx="1572768" cy="43891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cfg7 margin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6355080" y="1234440"/>
            <a:ext cx="4297680" cy="475488"/>
          </a:xfrm>
          <a:prstGeom prst="rect">
            <a:avLst/>
          </a:prstGeom>
          <a:solidFill>
            <a:srgbClr val="E2E8F0"/>
          </a:solidFill>
          <a:ln w="6985">
            <a:solidFill>
              <a:srgbClr val="CBD5E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391656" y="1252728"/>
            <a:ext cx="4224528" cy="43891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의미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685800" y="1709928"/>
            <a:ext cx="1005840" cy="475488"/>
          </a:xfrm>
          <a:prstGeom prst="rect">
            <a:avLst/>
          </a:prstGeom>
          <a:solidFill>
            <a:srgbClr val="FFFFFF"/>
          </a:solidFill>
          <a:ln w="6985">
            <a:solidFill>
              <a:srgbClr val="CBD5E1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22376" y="1728216"/>
            <a:ext cx="932688" cy="43891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050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710m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1691640" y="1709928"/>
            <a:ext cx="1828800" cy="475488"/>
          </a:xfrm>
          <a:prstGeom prst="rect">
            <a:avLst/>
          </a:prstGeom>
          <a:solidFill>
            <a:srgbClr val="FFFFFF"/>
          </a:solidFill>
          <a:ln w="6985">
            <a:solidFill>
              <a:srgbClr val="CBD5E1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728216" y="1728216"/>
            <a:ext cx="1755648" cy="43891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1,152,479ps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3520440" y="1709928"/>
            <a:ext cx="1188720" cy="475488"/>
          </a:xfrm>
          <a:prstGeom prst="rect">
            <a:avLst/>
          </a:prstGeom>
          <a:solidFill>
            <a:srgbClr val="FFFFFF"/>
          </a:solidFill>
          <a:ln w="6985">
            <a:solidFill>
              <a:srgbClr val="CBD5E1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557016" y="1728216"/>
            <a:ext cx="1115568" cy="43891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7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4709160" y="1709928"/>
            <a:ext cx="1645920" cy="475488"/>
          </a:xfrm>
          <a:prstGeom prst="rect">
            <a:avLst/>
          </a:prstGeom>
          <a:solidFill>
            <a:srgbClr val="FFFFFF"/>
          </a:solidFill>
          <a:ln w="6985">
            <a:solidFill>
              <a:srgbClr val="CBD5E1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745736" y="1728216"/>
            <a:ext cx="1572768" cy="43891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+5,755ps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6355080" y="1709928"/>
            <a:ext cx="4297680" cy="475488"/>
          </a:xfrm>
          <a:prstGeom prst="rect">
            <a:avLst/>
          </a:prstGeom>
          <a:solidFill>
            <a:srgbClr val="FFFFFF"/>
          </a:solidFill>
          <a:ln w="6985">
            <a:solidFill>
              <a:srgbClr val="CBD5E1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391656" y="1728216"/>
            <a:ext cx="4224528" cy="43891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cfg7 마지막 PASS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685800" y="2185416"/>
            <a:ext cx="1005840" cy="475488"/>
          </a:xfrm>
          <a:prstGeom prst="rect">
            <a:avLst/>
          </a:prstGeom>
          <a:solidFill>
            <a:srgbClr val="FFFFFF"/>
          </a:solidFill>
          <a:ln w="6985">
            <a:solidFill>
              <a:srgbClr val="CBD5E1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22376" y="2203704"/>
            <a:ext cx="932688" cy="43891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050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720m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1691640" y="2185416"/>
            <a:ext cx="1828800" cy="475488"/>
          </a:xfrm>
          <a:prstGeom prst="rect">
            <a:avLst/>
          </a:prstGeom>
          <a:solidFill>
            <a:srgbClr val="FFFFFF"/>
          </a:solidFill>
          <a:ln w="6985">
            <a:solidFill>
              <a:srgbClr val="CBD5E1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1728216" y="2203704"/>
            <a:ext cx="1755648" cy="43891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1,085,769ps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3520440" y="2185416"/>
            <a:ext cx="1188720" cy="475488"/>
          </a:xfrm>
          <a:prstGeom prst="rect">
            <a:avLst/>
          </a:prstGeom>
          <a:solidFill>
            <a:srgbClr val="FFFFFF"/>
          </a:solidFill>
          <a:ln w="6985">
            <a:solidFill>
              <a:srgbClr val="CBD5E1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3557016" y="2203704"/>
            <a:ext cx="1115568" cy="43891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6</a:t>
            </a:r>
            <a:endParaRPr lang="en-US" sz="1050" dirty="0"/>
          </a:p>
        </p:txBody>
      </p:sp>
      <p:sp>
        <p:nvSpPr>
          <p:cNvPr id="31" name="Shape 29"/>
          <p:cNvSpPr/>
          <p:nvPr/>
        </p:nvSpPr>
        <p:spPr>
          <a:xfrm>
            <a:off x="4709160" y="2185416"/>
            <a:ext cx="1645920" cy="475488"/>
          </a:xfrm>
          <a:prstGeom prst="rect">
            <a:avLst/>
          </a:prstGeom>
          <a:solidFill>
            <a:srgbClr val="FFFFFF"/>
          </a:solidFill>
          <a:ln w="6985">
            <a:solidFill>
              <a:srgbClr val="CBD5E1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745736" y="2203704"/>
            <a:ext cx="1572768" cy="43891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-60,955ps</a:t>
            </a:r>
            <a:endParaRPr lang="en-US" sz="1050" dirty="0"/>
          </a:p>
        </p:txBody>
      </p:sp>
      <p:sp>
        <p:nvSpPr>
          <p:cNvPr id="33" name="Shape 31"/>
          <p:cNvSpPr/>
          <p:nvPr/>
        </p:nvSpPr>
        <p:spPr>
          <a:xfrm>
            <a:off x="6355080" y="2185416"/>
            <a:ext cx="4297680" cy="475488"/>
          </a:xfrm>
          <a:prstGeom prst="rect">
            <a:avLst/>
          </a:prstGeom>
          <a:solidFill>
            <a:srgbClr val="FFFFFF"/>
          </a:solidFill>
          <a:ln w="6985">
            <a:solidFill>
              <a:srgbClr val="CBD5E1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391656" y="2203704"/>
            <a:ext cx="4224528" cy="43891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cfg7 FAIL</a:t>
            </a:r>
            <a:endParaRPr lang="en-US" sz="1050" dirty="0"/>
          </a:p>
        </p:txBody>
      </p:sp>
      <p:sp>
        <p:nvSpPr>
          <p:cNvPr id="35" name="Shape 33"/>
          <p:cNvSpPr/>
          <p:nvPr/>
        </p:nvSpPr>
        <p:spPr>
          <a:xfrm>
            <a:off x="685800" y="2660904"/>
            <a:ext cx="1005840" cy="475488"/>
          </a:xfrm>
          <a:prstGeom prst="rect">
            <a:avLst/>
          </a:prstGeom>
          <a:solidFill>
            <a:srgbClr val="FFFFFF"/>
          </a:solidFill>
          <a:ln w="6985">
            <a:solidFill>
              <a:srgbClr val="CBD5E1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722376" y="2679192"/>
            <a:ext cx="932688" cy="43891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050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750m</a:t>
            </a:r>
            <a:endParaRPr lang="en-US" sz="1050" dirty="0"/>
          </a:p>
        </p:txBody>
      </p:sp>
      <p:sp>
        <p:nvSpPr>
          <p:cNvPr id="37" name="Shape 35"/>
          <p:cNvSpPr/>
          <p:nvPr/>
        </p:nvSpPr>
        <p:spPr>
          <a:xfrm>
            <a:off x="1691640" y="2660904"/>
            <a:ext cx="1828800" cy="475488"/>
          </a:xfrm>
          <a:prstGeom prst="rect">
            <a:avLst/>
          </a:prstGeom>
          <a:solidFill>
            <a:srgbClr val="FFFFFF"/>
          </a:solidFill>
          <a:ln w="6985">
            <a:solidFill>
              <a:srgbClr val="CBD5E1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1728216" y="2679192"/>
            <a:ext cx="1755648" cy="43891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885,639ps</a:t>
            </a:r>
            <a:endParaRPr lang="en-US" sz="1050" dirty="0"/>
          </a:p>
        </p:txBody>
      </p:sp>
      <p:sp>
        <p:nvSpPr>
          <p:cNvPr id="39" name="Shape 37"/>
          <p:cNvSpPr/>
          <p:nvPr/>
        </p:nvSpPr>
        <p:spPr>
          <a:xfrm>
            <a:off x="3520440" y="2660904"/>
            <a:ext cx="1188720" cy="475488"/>
          </a:xfrm>
          <a:prstGeom prst="rect">
            <a:avLst/>
          </a:prstGeom>
          <a:solidFill>
            <a:srgbClr val="FFFFFF"/>
          </a:solidFill>
          <a:ln w="6985">
            <a:solidFill>
              <a:srgbClr val="CBD5E1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3557016" y="2679192"/>
            <a:ext cx="1115568" cy="43891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</a:t>
            </a:r>
            <a:endParaRPr lang="en-US" sz="1050" dirty="0"/>
          </a:p>
        </p:txBody>
      </p:sp>
      <p:sp>
        <p:nvSpPr>
          <p:cNvPr id="41" name="Shape 39"/>
          <p:cNvSpPr/>
          <p:nvPr/>
        </p:nvSpPr>
        <p:spPr>
          <a:xfrm>
            <a:off x="4709160" y="2660904"/>
            <a:ext cx="1645920" cy="475488"/>
          </a:xfrm>
          <a:prstGeom prst="rect">
            <a:avLst/>
          </a:prstGeom>
          <a:solidFill>
            <a:srgbClr val="FFFFFF"/>
          </a:solidFill>
          <a:ln w="6985">
            <a:solidFill>
              <a:srgbClr val="CBD5E1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4745736" y="2679192"/>
            <a:ext cx="1572768" cy="43891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-261,085ps</a:t>
            </a:r>
            <a:endParaRPr lang="en-US" sz="1050" dirty="0"/>
          </a:p>
        </p:txBody>
      </p:sp>
      <p:sp>
        <p:nvSpPr>
          <p:cNvPr id="43" name="Shape 41"/>
          <p:cNvSpPr/>
          <p:nvPr/>
        </p:nvSpPr>
        <p:spPr>
          <a:xfrm>
            <a:off x="6355080" y="2660904"/>
            <a:ext cx="4297680" cy="475488"/>
          </a:xfrm>
          <a:prstGeom prst="rect">
            <a:avLst/>
          </a:prstGeom>
          <a:solidFill>
            <a:srgbClr val="FFFFFF"/>
          </a:solidFill>
          <a:ln w="6985">
            <a:solidFill>
              <a:srgbClr val="CBD5E1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6391656" y="2679192"/>
            <a:ext cx="4224528" cy="43891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cfg5 이상 FAIL</a:t>
            </a:r>
            <a:endParaRPr lang="en-US" sz="1050" dirty="0"/>
          </a:p>
        </p:txBody>
      </p:sp>
      <p:sp>
        <p:nvSpPr>
          <p:cNvPr id="45" name="Shape 43"/>
          <p:cNvSpPr/>
          <p:nvPr/>
        </p:nvSpPr>
        <p:spPr>
          <a:xfrm>
            <a:off x="685800" y="3136392"/>
            <a:ext cx="1005840" cy="475488"/>
          </a:xfrm>
          <a:prstGeom prst="rect">
            <a:avLst/>
          </a:prstGeom>
          <a:solidFill>
            <a:srgbClr val="FFFFFF"/>
          </a:solidFill>
          <a:ln w="6985">
            <a:solidFill>
              <a:srgbClr val="CBD5E1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722376" y="3154680"/>
            <a:ext cx="932688" cy="43891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050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780m</a:t>
            </a:r>
            <a:endParaRPr lang="en-US" sz="1050" dirty="0"/>
          </a:p>
        </p:txBody>
      </p:sp>
      <p:sp>
        <p:nvSpPr>
          <p:cNvPr id="47" name="Shape 45"/>
          <p:cNvSpPr/>
          <p:nvPr/>
        </p:nvSpPr>
        <p:spPr>
          <a:xfrm>
            <a:off x="1691640" y="3136392"/>
            <a:ext cx="1828800" cy="475488"/>
          </a:xfrm>
          <a:prstGeom prst="rect">
            <a:avLst/>
          </a:prstGeom>
          <a:solidFill>
            <a:srgbClr val="FFFFFF"/>
          </a:solidFill>
          <a:ln w="6985">
            <a:solidFill>
              <a:srgbClr val="CBD5E1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1728216" y="3154680"/>
            <a:ext cx="1755648" cy="43891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685,509ps</a:t>
            </a:r>
            <a:endParaRPr lang="en-US" sz="1050" dirty="0"/>
          </a:p>
        </p:txBody>
      </p:sp>
      <p:sp>
        <p:nvSpPr>
          <p:cNvPr id="49" name="Shape 47"/>
          <p:cNvSpPr/>
          <p:nvPr/>
        </p:nvSpPr>
        <p:spPr>
          <a:xfrm>
            <a:off x="3520440" y="3136392"/>
            <a:ext cx="1188720" cy="475488"/>
          </a:xfrm>
          <a:prstGeom prst="rect">
            <a:avLst/>
          </a:prstGeom>
          <a:solidFill>
            <a:srgbClr val="FFFFFF"/>
          </a:solidFill>
          <a:ln w="6985">
            <a:solidFill>
              <a:srgbClr val="CBD5E1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3557016" y="3154680"/>
            <a:ext cx="1115568" cy="43891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</a:t>
            </a:r>
            <a:endParaRPr lang="en-US" sz="1050" dirty="0"/>
          </a:p>
        </p:txBody>
      </p:sp>
      <p:sp>
        <p:nvSpPr>
          <p:cNvPr id="51" name="Shape 49"/>
          <p:cNvSpPr/>
          <p:nvPr/>
        </p:nvSpPr>
        <p:spPr>
          <a:xfrm>
            <a:off x="4709160" y="3136392"/>
            <a:ext cx="1645920" cy="475488"/>
          </a:xfrm>
          <a:prstGeom prst="rect">
            <a:avLst/>
          </a:prstGeom>
          <a:solidFill>
            <a:srgbClr val="FFFFFF"/>
          </a:solidFill>
          <a:ln w="6985">
            <a:solidFill>
              <a:srgbClr val="CBD5E1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4745736" y="3154680"/>
            <a:ext cx="1572768" cy="43891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-461,215ps</a:t>
            </a:r>
            <a:endParaRPr lang="en-US" sz="1050" dirty="0"/>
          </a:p>
        </p:txBody>
      </p:sp>
      <p:sp>
        <p:nvSpPr>
          <p:cNvPr id="53" name="Shape 51"/>
          <p:cNvSpPr/>
          <p:nvPr/>
        </p:nvSpPr>
        <p:spPr>
          <a:xfrm>
            <a:off x="6355080" y="3136392"/>
            <a:ext cx="4297680" cy="475488"/>
          </a:xfrm>
          <a:prstGeom prst="rect">
            <a:avLst/>
          </a:prstGeom>
          <a:solidFill>
            <a:srgbClr val="FFFFFF"/>
          </a:solidFill>
          <a:ln w="6985">
            <a:solidFill>
              <a:srgbClr val="CBD5E1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6391656" y="3154680"/>
            <a:ext cx="4224528" cy="43891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cfg3 이상 FAIL</a:t>
            </a:r>
            <a:endParaRPr lang="en-US" sz="1050" dirty="0"/>
          </a:p>
        </p:txBody>
      </p:sp>
      <p:sp>
        <p:nvSpPr>
          <p:cNvPr id="55" name="Shape 53"/>
          <p:cNvSpPr/>
          <p:nvPr/>
        </p:nvSpPr>
        <p:spPr>
          <a:xfrm>
            <a:off x="685800" y="3611880"/>
            <a:ext cx="1005840" cy="475488"/>
          </a:xfrm>
          <a:prstGeom prst="rect">
            <a:avLst/>
          </a:prstGeom>
          <a:solidFill>
            <a:srgbClr val="FFFFFF"/>
          </a:solidFill>
          <a:ln w="6985">
            <a:solidFill>
              <a:srgbClr val="CBD5E1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722376" y="3630168"/>
            <a:ext cx="932688" cy="43891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050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810m</a:t>
            </a:r>
            <a:endParaRPr lang="en-US" sz="1050" dirty="0"/>
          </a:p>
        </p:txBody>
      </p:sp>
      <p:sp>
        <p:nvSpPr>
          <p:cNvPr id="57" name="Shape 55"/>
          <p:cNvSpPr/>
          <p:nvPr/>
        </p:nvSpPr>
        <p:spPr>
          <a:xfrm>
            <a:off x="1691640" y="3611880"/>
            <a:ext cx="1828800" cy="475488"/>
          </a:xfrm>
          <a:prstGeom prst="rect">
            <a:avLst/>
          </a:prstGeom>
          <a:solidFill>
            <a:srgbClr val="FFFFFF"/>
          </a:solidFill>
          <a:ln w="6985">
            <a:solidFill>
              <a:srgbClr val="CBD5E1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1728216" y="3630168"/>
            <a:ext cx="1755648" cy="43891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485,379ps</a:t>
            </a:r>
            <a:endParaRPr lang="en-US" sz="1050" dirty="0"/>
          </a:p>
        </p:txBody>
      </p:sp>
      <p:sp>
        <p:nvSpPr>
          <p:cNvPr id="59" name="Shape 57"/>
          <p:cNvSpPr/>
          <p:nvPr/>
        </p:nvSpPr>
        <p:spPr>
          <a:xfrm>
            <a:off x="3520440" y="3611880"/>
            <a:ext cx="1188720" cy="475488"/>
          </a:xfrm>
          <a:prstGeom prst="rect">
            <a:avLst/>
          </a:prstGeom>
          <a:solidFill>
            <a:srgbClr val="FFFFFF"/>
          </a:solidFill>
          <a:ln w="6985">
            <a:solidFill>
              <a:srgbClr val="CBD5E1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3557016" y="3630168"/>
            <a:ext cx="1115568" cy="43891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</a:t>
            </a:r>
            <a:endParaRPr lang="en-US" sz="1050" dirty="0"/>
          </a:p>
        </p:txBody>
      </p:sp>
      <p:sp>
        <p:nvSpPr>
          <p:cNvPr id="61" name="Shape 59"/>
          <p:cNvSpPr/>
          <p:nvPr/>
        </p:nvSpPr>
        <p:spPr>
          <a:xfrm>
            <a:off x="4709160" y="3611880"/>
            <a:ext cx="1645920" cy="475488"/>
          </a:xfrm>
          <a:prstGeom prst="rect">
            <a:avLst/>
          </a:prstGeom>
          <a:solidFill>
            <a:srgbClr val="FFFFFF"/>
          </a:solidFill>
          <a:ln w="6985">
            <a:solidFill>
              <a:srgbClr val="CBD5E1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4745736" y="3630168"/>
            <a:ext cx="1572768" cy="43891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-661,345ps</a:t>
            </a:r>
            <a:endParaRPr lang="en-US" sz="1050" dirty="0"/>
          </a:p>
        </p:txBody>
      </p:sp>
      <p:sp>
        <p:nvSpPr>
          <p:cNvPr id="63" name="Shape 61"/>
          <p:cNvSpPr/>
          <p:nvPr/>
        </p:nvSpPr>
        <p:spPr>
          <a:xfrm>
            <a:off x="6355080" y="3611880"/>
            <a:ext cx="4297680" cy="475488"/>
          </a:xfrm>
          <a:prstGeom prst="rect">
            <a:avLst/>
          </a:prstGeom>
          <a:solidFill>
            <a:srgbClr val="FFFFFF"/>
          </a:solidFill>
          <a:ln w="6985">
            <a:solidFill>
              <a:srgbClr val="CBD5E1"/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6391656" y="3630168"/>
            <a:ext cx="4224528" cy="43891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cfg1도 FAIL</a:t>
            </a:r>
            <a:endParaRPr lang="en-US" sz="1050" dirty="0"/>
          </a:p>
        </p:txBody>
      </p:sp>
      <p:sp>
        <p:nvSpPr>
          <p:cNvPr id="65" name="Text 63"/>
          <p:cNvSpPr/>
          <p:nvPr/>
        </p:nvSpPr>
        <p:spPr>
          <a:xfrm>
            <a:off x="594360" y="6364224"/>
            <a:ext cx="10972800" cy="2286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근거: xsim_polygon_budget_matrix.log:176,178,186,194,202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AFB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28600"/>
            <a:ext cx="11155680" cy="4572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64bit / 128bit 경계</a:t>
            </a:r>
            <a:endParaRPr lang="en-US" sz="2100" dirty="0"/>
          </a:p>
        </p:txBody>
      </p:sp>
      <p:sp>
        <p:nvSpPr>
          <p:cNvPr id="3" name="Text 1"/>
          <p:cNvSpPr/>
          <p:nvPr/>
        </p:nvSpPr>
        <p:spPr>
          <a:xfrm>
            <a:off x="530352" y="667512"/>
            <a:ext cx="11064240" cy="29260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넓은 output width는 같은 payload를 더 적은 beat로 전송하므로 더 먼 거리까지 cfg7을 유지한다.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02920" y="987552"/>
            <a:ext cx="11155680" cy="0"/>
          </a:xfrm>
          <a:prstGeom prst="line">
            <a:avLst/>
          </a:prstGeom>
          <a:noFill/>
          <a:ln w="10160">
            <a:solidFill>
              <a:srgbClr val="CBD5E1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85800" y="1234440"/>
            <a:ext cx="822960" cy="475488"/>
          </a:xfrm>
          <a:prstGeom prst="rect">
            <a:avLst/>
          </a:prstGeom>
          <a:solidFill>
            <a:srgbClr val="E2E8F0"/>
          </a:solidFill>
          <a:ln w="6985">
            <a:solidFill>
              <a:srgbClr val="CBD5E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22376" y="1252728"/>
            <a:ext cx="749808" cy="43891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Width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1508760" y="1234440"/>
            <a:ext cx="960120" cy="475488"/>
          </a:xfrm>
          <a:prstGeom prst="rect">
            <a:avLst/>
          </a:prstGeom>
          <a:solidFill>
            <a:srgbClr val="E2E8F0"/>
          </a:solidFill>
          <a:ln w="6985">
            <a:solidFill>
              <a:srgbClr val="CBD5E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545336" y="1252728"/>
            <a:ext cx="886968" cy="43891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거리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2468880" y="1234440"/>
            <a:ext cx="1600200" cy="475488"/>
          </a:xfrm>
          <a:prstGeom prst="rect">
            <a:avLst/>
          </a:prstGeom>
          <a:solidFill>
            <a:srgbClr val="E2E8F0"/>
          </a:solidFill>
          <a:ln w="6985">
            <a:solidFill>
              <a:srgbClr val="CBD5E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505456" y="1252728"/>
            <a:ext cx="1527048" cy="43891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budget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069080" y="1234440"/>
            <a:ext cx="1097280" cy="475488"/>
          </a:xfrm>
          <a:prstGeom prst="rect">
            <a:avLst/>
          </a:prstGeom>
          <a:solidFill>
            <a:srgbClr val="E2E8F0"/>
          </a:solidFill>
          <a:ln w="6985">
            <a:solidFill>
              <a:srgbClr val="CBD5E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105656" y="1252728"/>
            <a:ext cx="1024128" cy="43891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권장 cfg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5166360" y="1234440"/>
            <a:ext cx="1737360" cy="475488"/>
          </a:xfrm>
          <a:prstGeom prst="rect">
            <a:avLst/>
          </a:prstGeom>
          <a:solidFill>
            <a:srgbClr val="E2E8F0"/>
          </a:solidFill>
          <a:ln w="6985">
            <a:solidFill>
              <a:srgbClr val="CBD5E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202936" y="1252728"/>
            <a:ext cx="1664208" cy="43891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margin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6903720" y="1234440"/>
            <a:ext cx="3566160" cy="475488"/>
          </a:xfrm>
          <a:prstGeom prst="rect">
            <a:avLst/>
          </a:prstGeom>
          <a:solidFill>
            <a:srgbClr val="E2E8F0"/>
          </a:solidFill>
          <a:ln w="6985">
            <a:solidFill>
              <a:srgbClr val="CBD5E1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940296" y="1252728"/>
            <a:ext cx="3493008" cy="43891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의미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685800" y="1709928"/>
            <a:ext cx="822960" cy="475488"/>
          </a:xfrm>
          <a:prstGeom prst="rect">
            <a:avLst/>
          </a:prstGeom>
          <a:solidFill>
            <a:srgbClr val="FFFFFF"/>
          </a:solidFill>
          <a:ln w="6985">
            <a:solidFill>
              <a:srgbClr val="CBD5E1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22376" y="1728216"/>
            <a:ext cx="749808" cy="43891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000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64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1508760" y="1709928"/>
            <a:ext cx="960120" cy="475488"/>
          </a:xfrm>
          <a:prstGeom prst="rect">
            <a:avLst/>
          </a:prstGeom>
          <a:solidFill>
            <a:srgbClr val="FFFFFF"/>
          </a:solidFill>
          <a:ln w="6985">
            <a:solidFill>
              <a:srgbClr val="CBD5E1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1545336" y="1728216"/>
            <a:ext cx="886968" cy="43891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000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780m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2468880" y="1709928"/>
            <a:ext cx="1600200" cy="475488"/>
          </a:xfrm>
          <a:prstGeom prst="rect">
            <a:avLst/>
          </a:prstGeom>
          <a:solidFill>
            <a:srgbClr val="FFFFFF"/>
          </a:solidFill>
          <a:ln w="6985">
            <a:solidFill>
              <a:srgbClr val="CBD5E1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2505456" y="1728216"/>
            <a:ext cx="1527048" cy="43891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000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685,509ps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4069080" y="1709928"/>
            <a:ext cx="1097280" cy="475488"/>
          </a:xfrm>
          <a:prstGeom prst="rect">
            <a:avLst/>
          </a:prstGeom>
          <a:solidFill>
            <a:srgbClr val="FFFFFF"/>
          </a:solidFill>
          <a:ln w="6985">
            <a:solidFill>
              <a:srgbClr val="CBD5E1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105656" y="1728216"/>
            <a:ext cx="1024128" cy="43891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000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7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5166360" y="1709928"/>
            <a:ext cx="1737360" cy="475488"/>
          </a:xfrm>
          <a:prstGeom prst="rect">
            <a:avLst/>
          </a:prstGeom>
          <a:solidFill>
            <a:srgbClr val="FFFFFF"/>
          </a:solidFill>
          <a:ln w="6985">
            <a:solidFill>
              <a:srgbClr val="CBD5E1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202936" y="1728216"/>
            <a:ext cx="1664208" cy="43891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000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+5,475ps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6903720" y="1709928"/>
            <a:ext cx="3566160" cy="475488"/>
          </a:xfrm>
          <a:prstGeom prst="rect">
            <a:avLst/>
          </a:prstGeom>
          <a:solidFill>
            <a:srgbClr val="FFFFFF"/>
          </a:solidFill>
          <a:ln w="6985">
            <a:solidFill>
              <a:srgbClr val="CBD5E1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940296" y="1728216"/>
            <a:ext cx="3493008" cy="43891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000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cfg7 마지막 PASS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685800" y="2185416"/>
            <a:ext cx="822960" cy="475488"/>
          </a:xfrm>
          <a:prstGeom prst="rect">
            <a:avLst/>
          </a:prstGeom>
          <a:solidFill>
            <a:srgbClr val="FFFFFF"/>
          </a:solidFill>
          <a:ln w="6985">
            <a:solidFill>
              <a:srgbClr val="CBD5E1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722376" y="2203704"/>
            <a:ext cx="749808" cy="43891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000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64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1508760" y="2185416"/>
            <a:ext cx="960120" cy="475488"/>
          </a:xfrm>
          <a:prstGeom prst="rect">
            <a:avLst/>
          </a:prstGeom>
          <a:solidFill>
            <a:srgbClr val="FFFFFF"/>
          </a:solidFill>
          <a:ln w="6985">
            <a:solidFill>
              <a:srgbClr val="CBD5E1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1545336" y="2203704"/>
            <a:ext cx="886968" cy="43891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000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790m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2468880" y="2185416"/>
            <a:ext cx="1600200" cy="475488"/>
          </a:xfrm>
          <a:prstGeom prst="rect">
            <a:avLst/>
          </a:prstGeom>
          <a:solidFill>
            <a:srgbClr val="FFFFFF"/>
          </a:solidFill>
          <a:ln w="6985">
            <a:solidFill>
              <a:srgbClr val="CBD5E1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2505456" y="2203704"/>
            <a:ext cx="1527048" cy="43891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000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618,799ps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4069080" y="2185416"/>
            <a:ext cx="1097280" cy="475488"/>
          </a:xfrm>
          <a:prstGeom prst="rect">
            <a:avLst/>
          </a:prstGeom>
          <a:solidFill>
            <a:srgbClr val="FFFFFF"/>
          </a:solidFill>
          <a:ln w="6985">
            <a:solidFill>
              <a:srgbClr val="CBD5E1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4105656" y="2203704"/>
            <a:ext cx="1024128" cy="43891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000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5166360" y="2185416"/>
            <a:ext cx="1737360" cy="475488"/>
          </a:xfrm>
          <a:prstGeom prst="rect">
            <a:avLst/>
          </a:prstGeom>
          <a:solidFill>
            <a:srgbClr val="FFFFFF"/>
          </a:solidFill>
          <a:ln w="6985">
            <a:solidFill>
              <a:srgbClr val="CBD5E1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5202936" y="2203704"/>
            <a:ext cx="1664208" cy="43891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000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-61,235ps</a:t>
            </a:r>
            <a:endParaRPr lang="en-US" sz="1000" dirty="0"/>
          </a:p>
        </p:txBody>
      </p:sp>
      <p:sp>
        <p:nvSpPr>
          <p:cNvPr id="39" name="Shape 37"/>
          <p:cNvSpPr/>
          <p:nvPr/>
        </p:nvSpPr>
        <p:spPr>
          <a:xfrm>
            <a:off x="6903720" y="2185416"/>
            <a:ext cx="3566160" cy="475488"/>
          </a:xfrm>
          <a:prstGeom prst="rect">
            <a:avLst/>
          </a:prstGeom>
          <a:solidFill>
            <a:srgbClr val="FFFFFF"/>
          </a:solidFill>
          <a:ln w="6985">
            <a:solidFill>
              <a:srgbClr val="CBD5E1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6940296" y="2203704"/>
            <a:ext cx="3493008" cy="43891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000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cfg5 이상 FAIL</a:t>
            </a:r>
            <a:endParaRPr lang="en-US" sz="1000" dirty="0"/>
          </a:p>
        </p:txBody>
      </p:sp>
      <p:sp>
        <p:nvSpPr>
          <p:cNvPr id="41" name="Shape 39"/>
          <p:cNvSpPr/>
          <p:nvPr/>
        </p:nvSpPr>
        <p:spPr>
          <a:xfrm>
            <a:off x="685800" y="2660904"/>
            <a:ext cx="822960" cy="475488"/>
          </a:xfrm>
          <a:prstGeom prst="rect">
            <a:avLst/>
          </a:prstGeom>
          <a:solidFill>
            <a:srgbClr val="FFFFFF"/>
          </a:solidFill>
          <a:ln w="6985">
            <a:solidFill>
              <a:srgbClr val="CBD5E1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722376" y="2679192"/>
            <a:ext cx="749808" cy="43891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000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64</a:t>
            </a:r>
            <a:endParaRPr lang="en-US" sz="1000" dirty="0"/>
          </a:p>
        </p:txBody>
      </p:sp>
      <p:sp>
        <p:nvSpPr>
          <p:cNvPr id="43" name="Shape 41"/>
          <p:cNvSpPr/>
          <p:nvPr/>
        </p:nvSpPr>
        <p:spPr>
          <a:xfrm>
            <a:off x="1508760" y="2660904"/>
            <a:ext cx="960120" cy="475488"/>
          </a:xfrm>
          <a:prstGeom prst="rect">
            <a:avLst/>
          </a:prstGeom>
          <a:solidFill>
            <a:srgbClr val="FFFFFF"/>
          </a:solidFill>
          <a:ln w="6985">
            <a:solidFill>
              <a:srgbClr val="CBD5E1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1545336" y="2679192"/>
            <a:ext cx="886968" cy="43891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000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820m</a:t>
            </a:r>
            <a:endParaRPr lang="en-US" sz="1000" dirty="0"/>
          </a:p>
        </p:txBody>
      </p:sp>
      <p:sp>
        <p:nvSpPr>
          <p:cNvPr id="45" name="Shape 43"/>
          <p:cNvSpPr/>
          <p:nvPr/>
        </p:nvSpPr>
        <p:spPr>
          <a:xfrm>
            <a:off x="2468880" y="2660904"/>
            <a:ext cx="1600200" cy="475488"/>
          </a:xfrm>
          <a:prstGeom prst="rect">
            <a:avLst/>
          </a:prstGeom>
          <a:solidFill>
            <a:srgbClr val="FFFFFF"/>
          </a:solidFill>
          <a:ln w="6985">
            <a:solidFill>
              <a:srgbClr val="CBD5E1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2505456" y="2679192"/>
            <a:ext cx="1527048" cy="43891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000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418,669ps</a:t>
            </a:r>
            <a:endParaRPr lang="en-US" sz="1000" dirty="0"/>
          </a:p>
        </p:txBody>
      </p:sp>
      <p:sp>
        <p:nvSpPr>
          <p:cNvPr id="47" name="Shape 45"/>
          <p:cNvSpPr/>
          <p:nvPr/>
        </p:nvSpPr>
        <p:spPr>
          <a:xfrm>
            <a:off x="4069080" y="2660904"/>
            <a:ext cx="1097280" cy="475488"/>
          </a:xfrm>
          <a:prstGeom prst="rect">
            <a:avLst/>
          </a:prstGeom>
          <a:solidFill>
            <a:srgbClr val="FFFFFF"/>
          </a:solidFill>
          <a:ln w="6985">
            <a:solidFill>
              <a:srgbClr val="CBD5E1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4105656" y="2679192"/>
            <a:ext cx="1024128" cy="43891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000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</a:t>
            </a:r>
            <a:endParaRPr lang="en-US" sz="1000" dirty="0"/>
          </a:p>
        </p:txBody>
      </p:sp>
      <p:sp>
        <p:nvSpPr>
          <p:cNvPr id="49" name="Shape 47"/>
          <p:cNvSpPr/>
          <p:nvPr/>
        </p:nvSpPr>
        <p:spPr>
          <a:xfrm>
            <a:off x="5166360" y="2660904"/>
            <a:ext cx="1737360" cy="475488"/>
          </a:xfrm>
          <a:prstGeom prst="rect">
            <a:avLst/>
          </a:prstGeom>
          <a:solidFill>
            <a:srgbClr val="FFFFFF"/>
          </a:solidFill>
          <a:ln w="6985">
            <a:solidFill>
              <a:srgbClr val="CBD5E1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5202936" y="2679192"/>
            <a:ext cx="1664208" cy="43891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000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-48,021ps(cfg1)</a:t>
            </a:r>
            <a:endParaRPr lang="en-US" sz="1000" dirty="0"/>
          </a:p>
        </p:txBody>
      </p:sp>
      <p:sp>
        <p:nvSpPr>
          <p:cNvPr id="51" name="Shape 49"/>
          <p:cNvSpPr/>
          <p:nvPr/>
        </p:nvSpPr>
        <p:spPr>
          <a:xfrm>
            <a:off x="6903720" y="2660904"/>
            <a:ext cx="3566160" cy="475488"/>
          </a:xfrm>
          <a:prstGeom prst="rect">
            <a:avLst/>
          </a:prstGeom>
          <a:solidFill>
            <a:srgbClr val="FFFFFF"/>
          </a:solidFill>
          <a:ln w="6985">
            <a:solidFill>
              <a:srgbClr val="CBD5E1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6940296" y="2679192"/>
            <a:ext cx="3493008" cy="43891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000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cfg1도 FAIL</a:t>
            </a:r>
            <a:endParaRPr lang="en-US" sz="1000" dirty="0"/>
          </a:p>
        </p:txBody>
      </p:sp>
      <p:sp>
        <p:nvSpPr>
          <p:cNvPr id="53" name="Shape 51"/>
          <p:cNvSpPr/>
          <p:nvPr/>
        </p:nvSpPr>
        <p:spPr>
          <a:xfrm>
            <a:off x="685800" y="3136392"/>
            <a:ext cx="822960" cy="475488"/>
          </a:xfrm>
          <a:prstGeom prst="rect">
            <a:avLst/>
          </a:prstGeom>
          <a:solidFill>
            <a:srgbClr val="FFFFFF"/>
          </a:solidFill>
          <a:ln w="6985">
            <a:solidFill>
              <a:srgbClr val="CBD5E1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722376" y="3154680"/>
            <a:ext cx="749808" cy="43891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000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128</a:t>
            </a:r>
            <a:endParaRPr lang="en-US" sz="1000" dirty="0"/>
          </a:p>
        </p:txBody>
      </p:sp>
      <p:sp>
        <p:nvSpPr>
          <p:cNvPr id="55" name="Shape 53"/>
          <p:cNvSpPr/>
          <p:nvPr/>
        </p:nvSpPr>
        <p:spPr>
          <a:xfrm>
            <a:off x="1508760" y="3136392"/>
            <a:ext cx="960120" cy="475488"/>
          </a:xfrm>
          <a:prstGeom prst="rect">
            <a:avLst/>
          </a:prstGeom>
          <a:solidFill>
            <a:srgbClr val="FFFFFF"/>
          </a:solidFill>
          <a:ln w="6985">
            <a:solidFill>
              <a:srgbClr val="CBD5E1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1545336" y="3154680"/>
            <a:ext cx="886968" cy="43891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000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810m</a:t>
            </a:r>
            <a:endParaRPr lang="en-US" sz="1000" dirty="0"/>
          </a:p>
        </p:txBody>
      </p:sp>
      <p:sp>
        <p:nvSpPr>
          <p:cNvPr id="57" name="Shape 55"/>
          <p:cNvSpPr/>
          <p:nvPr/>
        </p:nvSpPr>
        <p:spPr>
          <a:xfrm>
            <a:off x="2468880" y="3136392"/>
            <a:ext cx="1600200" cy="475488"/>
          </a:xfrm>
          <a:prstGeom prst="rect">
            <a:avLst/>
          </a:prstGeom>
          <a:solidFill>
            <a:srgbClr val="FFFFFF"/>
          </a:solidFill>
          <a:ln w="6985">
            <a:solidFill>
              <a:srgbClr val="CBD5E1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2505456" y="3154680"/>
            <a:ext cx="1527048" cy="43891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000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485,379ps</a:t>
            </a:r>
            <a:endParaRPr lang="en-US" sz="1000" dirty="0"/>
          </a:p>
        </p:txBody>
      </p:sp>
      <p:sp>
        <p:nvSpPr>
          <p:cNvPr id="59" name="Shape 57"/>
          <p:cNvSpPr/>
          <p:nvPr/>
        </p:nvSpPr>
        <p:spPr>
          <a:xfrm>
            <a:off x="4069080" y="3136392"/>
            <a:ext cx="1097280" cy="475488"/>
          </a:xfrm>
          <a:prstGeom prst="rect">
            <a:avLst/>
          </a:prstGeom>
          <a:solidFill>
            <a:srgbClr val="FFFFFF"/>
          </a:solidFill>
          <a:ln w="6985">
            <a:solidFill>
              <a:srgbClr val="CBD5E1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4105656" y="3154680"/>
            <a:ext cx="1024128" cy="43891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000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7</a:t>
            </a:r>
            <a:endParaRPr lang="en-US" sz="1000" dirty="0"/>
          </a:p>
        </p:txBody>
      </p:sp>
      <p:sp>
        <p:nvSpPr>
          <p:cNvPr id="61" name="Shape 59"/>
          <p:cNvSpPr/>
          <p:nvPr/>
        </p:nvSpPr>
        <p:spPr>
          <a:xfrm>
            <a:off x="5166360" y="3136392"/>
            <a:ext cx="1737360" cy="475488"/>
          </a:xfrm>
          <a:prstGeom prst="rect">
            <a:avLst/>
          </a:prstGeom>
          <a:solidFill>
            <a:srgbClr val="FFFFFF"/>
          </a:solidFill>
          <a:ln w="6985">
            <a:solidFill>
              <a:srgbClr val="CBD5E1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5202936" y="3154680"/>
            <a:ext cx="1664208" cy="43891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000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+38,690ps</a:t>
            </a:r>
            <a:endParaRPr lang="en-US" sz="1000" dirty="0"/>
          </a:p>
        </p:txBody>
      </p:sp>
      <p:sp>
        <p:nvSpPr>
          <p:cNvPr id="63" name="Shape 61"/>
          <p:cNvSpPr/>
          <p:nvPr/>
        </p:nvSpPr>
        <p:spPr>
          <a:xfrm>
            <a:off x="6903720" y="3136392"/>
            <a:ext cx="3566160" cy="475488"/>
          </a:xfrm>
          <a:prstGeom prst="rect">
            <a:avLst/>
          </a:prstGeom>
          <a:solidFill>
            <a:srgbClr val="FFFFFF"/>
          </a:solidFill>
          <a:ln w="6985">
            <a:solidFill>
              <a:srgbClr val="CBD5E1"/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6940296" y="3154680"/>
            <a:ext cx="3493008" cy="43891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000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cfg7 마지막 PASS</a:t>
            </a:r>
            <a:endParaRPr lang="en-US" sz="1000" dirty="0"/>
          </a:p>
        </p:txBody>
      </p:sp>
      <p:sp>
        <p:nvSpPr>
          <p:cNvPr id="65" name="Shape 63"/>
          <p:cNvSpPr/>
          <p:nvPr/>
        </p:nvSpPr>
        <p:spPr>
          <a:xfrm>
            <a:off x="685800" y="3611880"/>
            <a:ext cx="822960" cy="475488"/>
          </a:xfrm>
          <a:prstGeom prst="rect">
            <a:avLst/>
          </a:prstGeom>
          <a:solidFill>
            <a:srgbClr val="FFFFFF"/>
          </a:solidFill>
          <a:ln w="6985">
            <a:solidFill>
              <a:srgbClr val="CBD5E1"/>
            </a:solidFill>
            <a:prstDash val="solid"/>
          </a:ln>
        </p:spPr>
      </p:sp>
      <p:sp>
        <p:nvSpPr>
          <p:cNvPr id="66" name="Text 64"/>
          <p:cNvSpPr/>
          <p:nvPr/>
        </p:nvSpPr>
        <p:spPr>
          <a:xfrm>
            <a:off x="722376" y="3630168"/>
            <a:ext cx="749808" cy="43891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000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128</a:t>
            </a:r>
            <a:endParaRPr lang="en-US" sz="1000" dirty="0"/>
          </a:p>
        </p:txBody>
      </p:sp>
      <p:sp>
        <p:nvSpPr>
          <p:cNvPr id="67" name="Shape 65"/>
          <p:cNvSpPr/>
          <p:nvPr/>
        </p:nvSpPr>
        <p:spPr>
          <a:xfrm>
            <a:off x="1508760" y="3611880"/>
            <a:ext cx="960120" cy="475488"/>
          </a:xfrm>
          <a:prstGeom prst="rect">
            <a:avLst/>
          </a:prstGeom>
          <a:solidFill>
            <a:srgbClr val="FFFFFF"/>
          </a:solidFill>
          <a:ln w="6985">
            <a:solidFill>
              <a:srgbClr val="CBD5E1"/>
            </a:solidFill>
            <a:prstDash val="solid"/>
          </a:ln>
        </p:spPr>
      </p:sp>
      <p:sp>
        <p:nvSpPr>
          <p:cNvPr id="68" name="Text 66"/>
          <p:cNvSpPr/>
          <p:nvPr/>
        </p:nvSpPr>
        <p:spPr>
          <a:xfrm>
            <a:off x="1545336" y="3630168"/>
            <a:ext cx="886968" cy="43891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000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820m</a:t>
            </a:r>
            <a:endParaRPr lang="en-US" sz="1000" dirty="0"/>
          </a:p>
        </p:txBody>
      </p:sp>
      <p:sp>
        <p:nvSpPr>
          <p:cNvPr id="69" name="Shape 67"/>
          <p:cNvSpPr/>
          <p:nvPr/>
        </p:nvSpPr>
        <p:spPr>
          <a:xfrm>
            <a:off x="2468880" y="3611880"/>
            <a:ext cx="1600200" cy="475488"/>
          </a:xfrm>
          <a:prstGeom prst="rect">
            <a:avLst/>
          </a:prstGeom>
          <a:solidFill>
            <a:srgbClr val="FFFFFF"/>
          </a:solidFill>
          <a:ln w="6985">
            <a:solidFill>
              <a:srgbClr val="CBD5E1"/>
            </a:solidFill>
            <a:prstDash val="solid"/>
          </a:ln>
        </p:spPr>
      </p:sp>
      <p:sp>
        <p:nvSpPr>
          <p:cNvPr id="70" name="Text 68"/>
          <p:cNvSpPr/>
          <p:nvPr/>
        </p:nvSpPr>
        <p:spPr>
          <a:xfrm>
            <a:off x="2505456" y="3630168"/>
            <a:ext cx="1527048" cy="43891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000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418,669ps</a:t>
            </a:r>
            <a:endParaRPr lang="en-US" sz="1000" dirty="0"/>
          </a:p>
        </p:txBody>
      </p:sp>
      <p:sp>
        <p:nvSpPr>
          <p:cNvPr id="71" name="Shape 69"/>
          <p:cNvSpPr/>
          <p:nvPr/>
        </p:nvSpPr>
        <p:spPr>
          <a:xfrm>
            <a:off x="4069080" y="3611880"/>
            <a:ext cx="1097280" cy="475488"/>
          </a:xfrm>
          <a:prstGeom prst="rect">
            <a:avLst/>
          </a:prstGeom>
          <a:solidFill>
            <a:srgbClr val="FFFFFF"/>
          </a:solidFill>
          <a:ln w="6985">
            <a:solidFill>
              <a:srgbClr val="CBD5E1"/>
            </a:solidFill>
            <a:prstDash val="solid"/>
          </a:ln>
        </p:spPr>
      </p:sp>
      <p:sp>
        <p:nvSpPr>
          <p:cNvPr id="72" name="Text 70"/>
          <p:cNvSpPr/>
          <p:nvPr/>
        </p:nvSpPr>
        <p:spPr>
          <a:xfrm>
            <a:off x="4105656" y="3630168"/>
            <a:ext cx="1024128" cy="43891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000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</a:t>
            </a:r>
            <a:endParaRPr lang="en-US" sz="1000" dirty="0"/>
          </a:p>
        </p:txBody>
      </p:sp>
      <p:sp>
        <p:nvSpPr>
          <p:cNvPr id="73" name="Shape 71"/>
          <p:cNvSpPr/>
          <p:nvPr/>
        </p:nvSpPr>
        <p:spPr>
          <a:xfrm>
            <a:off x="5166360" y="3611880"/>
            <a:ext cx="1737360" cy="475488"/>
          </a:xfrm>
          <a:prstGeom prst="rect">
            <a:avLst/>
          </a:prstGeom>
          <a:solidFill>
            <a:srgbClr val="FFFFFF"/>
          </a:solidFill>
          <a:ln w="6985">
            <a:solidFill>
              <a:srgbClr val="CBD5E1"/>
            </a:solidFill>
            <a:prstDash val="solid"/>
          </a:ln>
        </p:spPr>
      </p:sp>
      <p:sp>
        <p:nvSpPr>
          <p:cNvPr id="74" name="Text 72"/>
          <p:cNvSpPr/>
          <p:nvPr/>
        </p:nvSpPr>
        <p:spPr>
          <a:xfrm>
            <a:off x="5202936" y="3630168"/>
            <a:ext cx="1664208" cy="43891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000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-28,020ps</a:t>
            </a:r>
            <a:endParaRPr lang="en-US" sz="1000" dirty="0"/>
          </a:p>
        </p:txBody>
      </p:sp>
      <p:sp>
        <p:nvSpPr>
          <p:cNvPr id="75" name="Shape 73"/>
          <p:cNvSpPr/>
          <p:nvPr/>
        </p:nvSpPr>
        <p:spPr>
          <a:xfrm>
            <a:off x="6903720" y="3611880"/>
            <a:ext cx="3566160" cy="475488"/>
          </a:xfrm>
          <a:prstGeom prst="rect">
            <a:avLst/>
          </a:prstGeom>
          <a:solidFill>
            <a:srgbClr val="FFFFFF"/>
          </a:solidFill>
          <a:ln w="6985">
            <a:solidFill>
              <a:srgbClr val="CBD5E1"/>
            </a:solidFill>
            <a:prstDash val="solid"/>
          </a:ln>
        </p:spPr>
      </p:sp>
      <p:sp>
        <p:nvSpPr>
          <p:cNvPr id="76" name="Text 74"/>
          <p:cNvSpPr/>
          <p:nvPr/>
        </p:nvSpPr>
        <p:spPr>
          <a:xfrm>
            <a:off x="6940296" y="3630168"/>
            <a:ext cx="3493008" cy="43891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000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cfg1도 FAIL</a:t>
            </a:r>
            <a:endParaRPr lang="en-US" sz="1000" dirty="0"/>
          </a:p>
        </p:txBody>
      </p:sp>
      <p:sp>
        <p:nvSpPr>
          <p:cNvPr id="77" name="Text 75"/>
          <p:cNvSpPr/>
          <p:nvPr/>
        </p:nvSpPr>
        <p:spPr>
          <a:xfrm>
            <a:off x="594360" y="6364224"/>
            <a:ext cx="10972800" cy="2286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근거: xsim_polygon_budget_matrix.log:366,368,376,546,548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AFB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28600"/>
            <a:ext cx="11155680" cy="4572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운용 결론</a:t>
            </a:r>
            <a:endParaRPr lang="en-US" sz="2100" dirty="0"/>
          </a:p>
        </p:txBody>
      </p:sp>
      <p:sp>
        <p:nvSpPr>
          <p:cNvPr id="3" name="Text 1"/>
          <p:cNvSpPr/>
          <p:nvPr/>
        </p:nvSpPr>
        <p:spPr>
          <a:xfrm>
            <a:off x="530352" y="667512"/>
            <a:ext cx="11064240" cy="29260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이번 모델에서는 10m~수백m까지 여유가 크다. 이유는 start_tdc 간격이 고정 13.888889us이기 때문이다.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02920" y="987552"/>
            <a:ext cx="11155680" cy="0"/>
          </a:xfrm>
          <a:prstGeom prst="line">
            <a:avLst/>
          </a:prstGeom>
          <a:noFill/>
          <a:ln w="10160">
            <a:solidFill>
              <a:srgbClr val="CBD5E1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22960" y="1280160"/>
            <a:ext cx="2011680" cy="457200"/>
          </a:xfrm>
          <a:prstGeom prst="roundRect">
            <a:avLst>
              <a:gd name="adj" fmla="val 12000"/>
            </a:avLst>
          </a:prstGeom>
          <a:solidFill>
            <a:srgbClr val="FEF2F2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86968" y="1325880"/>
            <a:ext cx="1883664" cy="36576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32bit 운용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3063240" y="1234440"/>
            <a:ext cx="7772400" cy="59436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710m 이하 cfg7, 720~740m cfg6, 750~770m cfg4, 780~800m cfg2, 810m 이상 FAIL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822960" y="2423160"/>
            <a:ext cx="2011680" cy="457200"/>
          </a:xfrm>
          <a:prstGeom prst="roundRect">
            <a:avLst>
              <a:gd name="adj" fmla="val 12000"/>
            </a:avLst>
          </a:prstGeom>
          <a:solidFill>
            <a:srgbClr val="FFF7ED"/>
          </a:solidFill>
          <a:ln w="12700">
            <a:solidFill>
              <a:srgbClr val="EA580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86968" y="2468880"/>
            <a:ext cx="1883664" cy="36576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64bit 운용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3063240" y="2377440"/>
            <a:ext cx="7772400" cy="59436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780m 이하 cfg7, 790~810m cfg4, 820m 이상 FAIL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822960" y="3566160"/>
            <a:ext cx="2011680" cy="457200"/>
          </a:xfrm>
          <a:prstGeom prst="roundRect">
            <a:avLst>
              <a:gd name="adj" fmla="val 12000"/>
            </a:avLst>
          </a:prstGeom>
          <a:solidFill>
            <a:srgbClr val="ECFDF5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86968" y="3611880"/>
            <a:ext cx="1883664" cy="36576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128bit 운용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3063240" y="3520440"/>
            <a:ext cx="7772400" cy="59436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810m 이하 cfg7, 820m 이상 FAIL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822960" y="4709160"/>
            <a:ext cx="1325880" cy="457200"/>
          </a:xfrm>
          <a:prstGeom prst="roundRect">
            <a:avLst>
              <a:gd name="adj" fmla="val 12000"/>
            </a:avLst>
          </a:prstGeom>
          <a:solidFill>
            <a:srgbClr val="EFF6FF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86968" y="4754880"/>
            <a:ext cx="1197864" cy="36576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주의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2423160" y="4617720"/>
            <a:ext cx="8595360" cy="7315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160" b="1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8us reserve는 사용자 운용 가정이다. 실제 closure는 VDMA backpressure, PS/Ethernet worst-case, C02/C03/C04 end-to-end latency로 재확인해야 한다.</a:t>
            </a:r>
            <a:endParaRPr lang="en-US" sz="1160" dirty="0"/>
          </a:p>
        </p:txBody>
      </p:sp>
      <p:sp>
        <p:nvSpPr>
          <p:cNvPr id="17" name="Text 15"/>
          <p:cNvSpPr/>
          <p:nvPr/>
        </p:nvSpPr>
        <p:spPr>
          <a:xfrm>
            <a:off x="594360" y="6364224"/>
            <a:ext cx="10972800" cy="2286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xsim 최종 PASS: xsim_polygon_budget_matrix.log:554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Malgun Gothic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Malgun Gothic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C04 Polygon Budget Sweep Result v001</dc:title>
  <dc:subject>C04 Polygon Budget Sweep Result v001</dc:subject>
  <dc:creator>Codex</dc:creator>
  <cp:lastModifiedBy>Codex</cp:lastModifiedBy>
  <cp:revision>1</cp:revision>
  <dcterms:created xsi:type="dcterms:W3CDTF">2026-04-30T19:28:11Z</dcterms:created>
  <dcterms:modified xsi:type="dcterms:W3CDTF">2026-04-30T19:28:11Z</dcterms:modified>
</cp:coreProperties>
</file>