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51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Pipe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124712"/>
            <a:ext cx="10789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decoded event를 per-chip/per-slope cell slice로 변환하는 구간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011680"/>
            <a:ext cx="202082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Hit[16:0]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96596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0128" y="2011680"/>
            <a:ext cx="252374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구조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 + cell_builder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2011680"/>
            <a:ext cx="202082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xsim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smoke PASS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196596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59368" y="2011680"/>
            <a:ext cx="202082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전 위험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finding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977640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023360"/>
            <a:ext cx="101589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C03 분석은 진행 가능하지만, 17-bit 보존과 handshake 안전화 없이는 C03 close로 보기 어렵다.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68680" y="5650992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작성/수정: 2026-05-01 02:22:23 KST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Doc/TDC-GPX-Datasheet.pdf, tdc_gpx_cell_pipe.vhd, tdc_gpx_cell_builder.vhd, xsim_c03_cell_pipe_base.log</a:t>
            </a:r>
            <a:endParaRPr lang="en-US" sz="8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Flow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event stream을 slope별 cell_builder로 나누고 C04 output_stage로 넘긴다.</a:t>
            </a:r>
            <a:endParaRPr lang="en-US" sz="93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28800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74520"/>
            <a:ext cx="138074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raw read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03120" y="2157984"/>
            <a:ext cx="502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18288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874520"/>
            <a:ext cx="14721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28-bit fields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2157984"/>
            <a:ext cx="502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18288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74520"/>
            <a:ext cx="14721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raw_event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shot/hit seq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157984"/>
            <a:ext cx="50292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12280" y="18288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1874520"/>
            <a:ext cx="14721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 demux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0" y="1993392"/>
            <a:ext cx="50292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2331720"/>
            <a:ext cx="502920" cy="36576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15400" y="1234440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1280160"/>
            <a:ext cx="124358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builder x4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2514600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2560320"/>
            <a:ext cx="124358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builder x4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87000" y="1865376"/>
            <a:ext cx="502920" cy="292608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287000" y="2798064"/>
            <a:ext cx="50292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789920" y="1828800"/>
            <a:ext cx="960120" cy="658368"/>
          </a:xfrm>
          <a:prstGeom prst="roundRect">
            <a:avLst>
              <a:gd name="adj" fmla="val 6944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53928" y="1874520"/>
            <a:ext cx="83210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face/header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297680"/>
            <a:ext cx="10287000" cy="50292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4343400"/>
            <a:ext cx="101589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tuser 핵심: slope, chip_id, stop_id, ififo_id, drain_done, hit_seq, shot_seq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tdc_gpx_raw_event_builder.vhd:63-73, tdc_gpx_cell_pipe.vhd:149-237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경로에서 ififo1_done 이후 cell output이 시작되고 IFIFO2 경계에서 wait 가능하다.</a:t>
            </a:r>
            <a:endParaRPr lang="en-US" sz="93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55448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08760"/>
            <a:ext cx="14264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BUF_COLLECT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0" y="1764792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46304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7208" y="1508760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store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 clk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69080" y="1764792"/>
            <a:ext cx="45720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26280" y="146304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08760"/>
            <a:ext cx="151790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ififo1_done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BUF_SHARED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764792"/>
            <a:ext cx="45720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29400" y="146304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508760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ST_O_LOAD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clk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764792"/>
            <a:ext cx="45720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146304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1508760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beat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38360" y="1764792"/>
            <a:ext cx="45720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95560" y="1463040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59568" y="1508760"/>
            <a:ext cx="110642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faulted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1005840" y="3063240"/>
            <a:ext cx="3840480" cy="356616"/>
          </a:xfrm>
          <a:prstGeom prst="roundRect">
            <a:avLst>
              <a:gd name="adj" fmla="val 1282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3108960"/>
            <a:ext cx="371246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882896" y="3063240"/>
            <a:ext cx="4572000" cy="356616"/>
          </a:xfrm>
          <a:prstGeom prst="roundRect">
            <a:avLst>
              <a:gd name="adj" fmla="val 1282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3108960"/>
            <a:ext cx="444398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지연 / II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1005840" y="3447288"/>
            <a:ext cx="384048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3493008"/>
            <a:ext cx="371246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hit -&gt; buffer store</a:t>
            </a:r>
            <a:endParaRPr lang="en-US" sz="985" dirty="0"/>
          </a:p>
        </p:txBody>
      </p:sp>
      <p:sp>
        <p:nvSpPr>
          <p:cNvPr id="28" name="Shape 26"/>
          <p:cNvSpPr/>
          <p:nvPr/>
        </p:nvSpPr>
        <p:spPr>
          <a:xfrm>
            <a:off x="4882896" y="3447288"/>
            <a:ext cx="457200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6904" y="3493008"/>
            <a:ext cx="444398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clk</a:t>
            </a:r>
            <a:endParaRPr lang="en-US" sz="985" dirty="0"/>
          </a:p>
        </p:txBody>
      </p:sp>
      <p:sp>
        <p:nvSpPr>
          <p:cNvPr id="30" name="Shape 28"/>
          <p:cNvSpPr/>
          <p:nvPr/>
        </p:nvSpPr>
        <p:spPr>
          <a:xfrm>
            <a:off x="1005840" y="3831336"/>
            <a:ext cx="384048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3877056"/>
            <a:ext cx="371246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ififo1_done -&gt; first valid</a:t>
            </a:r>
            <a:endParaRPr lang="en-US" sz="985" dirty="0"/>
          </a:p>
        </p:txBody>
      </p:sp>
      <p:sp>
        <p:nvSpPr>
          <p:cNvPr id="32" name="Shape 30"/>
          <p:cNvSpPr/>
          <p:nvPr/>
        </p:nvSpPr>
        <p:spPr>
          <a:xfrm>
            <a:off x="4882896" y="3831336"/>
            <a:ext cx="457200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3877056"/>
            <a:ext cx="444398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 clk</a:t>
            </a:r>
            <a:endParaRPr lang="en-US" sz="985" dirty="0"/>
          </a:p>
        </p:txBody>
      </p:sp>
      <p:sp>
        <p:nvSpPr>
          <p:cNvPr id="34" name="Shape 32"/>
          <p:cNvSpPr/>
          <p:nvPr/>
        </p:nvSpPr>
        <p:spPr>
          <a:xfrm>
            <a:off x="1005840" y="4215384"/>
            <a:ext cx="384048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9848" y="4261104"/>
            <a:ext cx="371246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same-cell beat</a:t>
            </a:r>
            <a:endParaRPr lang="en-US" sz="985" dirty="0"/>
          </a:p>
        </p:txBody>
      </p:sp>
      <p:sp>
        <p:nvSpPr>
          <p:cNvPr id="36" name="Shape 34"/>
          <p:cNvSpPr/>
          <p:nvPr/>
        </p:nvSpPr>
        <p:spPr>
          <a:xfrm>
            <a:off x="4882896" y="4215384"/>
            <a:ext cx="457200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6904" y="4261104"/>
            <a:ext cx="444398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II=1</a:t>
            </a:r>
            <a:endParaRPr lang="en-US" sz="985" dirty="0"/>
          </a:p>
        </p:txBody>
      </p:sp>
      <p:sp>
        <p:nvSpPr>
          <p:cNvPr id="38" name="Shape 36"/>
          <p:cNvSpPr/>
          <p:nvPr/>
        </p:nvSpPr>
        <p:spPr>
          <a:xfrm>
            <a:off x="1005840" y="4599432"/>
            <a:ext cx="384048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9848" y="4645152"/>
            <a:ext cx="371246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boundary</a:t>
            </a:r>
            <a:endParaRPr lang="en-US" sz="985" dirty="0"/>
          </a:p>
        </p:txBody>
      </p:sp>
      <p:sp>
        <p:nvSpPr>
          <p:cNvPr id="40" name="Shape 38"/>
          <p:cNvSpPr/>
          <p:nvPr/>
        </p:nvSpPr>
        <p:spPr>
          <a:xfrm>
            <a:off x="4882896" y="4599432"/>
            <a:ext cx="457200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4645152"/>
            <a:ext cx="444398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invalid cycle</a:t>
            </a:r>
            <a:endParaRPr lang="en-US" sz="985" dirty="0"/>
          </a:p>
        </p:txBody>
      </p:sp>
      <p:sp>
        <p:nvSpPr>
          <p:cNvPr id="42" name="Shape 40"/>
          <p:cNvSpPr/>
          <p:nvPr/>
        </p:nvSpPr>
        <p:spPr>
          <a:xfrm>
            <a:off x="1005840" y="4983480"/>
            <a:ext cx="384048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9848" y="5029200"/>
            <a:ext cx="371246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stop3 -&gt; stop4</a:t>
            </a:r>
            <a:endParaRPr lang="en-US" sz="985" dirty="0"/>
          </a:p>
        </p:txBody>
      </p:sp>
      <p:sp>
        <p:nvSpPr>
          <p:cNvPr id="44" name="Shape 42"/>
          <p:cNvSpPr/>
          <p:nvPr/>
        </p:nvSpPr>
        <p:spPr>
          <a:xfrm>
            <a:off x="4882896" y="4983480"/>
            <a:ext cx="457200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904" y="5029200"/>
            <a:ext cx="444398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IFIFO2 wait 가능</a:t>
            </a:r>
            <a:endParaRPr lang="en-US" sz="985" dirty="0"/>
          </a:p>
        </p:txBody>
      </p:sp>
      <p:sp>
        <p:nvSpPr>
          <p:cNvPr id="46" name="Text 44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tdc_gpx_cell_builder.vhd:654-698, 915-1052</a:t>
            </a:r>
            <a:endParaRPr lang="en-US" sz="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slot + metadata 1 beat 기준의 C03 cell slice 비용</a:t>
            </a:r>
            <a:endParaRPr lang="en-US" sz="93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68296" y="1234440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1280160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Bcell 32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0792" y="1234440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80160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Bcell 64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33288" y="1234440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97296" y="1280160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Bcell 128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1655064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700784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15" dirty="0"/>
          </a:p>
        </p:txBody>
      </p:sp>
      <p:sp>
        <p:nvSpPr>
          <p:cNvPr id="15" name="Shape 13"/>
          <p:cNvSpPr/>
          <p:nvPr/>
        </p:nvSpPr>
        <p:spPr>
          <a:xfrm>
            <a:off x="2368296" y="1655064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1700784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15" dirty="0"/>
          </a:p>
        </p:txBody>
      </p:sp>
      <p:sp>
        <p:nvSpPr>
          <p:cNvPr id="17" name="Shape 15"/>
          <p:cNvSpPr/>
          <p:nvPr/>
        </p:nvSpPr>
        <p:spPr>
          <a:xfrm>
            <a:off x="4050792" y="1655064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700784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15" dirty="0"/>
          </a:p>
        </p:txBody>
      </p:sp>
      <p:sp>
        <p:nvSpPr>
          <p:cNvPr id="19" name="Shape 17"/>
          <p:cNvSpPr/>
          <p:nvPr/>
        </p:nvSpPr>
        <p:spPr>
          <a:xfrm>
            <a:off x="5733288" y="1655064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7296" y="1700784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15" dirty="0"/>
          </a:p>
        </p:txBody>
      </p:sp>
      <p:sp>
        <p:nvSpPr>
          <p:cNvPr id="21" name="Shape 19"/>
          <p:cNvSpPr/>
          <p:nvPr/>
        </p:nvSpPr>
        <p:spPr>
          <a:xfrm>
            <a:off x="685800" y="2075688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121408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15" dirty="0"/>
          </a:p>
        </p:txBody>
      </p:sp>
      <p:sp>
        <p:nvSpPr>
          <p:cNvPr id="23" name="Shape 21"/>
          <p:cNvSpPr/>
          <p:nvPr/>
        </p:nvSpPr>
        <p:spPr>
          <a:xfrm>
            <a:off x="2368296" y="2075688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32304" y="2121408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15" dirty="0"/>
          </a:p>
        </p:txBody>
      </p:sp>
      <p:sp>
        <p:nvSpPr>
          <p:cNvPr id="25" name="Shape 23"/>
          <p:cNvSpPr/>
          <p:nvPr/>
        </p:nvSpPr>
        <p:spPr>
          <a:xfrm>
            <a:off x="4050792" y="2075688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121408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15" dirty="0"/>
          </a:p>
        </p:txBody>
      </p:sp>
      <p:sp>
        <p:nvSpPr>
          <p:cNvPr id="27" name="Shape 25"/>
          <p:cNvSpPr/>
          <p:nvPr/>
        </p:nvSpPr>
        <p:spPr>
          <a:xfrm>
            <a:off x="5733288" y="2075688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97296" y="2121408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15" dirty="0"/>
          </a:p>
        </p:txBody>
      </p:sp>
      <p:sp>
        <p:nvSpPr>
          <p:cNvPr id="29" name="Shape 27"/>
          <p:cNvSpPr/>
          <p:nvPr/>
        </p:nvSpPr>
        <p:spPr>
          <a:xfrm>
            <a:off x="685800" y="2496312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2542032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15" dirty="0"/>
          </a:p>
        </p:txBody>
      </p:sp>
      <p:sp>
        <p:nvSpPr>
          <p:cNvPr id="31" name="Shape 29"/>
          <p:cNvSpPr/>
          <p:nvPr/>
        </p:nvSpPr>
        <p:spPr>
          <a:xfrm>
            <a:off x="2368296" y="2496312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2304" y="2542032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15" dirty="0"/>
          </a:p>
        </p:txBody>
      </p:sp>
      <p:sp>
        <p:nvSpPr>
          <p:cNvPr id="33" name="Shape 31"/>
          <p:cNvSpPr/>
          <p:nvPr/>
        </p:nvSpPr>
        <p:spPr>
          <a:xfrm>
            <a:off x="4050792" y="2496312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2542032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15" dirty="0"/>
          </a:p>
        </p:txBody>
      </p:sp>
      <p:sp>
        <p:nvSpPr>
          <p:cNvPr id="35" name="Shape 33"/>
          <p:cNvSpPr/>
          <p:nvPr/>
        </p:nvSpPr>
        <p:spPr>
          <a:xfrm>
            <a:off x="5733288" y="2496312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97296" y="2542032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15" dirty="0"/>
          </a:p>
        </p:txBody>
      </p:sp>
      <p:sp>
        <p:nvSpPr>
          <p:cNvPr id="37" name="Shape 35"/>
          <p:cNvSpPr/>
          <p:nvPr/>
        </p:nvSpPr>
        <p:spPr>
          <a:xfrm>
            <a:off x="685800" y="2916936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2962656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15" dirty="0"/>
          </a:p>
        </p:txBody>
      </p:sp>
      <p:sp>
        <p:nvSpPr>
          <p:cNvPr id="39" name="Shape 37"/>
          <p:cNvSpPr/>
          <p:nvPr/>
        </p:nvSpPr>
        <p:spPr>
          <a:xfrm>
            <a:off x="2368296" y="2916936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32304" y="2962656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15" dirty="0"/>
          </a:p>
        </p:txBody>
      </p:sp>
      <p:sp>
        <p:nvSpPr>
          <p:cNvPr id="41" name="Shape 39"/>
          <p:cNvSpPr/>
          <p:nvPr/>
        </p:nvSpPr>
        <p:spPr>
          <a:xfrm>
            <a:off x="4050792" y="2916936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2962656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15" dirty="0"/>
          </a:p>
        </p:txBody>
      </p:sp>
      <p:sp>
        <p:nvSpPr>
          <p:cNvPr id="43" name="Shape 41"/>
          <p:cNvSpPr/>
          <p:nvPr/>
        </p:nvSpPr>
        <p:spPr>
          <a:xfrm>
            <a:off x="5733288" y="2916936"/>
            <a:ext cx="16459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97296" y="2962656"/>
            <a:ext cx="15179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15" dirty="0"/>
          </a:p>
        </p:txBody>
      </p:sp>
      <p:sp>
        <p:nvSpPr>
          <p:cNvPr id="45" name="Shape 43"/>
          <p:cNvSpPr/>
          <p:nvPr/>
        </p:nvSpPr>
        <p:spPr>
          <a:xfrm>
            <a:off x="5486400" y="1234440"/>
            <a:ext cx="1828800" cy="393192"/>
          </a:xfrm>
          <a:prstGeom prst="roundRect">
            <a:avLst>
              <a:gd name="adj" fmla="val 1162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0408" y="1280160"/>
            <a:ext cx="17007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51776" y="1234440"/>
            <a:ext cx="1417320" cy="393192"/>
          </a:xfrm>
          <a:prstGeom prst="roundRect">
            <a:avLst>
              <a:gd name="adj" fmla="val 1162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15784" y="1280160"/>
            <a:ext cx="12893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 beats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805672" y="1234440"/>
            <a:ext cx="1143000" cy="393192"/>
          </a:xfrm>
          <a:prstGeom prst="roundRect">
            <a:avLst>
              <a:gd name="adj" fmla="val 1162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1280160"/>
            <a:ext cx="10149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985248" y="1234440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49256" y="1280160"/>
            <a:ext cx="142646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@200MHz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0" y="1655064"/>
            <a:ext cx="18288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50408" y="1700784"/>
            <a:ext cx="17007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max3 32b</a:t>
            </a:r>
            <a:endParaRPr lang="en-US" sz="965" dirty="0"/>
          </a:p>
        </p:txBody>
      </p:sp>
      <p:sp>
        <p:nvSpPr>
          <p:cNvPr id="55" name="Shape 53"/>
          <p:cNvSpPr/>
          <p:nvPr/>
        </p:nvSpPr>
        <p:spPr>
          <a:xfrm>
            <a:off x="7351776" y="1655064"/>
            <a:ext cx="14173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15784" y="1700784"/>
            <a:ext cx="12893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65" dirty="0"/>
          </a:p>
        </p:txBody>
      </p:sp>
      <p:sp>
        <p:nvSpPr>
          <p:cNvPr id="57" name="Shape 55"/>
          <p:cNvSpPr/>
          <p:nvPr/>
        </p:nvSpPr>
        <p:spPr>
          <a:xfrm>
            <a:off x="8805672" y="1655064"/>
            <a:ext cx="11430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0" y="1700784"/>
            <a:ext cx="10149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65" dirty="0"/>
          </a:p>
        </p:txBody>
      </p:sp>
      <p:sp>
        <p:nvSpPr>
          <p:cNvPr id="59" name="Shape 57"/>
          <p:cNvSpPr/>
          <p:nvPr/>
        </p:nvSpPr>
        <p:spPr>
          <a:xfrm>
            <a:off x="9985248" y="1655064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9256" y="1700784"/>
            <a:ext cx="142646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 ns</a:t>
            </a:r>
            <a:endParaRPr lang="en-US" sz="965" dirty="0"/>
          </a:p>
        </p:txBody>
      </p:sp>
      <p:sp>
        <p:nvSpPr>
          <p:cNvPr id="61" name="Shape 59"/>
          <p:cNvSpPr/>
          <p:nvPr/>
        </p:nvSpPr>
        <p:spPr>
          <a:xfrm>
            <a:off x="5486400" y="2075688"/>
            <a:ext cx="18288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50408" y="2121408"/>
            <a:ext cx="17007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max3 64/128b</a:t>
            </a:r>
            <a:endParaRPr lang="en-US" sz="965" dirty="0"/>
          </a:p>
        </p:txBody>
      </p:sp>
      <p:sp>
        <p:nvSpPr>
          <p:cNvPr id="63" name="Shape 61"/>
          <p:cNvSpPr/>
          <p:nvPr/>
        </p:nvSpPr>
        <p:spPr>
          <a:xfrm>
            <a:off x="7351776" y="2075688"/>
            <a:ext cx="14173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15784" y="2121408"/>
            <a:ext cx="12893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65" dirty="0"/>
          </a:p>
        </p:txBody>
      </p:sp>
      <p:sp>
        <p:nvSpPr>
          <p:cNvPr id="65" name="Shape 63"/>
          <p:cNvSpPr/>
          <p:nvPr/>
        </p:nvSpPr>
        <p:spPr>
          <a:xfrm>
            <a:off x="8805672" y="2075688"/>
            <a:ext cx="11430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69680" y="2121408"/>
            <a:ext cx="10149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65" dirty="0"/>
          </a:p>
        </p:txBody>
      </p:sp>
      <p:sp>
        <p:nvSpPr>
          <p:cNvPr id="67" name="Shape 65"/>
          <p:cNvSpPr/>
          <p:nvPr/>
        </p:nvSpPr>
        <p:spPr>
          <a:xfrm>
            <a:off x="9985248" y="2075688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49256" y="2121408"/>
            <a:ext cx="142646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 ns</a:t>
            </a:r>
            <a:endParaRPr lang="en-US" sz="965" dirty="0"/>
          </a:p>
        </p:txBody>
      </p:sp>
      <p:sp>
        <p:nvSpPr>
          <p:cNvPr id="69" name="Shape 67"/>
          <p:cNvSpPr/>
          <p:nvPr/>
        </p:nvSpPr>
        <p:spPr>
          <a:xfrm>
            <a:off x="5486400" y="2496312"/>
            <a:ext cx="18288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50408" y="2542032"/>
            <a:ext cx="17007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max7 32b</a:t>
            </a:r>
            <a:endParaRPr lang="en-US" sz="965" dirty="0"/>
          </a:p>
        </p:txBody>
      </p:sp>
      <p:sp>
        <p:nvSpPr>
          <p:cNvPr id="71" name="Shape 69"/>
          <p:cNvSpPr/>
          <p:nvPr/>
        </p:nvSpPr>
        <p:spPr>
          <a:xfrm>
            <a:off x="7351776" y="2496312"/>
            <a:ext cx="14173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15784" y="2542032"/>
            <a:ext cx="12893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65" dirty="0"/>
          </a:p>
        </p:txBody>
      </p:sp>
      <p:sp>
        <p:nvSpPr>
          <p:cNvPr id="73" name="Shape 71"/>
          <p:cNvSpPr/>
          <p:nvPr/>
        </p:nvSpPr>
        <p:spPr>
          <a:xfrm>
            <a:off x="8805672" y="2496312"/>
            <a:ext cx="11430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69680" y="2542032"/>
            <a:ext cx="10149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65" dirty="0"/>
          </a:p>
        </p:txBody>
      </p:sp>
      <p:sp>
        <p:nvSpPr>
          <p:cNvPr id="75" name="Shape 73"/>
          <p:cNvSpPr/>
          <p:nvPr/>
        </p:nvSpPr>
        <p:spPr>
          <a:xfrm>
            <a:off x="9985248" y="2496312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49256" y="2542032"/>
            <a:ext cx="142646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235 ns</a:t>
            </a:r>
            <a:endParaRPr lang="en-US" sz="965" dirty="0"/>
          </a:p>
        </p:txBody>
      </p:sp>
      <p:sp>
        <p:nvSpPr>
          <p:cNvPr id="77" name="Shape 75"/>
          <p:cNvSpPr/>
          <p:nvPr/>
        </p:nvSpPr>
        <p:spPr>
          <a:xfrm>
            <a:off x="5486400" y="2916936"/>
            <a:ext cx="18288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50408" y="2962656"/>
            <a:ext cx="17007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max7 64b</a:t>
            </a:r>
            <a:endParaRPr lang="en-US" sz="965" dirty="0"/>
          </a:p>
        </p:txBody>
      </p:sp>
      <p:sp>
        <p:nvSpPr>
          <p:cNvPr id="79" name="Shape 77"/>
          <p:cNvSpPr/>
          <p:nvPr/>
        </p:nvSpPr>
        <p:spPr>
          <a:xfrm>
            <a:off x="7351776" y="2916936"/>
            <a:ext cx="14173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15784" y="2962656"/>
            <a:ext cx="12893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65" dirty="0"/>
          </a:p>
        </p:txBody>
      </p:sp>
      <p:sp>
        <p:nvSpPr>
          <p:cNvPr id="81" name="Shape 79"/>
          <p:cNvSpPr/>
          <p:nvPr/>
        </p:nvSpPr>
        <p:spPr>
          <a:xfrm>
            <a:off x="8805672" y="2916936"/>
            <a:ext cx="11430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69680" y="2962656"/>
            <a:ext cx="10149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65" dirty="0"/>
          </a:p>
        </p:txBody>
      </p:sp>
      <p:sp>
        <p:nvSpPr>
          <p:cNvPr id="83" name="Shape 81"/>
          <p:cNvSpPr/>
          <p:nvPr/>
        </p:nvSpPr>
        <p:spPr>
          <a:xfrm>
            <a:off x="9985248" y="2916936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49256" y="2962656"/>
            <a:ext cx="142646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 ns</a:t>
            </a:r>
            <a:endParaRPr lang="en-US" sz="965" dirty="0"/>
          </a:p>
        </p:txBody>
      </p:sp>
      <p:sp>
        <p:nvSpPr>
          <p:cNvPr id="85" name="Shape 83"/>
          <p:cNvSpPr/>
          <p:nvPr/>
        </p:nvSpPr>
        <p:spPr>
          <a:xfrm>
            <a:off x="5486400" y="3337560"/>
            <a:ext cx="18288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50408" y="3383280"/>
            <a:ext cx="17007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max7 128b</a:t>
            </a:r>
            <a:endParaRPr lang="en-US" sz="965" dirty="0"/>
          </a:p>
        </p:txBody>
      </p:sp>
      <p:sp>
        <p:nvSpPr>
          <p:cNvPr id="87" name="Shape 85"/>
          <p:cNvSpPr/>
          <p:nvPr/>
        </p:nvSpPr>
        <p:spPr>
          <a:xfrm>
            <a:off x="7351776" y="3337560"/>
            <a:ext cx="141732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415784" y="3383280"/>
            <a:ext cx="12893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65" dirty="0"/>
          </a:p>
        </p:txBody>
      </p:sp>
      <p:sp>
        <p:nvSpPr>
          <p:cNvPr id="89" name="Shape 87"/>
          <p:cNvSpPr/>
          <p:nvPr/>
        </p:nvSpPr>
        <p:spPr>
          <a:xfrm>
            <a:off x="8805672" y="3337560"/>
            <a:ext cx="114300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69680" y="3383280"/>
            <a:ext cx="101498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65" dirty="0"/>
          </a:p>
        </p:txBody>
      </p:sp>
      <p:sp>
        <p:nvSpPr>
          <p:cNvPr id="91" name="Shape 89"/>
          <p:cNvSpPr/>
          <p:nvPr/>
        </p:nvSpPr>
        <p:spPr>
          <a:xfrm>
            <a:off x="9985248" y="3337560"/>
            <a:ext cx="155448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049256" y="3383280"/>
            <a:ext cx="142646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 ns</a:t>
            </a:r>
            <a:endParaRPr lang="en-US" sz="965" dirty="0"/>
          </a:p>
        </p:txBody>
      </p:sp>
      <p:sp>
        <p:nvSpPr>
          <p:cNvPr id="93" name="Shape 91"/>
          <p:cNvSpPr/>
          <p:nvPr/>
        </p:nvSpPr>
        <p:spPr>
          <a:xfrm>
            <a:off x="822960" y="5349240"/>
            <a:ext cx="10561320" cy="530352"/>
          </a:xfrm>
          <a:prstGeom prst="roundRect">
            <a:avLst>
              <a:gd name="adj" fmla="val 862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86968" y="5394960"/>
            <a:ext cx="104333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C03 cell stream에는 stop cell 사이 1-cycle bubble이 있다. C04 final AXIS beat 수와 C03 valid cycle 수는 같은 값이 아니다.</a:t>
            </a:r>
            <a:endParaRPr lang="en-US" sz="1230" dirty="0"/>
          </a:p>
        </p:txBody>
      </p:sp>
      <p:sp>
        <p:nvSpPr>
          <p:cNvPr id="95" name="Text 93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tdc_gpx_pkg.vhd:805-820, tdc_gpx_cell_builder.vhd:948-1011</a:t>
            </a:r>
            <a:endParaRPr lang="en-US" sz="8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close 전 code-fix plan으로 넘겨야 할 항목</a:t>
            </a:r>
            <a:endParaRPr lang="en-US" sz="93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463040" cy="475488"/>
          </a:xfrm>
          <a:prstGeom prst="roundRect">
            <a:avLst>
              <a:gd name="adj" fmla="val 961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13350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85416" y="123444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9424" y="1280160"/>
            <a:ext cx="10607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234440"/>
            <a:ext cx="7406640" cy="475488"/>
          </a:xfrm>
          <a:prstGeom prst="roundRect">
            <a:avLst>
              <a:gd name="adj" fmla="val 961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80160"/>
            <a:ext cx="72786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1463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83080"/>
            <a:ext cx="13350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F-C03-01</a:t>
            </a:r>
            <a:endParaRPr lang="en-US" sz="1015" dirty="0"/>
          </a:p>
        </p:txBody>
      </p:sp>
      <p:sp>
        <p:nvSpPr>
          <p:cNvPr id="13" name="Shape 11"/>
          <p:cNvSpPr/>
          <p:nvPr/>
        </p:nvSpPr>
        <p:spPr>
          <a:xfrm>
            <a:off x="2185416" y="173736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424" y="1783080"/>
            <a:ext cx="10607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015" dirty="0"/>
          </a:p>
        </p:txBody>
      </p:sp>
      <p:sp>
        <p:nvSpPr>
          <p:cNvPr id="15" name="Shape 13"/>
          <p:cNvSpPr/>
          <p:nvPr/>
        </p:nvSpPr>
        <p:spPr>
          <a:xfrm>
            <a:off x="3410712" y="1737360"/>
            <a:ext cx="74066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783080"/>
            <a:ext cx="72786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raw hit 중 bit16이 cell slot에서 손실 가능</a:t>
            </a:r>
            <a:endParaRPr lang="en-US" sz="1015" dirty="0"/>
          </a:p>
        </p:txBody>
      </p:sp>
      <p:sp>
        <p:nvSpPr>
          <p:cNvPr id="17" name="Shape 15"/>
          <p:cNvSpPr/>
          <p:nvPr/>
        </p:nvSpPr>
        <p:spPr>
          <a:xfrm>
            <a:off x="685800" y="2240280"/>
            <a:ext cx="1463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286000"/>
            <a:ext cx="13350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F-C03-02</a:t>
            </a:r>
            <a:endParaRPr lang="en-US" sz="1015" dirty="0"/>
          </a:p>
        </p:txBody>
      </p:sp>
      <p:sp>
        <p:nvSpPr>
          <p:cNvPr id="19" name="Shape 17"/>
          <p:cNvSpPr/>
          <p:nvPr/>
        </p:nvSpPr>
        <p:spPr>
          <a:xfrm>
            <a:off x="2185416" y="224028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9424" y="2286000"/>
            <a:ext cx="10607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015" dirty="0"/>
          </a:p>
        </p:txBody>
      </p:sp>
      <p:sp>
        <p:nvSpPr>
          <p:cNvPr id="21" name="Shape 19"/>
          <p:cNvSpPr/>
          <p:nvPr/>
        </p:nvSpPr>
        <p:spPr>
          <a:xfrm>
            <a:off x="3410712" y="2240280"/>
            <a:ext cx="74066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86000"/>
            <a:ext cx="72786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registered ready stale 상태에서 event beat 손실 가능</a:t>
            </a:r>
            <a:endParaRPr lang="en-US" sz="1015" dirty="0"/>
          </a:p>
        </p:txBody>
      </p:sp>
      <p:sp>
        <p:nvSpPr>
          <p:cNvPr id="23" name="Shape 21"/>
          <p:cNvSpPr/>
          <p:nvPr/>
        </p:nvSpPr>
        <p:spPr>
          <a:xfrm>
            <a:off x="685800" y="2743200"/>
            <a:ext cx="1463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788920"/>
            <a:ext cx="13350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F-C03-03</a:t>
            </a:r>
            <a:endParaRPr lang="en-US" sz="1015" dirty="0"/>
          </a:p>
        </p:txBody>
      </p:sp>
      <p:sp>
        <p:nvSpPr>
          <p:cNvPr id="25" name="Shape 23"/>
          <p:cNvSpPr/>
          <p:nvPr/>
        </p:nvSpPr>
        <p:spPr>
          <a:xfrm>
            <a:off x="2185416" y="27432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9424" y="2788920"/>
            <a:ext cx="10607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015" dirty="0"/>
          </a:p>
        </p:txBody>
      </p:sp>
      <p:sp>
        <p:nvSpPr>
          <p:cNvPr id="27" name="Shape 25"/>
          <p:cNvSpPr/>
          <p:nvPr/>
        </p:nvSpPr>
        <p:spPr>
          <a:xfrm>
            <a:off x="3410712" y="2743200"/>
            <a:ext cx="74066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788920"/>
            <a:ext cx="72786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per-slope abort가 demux holding register를 clear하지 않음</a:t>
            </a:r>
            <a:endParaRPr lang="en-US" sz="1015" dirty="0"/>
          </a:p>
        </p:txBody>
      </p:sp>
      <p:sp>
        <p:nvSpPr>
          <p:cNvPr id="29" name="Shape 27"/>
          <p:cNvSpPr/>
          <p:nvPr/>
        </p:nvSpPr>
        <p:spPr>
          <a:xfrm>
            <a:off x="685800" y="3246120"/>
            <a:ext cx="1463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291840"/>
            <a:ext cx="13350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F-C03-04</a:t>
            </a:r>
            <a:endParaRPr lang="en-US" sz="1015" dirty="0"/>
          </a:p>
        </p:txBody>
      </p:sp>
      <p:sp>
        <p:nvSpPr>
          <p:cNvPr id="31" name="Shape 29"/>
          <p:cNvSpPr/>
          <p:nvPr/>
        </p:nvSpPr>
        <p:spPr>
          <a:xfrm>
            <a:off x="2185416" y="324612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9424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015" dirty="0"/>
          </a:p>
        </p:txBody>
      </p:sp>
      <p:sp>
        <p:nvSpPr>
          <p:cNvPr id="33" name="Shape 31"/>
          <p:cNvSpPr/>
          <p:nvPr/>
        </p:nvSpPr>
        <p:spPr>
          <a:xfrm>
            <a:off x="3410712" y="3246120"/>
            <a:ext cx="74066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291840"/>
            <a:ext cx="72786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15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TB는 단일 rising 64-bit smoke test 수준</a:t>
            </a:r>
            <a:endParaRPr lang="en-US" sz="1015" dirty="0"/>
          </a:p>
        </p:txBody>
      </p:sp>
      <p:sp>
        <p:nvSpPr>
          <p:cNvPr id="35" name="Shape 33"/>
          <p:cNvSpPr/>
          <p:nvPr/>
        </p:nvSpPr>
        <p:spPr>
          <a:xfrm>
            <a:off x="914400" y="4572000"/>
            <a:ext cx="10287000" cy="960120"/>
          </a:xfrm>
          <a:prstGeom prst="roundRect">
            <a:avLst>
              <a:gd name="adj" fmla="val 476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4617720"/>
            <a:ext cx="101589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다음 단계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17-bit 보존 방식 결정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demux ready/valid skid 보완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per-slope abort reset 보완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width/max_hits/backpressure/dual-buffer TB 추가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xsim_c03_cell_pipe_base.log:28 PASS, closure 증거로는 부족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Microsoft Office PowerPoint</Application>
  <PresentationFormat>와이드스크린</PresentationFormat>
  <Paragraphs>134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C03 Cell Pipe Analysis v001</dc:title>
  <dc:subject>C03 Cell Pipe Analysis</dc:subject>
  <dc:creator>Codex</dc:creator>
  <cp:lastModifiedBy>하늘 정</cp:lastModifiedBy>
  <cp:revision>2</cp:revision>
  <dcterms:created xsi:type="dcterms:W3CDTF">2026-04-30T17:25:50Z</dcterms:created>
  <dcterms:modified xsi:type="dcterms:W3CDTF">2026-04-30T17:38:52Z</dcterms:modified>
</cp:coreProperties>
</file>