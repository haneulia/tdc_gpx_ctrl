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8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v002는 TDC-GPX datasheet를 기준 문서로 삼고, Bus_Phy timing clock을 200 MHz로 고정한다.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F8434A01-D76A-484F-B976-D053CB7263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01A041B-9932-4EBF-9556-FFEE57EA9120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rPr>
              <a:t>Cluster Analysis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57A82F3-4BCD-4042-89B7-EE6A6FF2B0B6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C01_GPX_Bus_Read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FFE3EE-F103-460F-BD18-5F7CEDACA1B2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8763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rPr>
              <a:t>데이터시트 기준으로 GPX IC에서 값을 읽어 오는 물리 bus primitive를 먼저 닫고, 다음 Cluster가 의존할 timing/response/status 계약을 정의합니다.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5F5C0D4-E49A-4B9A-9318-82432174674A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38D0F6-0B38-4564-A0CF-9F06D2598A62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66675" cy="1143000"/>
          </a:xfrm>
          <a:prstGeom prst="rect">
            <a:avLst/>
          </a:prstGeom>
          <a:solidFill>
            <a:srgbClr val="2CA6A4"/>
          </a:solidFill>
          <a:ln w="0">
            <a:solidFill>
              <a:srgbClr val="2CA6A4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4FE127F-86E3-4764-93BF-5F27ACF6A51E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rPr>
              <a:t>기준 문서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5EEB830-FC59-4E76-A7BE-A3120D7760A5}"/>
              </a:ext>
            </a:extLst>
          </p:cNvPr>
          <p:cNvSpPr>
            <a:spLocks noGrp="1"/>
          </p:cNvSpPr>
          <p:nvPr/>
        </p:nvSpPr>
        <p:spPr>
          <a:xfrm>
            <a:off x="85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Doc/TDC-GPX-Datasheet.pdf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p.7~8 bus timing / OEN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6EC7901-E723-4DC8-AD8F-4543B30D05A5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BD8308D-AC35-4D67-BBAE-738C9F7DE8C8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66675" cy="1143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BBC441-9E58-4B07-A9F5-C58578FF8E43}"/>
              </a:ext>
            </a:extLst>
          </p:cNvPr>
          <p:cNvSpPr>
            <a:spLocks noGrp="1"/>
          </p:cNvSpPr>
          <p:nvPr/>
        </p:nvSpPr>
        <p:spPr>
          <a:xfrm>
            <a:off x="466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Clock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CE4AD0C-42E3-458C-BFAF-9D86175320DC}"/>
              </a:ext>
            </a:extLst>
          </p:cNvPr>
          <p:cNvSpPr>
            <a:spLocks noGrp="1"/>
          </p:cNvSpPr>
          <p:nvPr/>
        </p:nvSpPr>
        <p:spPr>
          <a:xfrm>
            <a:off x="466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 sampling clock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200 MHz, Tclk=5 ns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1D9CC99-B50B-4CE0-9113-946454144857}"/>
              </a:ext>
            </a:extLst>
          </p:cNvPr>
          <p:cNvSpPr>
            <a:spLocks noGrp="1"/>
          </p:cNvSpPr>
          <p:nvPr/>
        </p:nvSpPr>
        <p:spPr>
          <a:xfrm>
            <a:off x="828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107566-2101-4F70-A23A-3A5DDC6C9469}"/>
              </a:ext>
            </a:extLst>
          </p:cNvPr>
          <p:cNvSpPr>
            <a:spLocks noGrp="1"/>
          </p:cNvSpPr>
          <p:nvPr/>
        </p:nvSpPr>
        <p:spPr>
          <a:xfrm>
            <a:off x="8286750" y="4171950"/>
            <a:ext cx="66675" cy="11430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0455989-5522-46EA-839C-AE1D79065D08}"/>
              </a:ext>
            </a:extLst>
          </p:cNvPr>
          <p:cNvSpPr>
            <a:spLocks noGrp="1"/>
          </p:cNvSpPr>
          <p:nvPr/>
        </p:nvSpPr>
        <p:spPr>
          <a:xfrm>
            <a:off x="847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다음 단계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CE2C221-AF07-43B4-8322-505B2067ADFB}"/>
              </a:ext>
            </a:extLst>
          </p:cNvPr>
          <p:cNvSpPr>
            <a:spLocks noGrp="1"/>
          </p:cNvSpPr>
          <p:nvPr/>
        </p:nvSpPr>
        <p:spPr>
          <a:xfrm>
            <a:off x="847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C02에서 chip_ctrl/chip_run이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 primitive를 쓰는 방식 분석</a:t>
            </a:r>
          </a:p>
        </p:txBody>
      </p:sp>
    </p:spTree>
    <p:extLst>
      <p:ext uri="{BB962C8B-B14F-4D97-AF65-F5344CB8AC3E}">
        <p14:creationId xmlns:p14="http://schemas.microsoft.com/office/powerpoint/2010/main" val="2035098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0A2F254A-9BE8-484A-8A52-79297B9E09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200CFE-B709-41F0-B472-776496961960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F84BC3-4442-4208-A8C5-2172C704C28A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FA2450-F7E5-4082-B6E1-3A8B8ACA9AED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Cluster 경계와 상위 연결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2D88BC-2AA6-4FB8-ADA8-0F57C58832DD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02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BB43B6A-CFBD-4E2B-963D-1F3C15BFA77A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F366D7E-98C7-48FD-8E61-9BE267AC654D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66675" cy="11430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F874B6-E603-4B13-B563-F0EFB2535D5F}"/>
              </a:ext>
            </a:extLst>
          </p:cNvPr>
          <p:cNvSpPr>
            <a:spLocks noGrp="1"/>
          </p:cNvSpPr>
          <p:nvPr/>
        </p:nvSpPr>
        <p:spPr>
          <a:xfrm>
            <a:off x="7810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chip_ctrl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88DE57-E282-47FF-9CBA-B9EEF13A7DEB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init/run/reg sub-FSM이 bus request를 만든다.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6E4B10A1-1C39-4E65-ACA5-2AD3C7087573}"/>
              </a:ext>
            </a:extLst>
          </p:cNvPr>
          <p:cNvSpPr>
            <a:spLocks noGrp="1"/>
          </p:cNvSpPr>
          <p:nvPr/>
        </p:nvSpPr>
        <p:spPr>
          <a:xfrm>
            <a:off x="3238500" y="1638300"/>
            <a:ext cx="1143000" cy="361950"/>
          </a:xfrm>
          <a:prstGeom prst="rightArrow">
            <a:avLst/>
          </a:prstGeom>
          <a:solidFill>
            <a:srgbClr val="5B5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69CBBF6-0798-4B5A-B77F-63D7C7717ED4}"/>
              </a:ext>
            </a:extLst>
          </p:cNvPr>
          <p:cNvSpPr>
            <a:spLocks noGrp="1"/>
          </p:cNvSpPr>
          <p:nvPr/>
        </p:nvSpPr>
        <p:spPr>
          <a:xfrm>
            <a:off x="3333750" y="17049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request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97F9862-EC2E-4586-ADAA-08B9BD159CFB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69BC08-1963-414B-9746-51ACAE930A35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66675" cy="11430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45EA55-1AE4-429E-93BE-DD330F9E8655}"/>
              </a:ext>
            </a:extLst>
          </p:cNvPr>
          <p:cNvSpPr>
            <a:spLocks noGrp="1"/>
          </p:cNvSpPr>
          <p:nvPr/>
        </p:nvSpPr>
        <p:spPr>
          <a:xfrm>
            <a:off x="47815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bus_phy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8573E0B-8C1E-45CF-A0E9-2CCE9454E3A6}"/>
              </a:ext>
            </a:extLst>
          </p:cNvPr>
          <p:cNvSpPr>
            <a:spLocks noGrp="1"/>
          </p:cNvSpPr>
          <p:nvPr/>
        </p:nvSpPr>
        <p:spPr>
          <a:xfrm>
            <a:off x="47815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tick-phase FSM, IOBUF, status sync, AXIS response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39458372-4724-465B-AEC7-646225981E72}"/>
              </a:ext>
            </a:extLst>
          </p:cNvPr>
          <p:cNvSpPr>
            <a:spLocks noGrp="1"/>
          </p:cNvSpPr>
          <p:nvPr/>
        </p:nvSpPr>
        <p:spPr>
          <a:xfrm>
            <a:off x="7239000" y="1638300"/>
            <a:ext cx="1143000" cy="36195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863656A-90D9-430E-A17C-C817C8EB284A}"/>
              </a:ext>
            </a:extLst>
          </p:cNvPr>
          <p:cNvSpPr>
            <a:spLocks noGrp="1"/>
          </p:cNvSpPr>
          <p:nvPr/>
        </p:nvSpPr>
        <p:spPr>
          <a:xfrm>
            <a:off x="7334250" y="17049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pins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71721F4-D1E1-4156-9EC2-1C0C458D6D35}"/>
              </a:ext>
            </a:extLst>
          </p:cNvPr>
          <p:cNvSpPr>
            <a:spLocks noGrp="1"/>
          </p:cNvSpPr>
          <p:nvPr/>
        </p:nvSpPr>
        <p:spPr>
          <a:xfrm>
            <a:off x="85915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D466469-4DAD-4D0E-A486-E5B93D002B6F}"/>
              </a:ext>
            </a:extLst>
          </p:cNvPr>
          <p:cNvSpPr>
            <a:spLocks noGrp="1"/>
          </p:cNvSpPr>
          <p:nvPr/>
        </p:nvSpPr>
        <p:spPr>
          <a:xfrm>
            <a:off x="8591550" y="1238250"/>
            <a:ext cx="66675" cy="1143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DE96B16-E38E-4E50-BC7A-54DB9BAA6148}"/>
              </a:ext>
            </a:extLst>
          </p:cNvPr>
          <p:cNvSpPr>
            <a:spLocks noGrp="1"/>
          </p:cNvSpPr>
          <p:nvPr/>
        </p:nvSpPr>
        <p:spPr>
          <a:xfrm>
            <a:off x="87820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TDC-GPX IC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B55DF1B-2D25-4C4B-8E19-9B07B825458E}"/>
              </a:ext>
            </a:extLst>
          </p:cNvPr>
          <p:cNvSpPr>
            <a:spLocks noGrp="1"/>
          </p:cNvSpPr>
          <p:nvPr/>
        </p:nvSpPr>
        <p:spPr>
          <a:xfrm>
            <a:off x="87820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28-bit async parallel bus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EF/LF active HIGH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E34DBCE5-810B-45FA-8C1E-DA9AAD8B0489}"/>
              </a:ext>
            </a:extLst>
          </p:cNvPr>
          <p:cNvSpPr>
            <a:spLocks noGrp="1"/>
          </p:cNvSpPr>
          <p:nvPr/>
        </p:nvSpPr>
        <p:spPr>
          <a:xfrm>
            <a:off x="8591550" y="3028950"/>
            <a:ext cx="0" cy="3619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EF0C8BB-B923-4E42-B39F-CB12001FCF5B}"/>
              </a:ext>
            </a:extLst>
          </p:cNvPr>
          <p:cNvSpPr>
            <a:spLocks noGrp="1"/>
          </p:cNvSpPr>
          <p:nvPr/>
        </p:nvSpPr>
        <p:spPr>
          <a:xfrm>
            <a:off x="4591050" y="285750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48E6B8F-2427-4AF6-B8CC-A47CB8FE1ECE}"/>
              </a:ext>
            </a:extLst>
          </p:cNvPr>
          <p:cNvSpPr>
            <a:spLocks noGrp="1"/>
          </p:cNvSpPr>
          <p:nvPr/>
        </p:nvSpPr>
        <p:spPr>
          <a:xfrm>
            <a:off x="4591050" y="2857500"/>
            <a:ext cx="66675" cy="11430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4A60831-7804-4BF7-B17B-B1D47E352CEE}"/>
              </a:ext>
            </a:extLst>
          </p:cNvPr>
          <p:cNvSpPr>
            <a:spLocks noGrp="1"/>
          </p:cNvSpPr>
          <p:nvPr/>
        </p:nvSpPr>
        <p:spPr>
          <a:xfrm>
            <a:off x="4781550" y="300990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response skid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7FF9BC2-DC1F-45E1-96DC-4667731146AE}"/>
              </a:ext>
            </a:extLst>
          </p:cNvPr>
          <p:cNvSpPr>
            <a:spLocks noGrp="1"/>
          </p:cNvSpPr>
          <p:nvPr/>
        </p:nvSpPr>
        <p:spPr>
          <a:xfrm>
            <a:off x="4781550" y="333375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 response를 40b skid로 받아 chip_ctrl에 전달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B9AD85A0-DBF5-4ED7-AEF2-85F87E342025}"/>
              </a:ext>
            </a:extLst>
          </p:cNvPr>
          <p:cNvSpPr>
            <a:spLocks noGrp="1"/>
          </p:cNvSpPr>
          <p:nvPr/>
        </p:nvSpPr>
        <p:spPr>
          <a:xfrm>
            <a:off x="3238500" y="3257550"/>
            <a:ext cx="1143000" cy="361950"/>
          </a:xfrm>
          <a:prstGeom prst="rightArrow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57E4E1F-178C-462E-B228-847355012426}"/>
              </a:ext>
            </a:extLst>
          </p:cNvPr>
          <p:cNvSpPr>
            <a:spLocks noGrp="1"/>
          </p:cNvSpPr>
          <p:nvPr/>
        </p:nvSpPr>
        <p:spPr>
          <a:xfrm>
            <a:off x="3333750" y="332422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response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706F87E-0C75-4C31-9F3E-B514CF9559F2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0797661-B951-449D-945F-14615CEAD15D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66675" cy="11430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4CB1127-E12C-4DFD-ADF7-55AE196B0B0E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chip_ctrl consume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5A942FB-E16D-40CA-88E9-6F131EB2C16F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valid AND ready fire pulse만 소비하고 pending으로 watchdog을 freeze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A70217C-14F6-4959-AE40-371F3A3EDDCB}"/>
              </a:ext>
            </a:extLst>
          </p:cNvPr>
          <p:cNvSpPr>
            <a:spLocks noGrp="1"/>
          </p:cNvSpPr>
          <p:nvPr/>
        </p:nvSpPr>
        <p:spPr>
          <a:xfrm>
            <a:off x="838200" y="4810125"/>
            <a:ext cx="971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이번 Cluster는 datasheet p.7~8 기준을 bus_phy와 연결 계약에 매핑합니다.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776A4B8-7939-4B62-9C6D-1FC5D4382EDC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p.3,p.7,p.11-12 / config_ctrl:1445-1503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63046A9-B611-474F-B405-DCE051A2B769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47DE8C5-6D91-46D6-AD2C-7979103009D0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v002 · 2026-04-29</a:t>
            </a:r>
          </a:p>
        </p:txBody>
      </p:sp>
    </p:spTree>
    <p:extLst>
      <p:ext uri="{BB962C8B-B14F-4D97-AF65-F5344CB8AC3E}">
        <p14:creationId xmlns:p14="http://schemas.microsoft.com/office/powerpoint/2010/main" val="518364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8D0AE3D3-3903-4902-AAE5-BACA3CC73B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7368AA-3CDD-4403-887F-884A3957CC38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2CEEA85-FD06-498F-906D-64C49FD29CFC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66E68E-8CEB-4507-8152-68E99451C07F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timing: datasheet → 200 MHz tick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77C892-EBE4-49DB-8291-083BCA4F87B3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03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4A0DD3E-71FF-461F-90E2-96356D0518FC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1809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D9E1CC-EF70-4352-BA7D-24F74743963B}"/>
              </a:ext>
            </a:extLst>
          </p:cNvPr>
          <p:cNvSpPr>
            <a:spLocks noGrp="1"/>
          </p:cNvSpPr>
          <p:nvPr/>
        </p:nvSpPr>
        <p:spPr>
          <a:xfrm>
            <a:off x="647700" y="1790700"/>
            <a:ext cx="66675" cy="13525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4C7D63-15F8-4EEF-B639-06BA3EDBF82C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tick 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3166E0-17EA-41D7-A49B-5A9CCFCFE552}"/>
              </a:ext>
            </a:extLst>
          </p:cNvPr>
          <p:cNvSpPr>
            <a:spLocks noGrp="1"/>
          </p:cNvSpPr>
          <p:nvPr/>
        </p:nvSpPr>
        <p:spPr>
          <a:xfrm>
            <a:off x="838200" y="2266950"/>
            <a:ext cx="1485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ADR setup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CSN low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high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43792A3C-BD95-4D34-A8E5-E07B73045556}"/>
              </a:ext>
            </a:extLst>
          </p:cNvPr>
          <p:cNvSpPr>
            <a:spLocks noGrp="1"/>
          </p:cNvSpPr>
          <p:nvPr/>
        </p:nvSpPr>
        <p:spPr>
          <a:xfrm>
            <a:off x="2324100" y="2286000"/>
            <a:ext cx="552450" cy="2857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45724CD-EFCE-4AFA-98FD-FDAB0F8D65EC}"/>
              </a:ext>
            </a:extLst>
          </p:cNvPr>
          <p:cNvSpPr>
            <a:spLocks noGrp="1"/>
          </p:cNvSpPr>
          <p:nvPr/>
        </p:nvSpPr>
        <p:spPr>
          <a:xfrm>
            <a:off x="2838450" y="1790700"/>
            <a:ext cx="1809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32A5B67-006C-42F2-9A39-FB6905B57D79}"/>
              </a:ext>
            </a:extLst>
          </p:cNvPr>
          <p:cNvSpPr>
            <a:spLocks noGrp="1"/>
          </p:cNvSpPr>
          <p:nvPr/>
        </p:nvSpPr>
        <p:spPr>
          <a:xfrm>
            <a:off x="2838450" y="1790700"/>
            <a:ext cx="66675" cy="13525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B4B49B6-147C-4985-831B-6C15972C9FD3}"/>
              </a:ext>
            </a:extLst>
          </p:cNvPr>
          <p:cNvSpPr>
            <a:spLocks noGrp="1"/>
          </p:cNvSpPr>
          <p:nvPr/>
        </p:nvSpPr>
        <p:spPr>
          <a:xfrm>
            <a:off x="3028950" y="194310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tick 1..N-2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857333-3983-4005-8A9E-CC235ACCF2EA}"/>
              </a:ext>
            </a:extLst>
          </p:cNvPr>
          <p:cNvSpPr>
            <a:spLocks noGrp="1"/>
          </p:cNvSpPr>
          <p:nvPr/>
        </p:nvSpPr>
        <p:spPr>
          <a:xfrm>
            <a:off x="3028950" y="2266950"/>
            <a:ext cx="1485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low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drives D bus</a:t>
            </a: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449B104D-2E28-49CB-9270-A60F916EB069}"/>
              </a:ext>
            </a:extLst>
          </p:cNvPr>
          <p:cNvSpPr>
            <a:spLocks noGrp="1"/>
          </p:cNvSpPr>
          <p:nvPr/>
        </p:nvSpPr>
        <p:spPr>
          <a:xfrm>
            <a:off x="4514850" y="2286000"/>
            <a:ext cx="552450" cy="2857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4F24742-BFFC-4B6B-8FDE-05E449D4FB5C}"/>
              </a:ext>
            </a:extLst>
          </p:cNvPr>
          <p:cNvSpPr>
            <a:spLocks noGrp="1"/>
          </p:cNvSpPr>
          <p:nvPr/>
        </p:nvSpPr>
        <p:spPr>
          <a:xfrm>
            <a:off x="5029200" y="1790700"/>
            <a:ext cx="1809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A1966C1-9B36-4AB6-90C2-60D59EE54EF8}"/>
              </a:ext>
            </a:extLst>
          </p:cNvPr>
          <p:cNvSpPr>
            <a:spLocks noGrp="1"/>
          </p:cNvSpPr>
          <p:nvPr/>
        </p:nvSpPr>
        <p:spPr>
          <a:xfrm>
            <a:off x="5029200" y="1790700"/>
            <a:ext cx="66675" cy="13525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9F5F58-597B-4E9C-9CD5-624BDD98625A}"/>
              </a:ext>
            </a:extLst>
          </p:cNvPr>
          <p:cNvSpPr>
            <a:spLocks noGrp="1"/>
          </p:cNvSpPr>
          <p:nvPr/>
        </p:nvSpPr>
        <p:spPr>
          <a:xfrm>
            <a:off x="5219700" y="194310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tick N-2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1BF2C60-1CFF-4042-B6D5-03161912D0A6}"/>
              </a:ext>
            </a:extLst>
          </p:cNvPr>
          <p:cNvSpPr>
            <a:spLocks noGrp="1"/>
          </p:cNvSpPr>
          <p:nvPr/>
        </p:nvSpPr>
        <p:spPr>
          <a:xfrm>
            <a:off x="5219700" y="2266950"/>
            <a:ext cx="1485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sample_en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IOB FF armed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2ABCC755-B318-4B46-8C4F-42BD93F91B50}"/>
              </a:ext>
            </a:extLst>
          </p:cNvPr>
          <p:cNvSpPr>
            <a:spLocks noGrp="1"/>
          </p:cNvSpPr>
          <p:nvPr/>
        </p:nvSpPr>
        <p:spPr>
          <a:xfrm>
            <a:off x="6705600" y="2286000"/>
            <a:ext cx="552450" cy="2857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314CC96-F8CF-4623-BD89-AA0A52BC5152}"/>
              </a:ext>
            </a:extLst>
          </p:cNvPr>
          <p:cNvSpPr>
            <a:spLocks noGrp="1"/>
          </p:cNvSpPr>
          <p:nvPr/>
        </p:nvSpPr>
        <p:spPr>
          <a:xfrm>
            <a:off x="7219950" y="1790700"/>
            <a:ext cx="1809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F99D420-30A6-432B-914E-1F2A730DF11D}"/>
              </a:ext>
            </a:extLst>
          </p:cNvPr>
          <p:cNvSpPr>
            <a:spLocks noGrp="1"/>
          </p:cNvSpPr>
          <p:nvPr/>
        </p:nvSpPr>
        <p:spPr>
          <a:xfrm>
            <a:off x="7219950" y="1790700"/>
            <a:ext cx="66675" cy="13525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D04E051-E692-4192-87AE-5DC869EDBC85}"/>
              </a:ext>
            </a:extLst>
          </p:cNvPr>
          <p:cNvSpPr>
            <a:spLocks noGrp="1"/>
          </p:cNvSpPr>
          <p:nvPr/>
        </p:nvSpPr>
        <p:spPr>
          <a:xfrm>
            <a:off x="7410450" y="194310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tick N-1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F04EFEC-4726-44F6-B5BD-E4DE1472C617}"/>
              </a:ext>
            </a:extLst>
          </p:cNvPr>
          <p:cNvSpPr>
            <a:spLocks noGrp="1"/>
          </p:cNvSpPr>
          <p:nvPr/>
        </p:nvSpPr>
        <p:spPr>
          <a:xfrm>
            <a:off x="7410450" y="2266950"/>
            <a:ext cx="1485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rsp_pending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7A1B2AE7-E834-4EA3-8D85-C8069A917A0E}"/>
              </a:ext>
            </a:extLst>
          </p:cNvPr>
          <p:cNvSpPr>
            <a:spLocks noGrp="1"/>
          </p:cNvSpPr>
          <p:nvPr/>
        </p:nvSpPr>
        <p:spPr>
          <a:xfrm>
            <a:off x="8896350" y="2286000"/>
            <a:ext cx="552450" cy="2857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AC1F268-616F-44D1-98C2-8BB900637BB4}"/>
              </a:ext>
            </a:extLst>
          </p:cNvPr>
          <p:cNvSpPr>
            <a:spLocks noGrp="1"/>
          </p:cNvSpPr>
          <p:nvPr/>
        </p:nvSpPr>
        <p:spPr>
          <a:xfrm>
            <a:off x="9410700" y="1790700"/>
            <a:ext cx="1809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F3D9B78-8F87-4AA0-BFC0-653EBDBA6753}"/>
              </a:ext>
            </a:extLst>
          </p:cNvPr>
          <p:cNvSpPr>
            <a:spLocks noGrp="1"/>
          </p:cNvSpPr>
          <p:nvPr/>
        </p:nvSpPr>
        <p:spPr>
          <a:xfrm>
            <a:off x="9410700" y="1790700"/>
            <a:ext cx="66675" cy="13525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147EDF-1CDF-48C3-8FA8-28808890BC07}"/>
              </a:ext>
            </a:extLst>
          </p:cNvPr>
          <p:cNvSpPr>
            <a:spLocks noGrp="1"/>
          </p:cNvSpPr>
          <p:nvPr/>
        </p:nvSpPr>
        <p:spPr>
          <a:xfrm>
            <a:off x="9601200" y="1943100"/>
            <a:ext cx="1485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tick N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CAC97A6-225C-43A3-B93F-45E1CABE2D83}"/>
              </a:ext>
            </a:extLst>
          </p:cNvPr>
          <p:cNvSpPr>
            <a:spLocks noGrp="1"/>
          </p:cNvSpPr>
          <p:nvPr/>
        </p:nvSpPr>
        <p:spPr>
          <a:xfrm>
            <a:off x="9601200" y="2266950"/>
            <a:ext cx="14859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AXIS tvalid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response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15E0A63-5F98-410C-A5F8-B49CC046ED73}"/>
              </a:ext>
            </a:extLst>
          </p:cNvPr>
          <p:cNvSpPr>
            <a:spLocks noGrp="1"/>
          </p:cNvSpPr>
          <p:nvPr/>
        </p:nvSpPr>
        <p:spPr>
          <a:xfrm>
            <a:off x="1276350" y="3810000"/>
            <a:ext cx="8763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95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capture delay = ((bus_ticks - 3) * bus_clk_div + 1) * 5 ns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67970F4-DD9A-49C4-B365-3AC58E1FAC65}"/>
              </a:ext>
            </a:extLst>
          </p:cNvPr>
          <p:cNvSpPr>
            <a:spLocks noGrp="1"/>
          </p:cNvSpPr>
          <p:nvPr/>
        </p:nvSpPr>
        <p:spPr>
          <a:xfrm>
            <a:off x="819150" y="4610100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0801A9A-23B1-422A-904C-89810AA9DF14}"/>
              </a:ext>
            </a:extLst>
          </p:cNvPr>
          <p:cNvSpPr>
            <a:spLocks noGrp="1"/>
          </p:cNvSpPr>
          <p:nvPr/>
        </p:nvSpPr>
        <p:spPr>
          <a:xfrm>
            <a:off x="819150" y="4610100"/>
            <a:ext cx="66675" cy="8763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3609AE8-0B70-4B24-B108-B6046A36BB19}"/>
              </a:ext>
            </a:extLst>
          </p:cNvPr>
          <p:cNvSpPr>
            <a:spLocks noGrp="1"/>
          </p:cNvSpPr>
          <p:nvPr/>
        </p:nvSpPr>
        <p:spPr>
          <a:xfrm>
            <a:off x="1009650" y="476250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F7DDBCD-E2EE-4ADE-866D-1C65E0B592D5}"/>
              </a:ext>
            </a:extLst>
          </p:cNvPr>
          <p:cNvSpPr>
            <a:spLocks noGrp="1"/>
          </p:cNvSpPr>
          <p:nvPr/>
        </p:nvSpPr>
        <p:spPr>
          <a:xfrm>
            <a:off x="1009650" y="5086350"/>
            <a:ext cx="2057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8889"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tPW-RL/RH ≥ 6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tV-DR max 11.8 ns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F4382AB-6B84-41D7-903E-C570EE5C47B9}"/>
              </a:ext>
            </a:extLst>
          </p:cNvPr>
          <p:cNvSpPr>
            <a:spLocks noGrp="1"/>
          </p:cNvSpPr>
          <p:nvPr/>
        </p:nvSpPr>
        <p:spPr>
          <a:xfrm>
            <a:off x="3562350" y="4610100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E32DF04-3DDD-4726-8750-9A74EAEF188B}"/>
              </a:ext>
            </a:extLst>
          </p:cNvPr>
          <p:cNvSpPr>
            <a:spLocks noGrp="1"/>
          </p:cNvSpPr>
          <p:nvPr/>
        </p:nvSpPr>
        <p:spPr>
          <a:xfrm>
            <a:off x="3562350" y="4610100"/>
            <a:ext cx="66675" cy="8763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F8673DE-4450-4F9B-991E-C5848E5099C6}"/>
              </a:ext>
            </a:extLst>
          </p:cNvPr>
          <p:cNvSpPr>
            <a:spLocks noGrp="1"/>
          </p:cNvSpPr>
          <p:nvPr/>
        </p:nvSpPr>
        <p:spPr>
          <a:xfrm>
            <a:off x="3752850" y="476250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기본값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DBBBB3C-D50A-471B-8E60-6E9F05C00657}"/>
              </a:ext>
            </a:extLst>
          </p:cNvPr>
          <p:cNvSpPr>
            <a:spLocks noGrp="1"/>
          </p:cNvSpPr>
          <p:nvPr/>
        </p:nvSpPr>
        <p:spPr>
          <a:xfrm>
            <a:off x="3752850" y="5086350"/>
            <a:ext cx="2057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8889"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div=2, ticks=5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capture=25 ns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565508A-4765-4F18-8C47-DE44DA71565B}"/>
              </a:ext>
            </a:extLst>
          </p:cNvPr>
          <p:cNvSpPr>
            <a:spLocks noGrp="1"/>
          </p:cNvSpPr>
          <p:nvPr/>
        </p:nvSpPr>
        <p:spPr>
          <a:xfrm>
            <a:off x="6305550" y="4610100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A5B7C8F-6859-4288-B3D0-E7B84867A66D}"/>
              </a:ext>
            </a:extLst>
          </p:cNvPr>
          <p:cNvSpPr>
            <a:spLocks noGrp="1"/>
          </p:cNvSpPr>
          <p:nvPr/>
        </p:nvSpPr>
        <p:spPr>
          <a:xfrm>
            <a:off x="6305550" y="4610100"/>
            <a:ext cx="66675" cy="8763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8BD5A40-4E2B-4150-80FB-75527058E8DD}"/>
              </a:ext>
            </a:extLst>
          </p:cNvPr>
          <p:cNvSpPr>
            <a:spLocks noGrp="1"/>
          </p:cNvSpPr>
          <p:nvPr/>
        </p:nvSpPr>
        <p:spPr>
          <a:xfrm>
            <a:off x="6496050" y="476250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fastest OK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E1F2736-4D3D-4014-822D-986F751372AF}"/>
              </a:ext>
            </a:extLst>
          </p:cNvPr>
          <p:cNvSpPr>
            <a:spLocks noGrp="1"/>
          </p:cNvSpPr>
          <p:nvPr/>
        </p:nvSpPr>
        <p:spPr>
          <a:xfrm>
            <a:off x="6496050" y="5086350"/>
            <a:ext cx="2057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8889"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div=1, ticks=5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capture=15 ns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219DBFB-9A0D-493D-BF26-B7C733C2E1A3}"/>
              </a:ext>
            </a:extLst>
          </p:cNvPr>
          <p:cNvSpPr>
            <a:spLocks noGrp="1"/>
          </p:cNvSpPr>
          <p:nvPr/>
        </p:nvSpPr>
        <p:spPr>
          <a:xfrm>
            <a:off x="9048750" y="4610100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BFA090F-492E-4A5E-B277-DE7CA80DCC85}"/>
              </a:ext>
            </a:extLst>
          </p:cNvPr>
          <p:cNvSpPr>
            <a:spLocks noGrp="1"/>
          </p:cNvSpPr>
          <p:nvPr/>
        </p:nvSpPr>
        <p:spPr>
          <a:xfrm>
            <a:off x="9048750" y="4610100"/>
            <a:ext cx="66675" cy="8763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F203B29-214C-4CB8-9DC7-39068A3B9C99}"/>
              </a:ext>
            </a:extLst>
          </p:cNvPr>
          <p:cNvSpPr>
            <a:spLocks noGrp="1"/>
          </p:cNvSpPr>
          <p:nvPr/>
        </p:nvSpPr>
        <p:spPr>
          <a:xfrm>
            <a:off x="9239250" y="476250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illegal 예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D72D633-992D-4FC1-BA68-B54619F60CA6}"/>
              </a:ext>
            </a:extLst>
          </p:cNvPr>
          <p:cNvSpPr>
            <a:spLocks noGrp="1"/>
          </p:cNvSpPr>
          <p:nvPr/>
        </p:nvSpPr>
        <p:spPr>
          <a:xfrm>
            <a:off x="9239250" y="5086350"/>
            <a:ext cx="2057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8889"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div=1, ticks=4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capture=10 ns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AC52026-A928-4FA9-81D5-F906ADDF6881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 / bus_phy:33-52, 527-548 / cfg_pkg:266-305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E1F58A1-E652-4E3A-A8B8-A1222CC1A4B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BAB198A-B8ED-4048-BF77-91CD2869EE6A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v002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501210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CF8B8F7C-556D-4286-B9B4-B511BE296A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7F4D8C6-4879-4A8B-AA12-CD447E0D8EFB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A93AF3B-2CCF-4546-B089-F1C30E5ADE94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247934-1563-4814-A538-6DAA56A9E4B2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 timing과 OEN 조건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EFDA02-9016-4527-B434-D8A2B30C8903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04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402F068-3659-4A2F-98F2-29C3C610B5C2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8715BA-E91D-438B-AD94-7A1BCE0AB956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66675" cy="1428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F6CCDD-511F-41AC-B9FD-ACD511EAD220}"/>
              </a:ext>
            </a:extLst>
          </p:cNvPr>
          <p:cNvSpPr>
            <a:spLocks noGrp="1"/>
          </p:cNvSpPr>
          <p:nvPr/>
        </p:nvSpPr>
        <p:spPr>
          <a:xfrm>
            <a:off x="1028700" y="1619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tick 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C50AC04-1735-4DF0-92D0-6957D84B557B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23431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ADR + DATA setup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CSN low, WRN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drives D-bus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6776563-1450-413C-BB31-4D5F049C78A0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1143000" cy="342900"/>
          </a:xfrm>
          <a:prstGeom prst="rightArrow">
            <a:avLst/>
          </a:prstGeom>
          <a:solidFill>
            <a:srgbClr val="5B5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7D6F6BA-26D6-48EB-9223-889602C4E41A}"/>
              </a:ext>
            </a:extLst>
          </p:cNvPr>
          <p:cNvSpPr>
            <a:spLocks noGrp="1"/>
          </p:cNvSpPr>
          <p:nvPr/>
        </p:nvSpPr>
        <p:spPr>
          <a:xfrm>
            <a:off x="3810000" y="206692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L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FE5DD03-F362-47D1-87E8-C10BEFB74942}"/>
              </a:ext>
            </a:extLst>
          </p:cNvPr>
          <p:cNvSpPr>
            <a:spLocks noGrp="1"/>
          </p:cNvSpPr>
          <p:nvPr/>
        </p:nvSpPr>
        <p:spPr>
          <a:xfrm>
            <a:off x="5067300" y="14668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3519001-201F-442D-9293-D9FEA603112A}"/>
              </a:ext>
            </a:extLst>
          </p:cNvPr>
          <p:cNvSpPr>
            <a:spLocks noGrp="1"/>
          </p:cNvSpPr>
          <p:nvPr/>
        </p:nvSpPr>
        <p:spPr>
          <a:xfrm>
            <a:off x="5067300" y="1466850"/>
            <a:ext cx="66675" cy="14287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AB5F788-3696-4B0C-A537-2948B8191711}"/>
              </a:ext>
            </a:extLst>
          </p:cNvPr>
          <p:cNvSpPr>
            <a:spLocks noGrp="1"/>
          </p:cNvSpPr>
          <p:nvPr/>
        </p:nvSpPr>
        <p:spPr>
          <a:xfrm>
            <a:off x="5257800" y="1619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tick 1..N-2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E45E80-C0BD-4B33-AA69-9A9776CFD986}"/>
              </a:ext>
            </a:extLst>
          </p:cNvPr>
          <p:cNvSpPr>
            <a:spLocks noGrp="1"/>
          </p:cNvSpPr>
          <p:nvPr/>
        </p:nvSpPr>
        <p:spPr>
          <a:xfrm>
            <a:off x="5257800" y="1943100"/>
            <a:ext cx="23431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low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pulse width 확보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5CA48D70-0DBC-4992-9720-7F2C88A83A1E}"/>
              </a:ext>
            </a:extLst>
          </p:cNvPr>
          <p:cNvSpPr>
            <a:spLocks noGrp="1"/>
          </p:cNvSpPr>
          <p:nvPr/>
        </p:nvSpPr>
        <p:spPr>
          <a:xfrm>
            <a:off x="7943850" y="2000250"/>
            <a:ext cx="1143000" cy="34290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245945-49C3-4B7E-93B3-D865E96516FB}"/>
              </a:ext>
            </a:extLst>
          </p:cNvPr>
          <p:cNvSpPr>
            <a:spLocks noGrp="1"/>
          </p:cNvSpPr>
          <p:nvPr/>
        </p:nvSpPr>
        <p:spPr>
          <a:xfrm>
            <a:off x="8039100" y="206692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H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102900A-8921-4E3B-9F29-B2DA37E0D17B}"/>
              </a:ext>
            </a:extLst>
          </p:cNvPr>
          <p:cNvSpPr>
            <a:spLocks noGrp="1"/>
          </p:cNvSpPr>
          <p:nvPr/>
        </p:nvSpPr>
        <p:spPr>
          <a:xfrm>
            <a:off x="9296400" y="1466850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E767A5C-65E8-4516-A765-6B7DF6966188}"/>
              </a:ext>
            </a:extLst>
          </p:cNvPr>
          <p:cNvSpPr>
            <a:spLocks noGrp="1"/>
          </p:cNvSpPr>
          <p:nvPr/>
        </p:nvSpPr>
        <p:spPr>
          <a:xfrm>
            <a:off x="9296400" y="1466850"/>
            <a:ext cx="66675" cy="14287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347EBF8-950D-4DDB-ABFA-4916767036F3}"/>
              </a:ext>
            </a:extLst>
          </p:cNvPr>
          <p:cNvSpPr>
            <a:spLocks noGrp="1"/>
          </p:cNvSpPr>
          <p:nvPr/>
        </p:nvSpPr>
        <p:spPr>
          <a:xfrm>
            <a:off x="9486900" y="16192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tick N-1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A6FC16F-B085-4A3D-B6C2-8CC57A545D72}"/>
              </a:ext>
            </a:extLst>
          </p:cNvPr>
          <p:cNvSpPr>
            <a:spLocks noGrp="1"/>
          </p:cNvSpPr>
          <p:nvPr/>
        </p:nvSpPr>
        <p:spPr>
          <a:xfrm>
            <a:off x="9486900" y="1943100"/>
            <a:ext cx="17716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release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3D5E431-CD13-4837-9EC0-246E15A92503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25507BA-4A46-4F01-B7F7-CD1F1EFF8FE3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66675" cy="12192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F6D2E0D-0F54-40C2-BEEC-77C7AFBE0227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4FB145D-7F72-4A42-ABF1-63264EC3CF65}"/>
              </a:ext>
            </a:extLst>
          </p:cNvPr>
          <p:cNvSpPr>
            <a:spLocks noGrp="1"/>
          </p:cNvSpPr>
          <p:nvPr/>
        </p:nvSpPr>
        <p:spPr>
          <a:xfrm>
            <a:off x="10096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tS-DW ≥ 5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tH-DW ≥ 4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tPW-WL/WH ≥ 6 ns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47626B8-5E81-439E-BEDE-C93F97FCB402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5F61163-4D88-4837-93B4-E361C434DC0E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66675" cy="12192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00F0441-78C0-405D-95B6-81BF768A3050}"/>
              </a:ext>
            </a:extLst>
          </p:cNvPr>
          <p:cNvSpPr>
            <a:spLocks noGrp="1"/>
          </p:cNvSpPr>
          <p:nvPr/>
        </p:nvSpPr>
        <p:spPr>
          <a:xfrm>
            <a:off x="37528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OEN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CCB60BF-9A9A-4CAE-8145-FC8D5BC65CFA}"/>
              </a:ext>
            </a:extLst>
          </p:cNvPr>
          <p:cNvSpPr>
            <a:spLocks noGrp="1"/>
          </p:cNvSpPr>
          <p:nvPr/>
        </p:nvSpPr>
        <p:spPr>
          <a:xfrm>
            <a:off x="37528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중 GPX OEN은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반드시 HIGH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5CB6C23-433D-4334-812D-041DC6C7A5B2}"/>
              </a:ext>
            </a:extLst>
          </p:cNvPr>
          <p:cNvSpPr>
            <a:spLocks noGrp="1"/>
          </p:cNvSpPr>
          <p:nvPr/>
        </p:nvSpPr>
        <p:spPr>
          <a:xfrm>
            <a:off x="63055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C9509B0-48B8-48EA-832E-EF6966B6707D}"/>
              </a:ext>
            </a:extLst>
          </p:cNvPr>
          <p:cNvSpPr>
            <a:spLocks noGrp="1"/>
          </p:cNvSpPr>
          <p:nvPr/>
        </p:nvSpPr>
        <p:spPr>
          <a:xfrm>
            <a:off x="6305550" y="3638550"/>
            <a:ext cx="66675" cy="12192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976C4F3-B9CD-429F-A7F1-355C4E557A8A}"/>
              </a:ext>
            </a:extLst>
          </p:cNvPr>
          <p:cNvSpPr>
            <a:spLocks noGrp="1"/>
          </p:cNvSpPr>
          <p:nvPr/>
        </p:nvSpPr>
        <p:spPr>
          <a:xfrm>
            <a:off x="64960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방향 전환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D04380-0F57-401A-B1F9-AD385EF83AA2}"/>
              </a:ext>
            </a:extLst>
          </p:cNvPr>
          <p:cNvSpPr>
            <a:spLocks noGrp="1"/>
          </p:cNvSpPr>
          <p:nvPr/>
        </p:nvSpPr>
        <p:spPr>
          <a:xfrm>
            <a:off x="64960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이후 WRITE는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ST_TURNAROUND 경유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AE11E0D-ADAD-4639-9755-B98D8D57E6F9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92F495E-76CA-41E0-80FC-F635C287E867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66675" cy="12192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8BF5B4F-CA59-42A1-8ED3-BF89448EC8C2}"/>
              </a:ext>
            </a:extLst>
          </p:cNvPr>
          <p:cNvSpPr>
            <a:spLocks noGrp="1"/>
          </p:cNvSpPr>
          <p:nvPr/>
        </p:nvSpPr>
        <p:spPr>
          <a:xfrm>
            <a:off x="92392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응답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17DA8ED-CDDE-48F7-9E34-60D94E5A1DF3}"/>
              </a:ext>
            </a:extLst>
          </p:cNvPr>
          <p:cNvSpPr>
            <a:spLocks noGrp="1"/>
          </p:cNvSpPr>
          <p:nvPr/>
        </p:nvSpPr>
        <p:spPr>
          <a:xfrm>
            <a:off x="92392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`tdata=0`, `tuser[0]=1`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7843D4F-4D7F-4CFA-A053-AF5D55C9604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p.7-8 / bus_phy:418-435, 608-630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7B53DE6-3B04-40E8-998E-D702525E20A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3F999E5-6A47-4359-9670-A46866414E29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v002 · 2026-04-29</a:t>
            </a:r>
          </a:p>
        </p:txBody>
      </p:sp>
    </p:spTree>
    <p:extLst>
      <p:ext uri="{BB962C8B-B14F-4D97-AF65-F5344CB8AC3E}">
        <p14:creationId xmlns:p14="http://schemas.microsoft.com/office/powerpoint/2010/main" val="919405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BDABDB2E-730B-42E4-A706-1D1D50AA33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2E4175D-F527-40A0-8A87-FE1AEBE8ADF6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2326CF-B37F-4521-AE13-5DEFABD586D5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2B94088-CC56-4F11-92C8-B287992FC500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FSM과 bus contention 방지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E43DED-8E65-477F-A628-7AEF8DC8CA46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05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3479FCE-C575-476C-B70A-6B3FFB270F26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6E1A843-1D6B-4492-B0CE-9719E9A2F2A3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66675" cy="12573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E2A818-285F-4630-A884-D1800D2517D7}"/>
              </a:ext>
            </a:extLst>
          </p:cNvPr>
          <p:cNvSpPr>
            <a:spLocks noGrp="1"/>
          </p:cNvSpPr>
          <p:nvPr/>
        </p:nvSpPr>
        <p:spPr>
          <a:xfrm>
            <a:off x="9906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ST_IDLE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20F88B-337D-4DA1-A337-F22924BED137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request 대기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strobes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E278643-9BD6-4966-8A26-04219FCC9AF4}"/>
              </a:ext>
            </a:extLst>
          </p:cNvPr>
          <p:cNvSpPr>
            <a:spLocks noGrp="1"/>
          </p:cNvSpPr>
          <p:nvPr/>
        </p:nvSpPr>
        <p:spPr>
          <a:xfrm>
            <a:off x="35814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39FF2DC-4807-40C4-B30D-385D4DDE7886}"/>
              </a:ext>
            </a:extLst>
          </p:cNvPr>
          <p:cNvSpPr>
            <a:spLocks noGrp="1"/>
          </p:cNvSpPr>
          <p:nvPr/>
        </p:nvSpPr>
        <p:spPr>
          <a:xfrm>
            <a:off x="3581400" y="1619250"/>
            <a:ext cx="66675" cy="12573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B5BCFF-3967-44E7-9E53-DA153732F5AD}"/>
              </a:ext>
            </a:extLst>
          </p:cNvPr>
          <p:cNvSpPr>
            <a:spLocks noGrp="1"/>
          </p:cNvSpPr>
          <p:nvPr/>
        </p:nvSpPr>
        <p:spPr>
          <a:xfrm>
            <a:off x="37719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82C84F-29AE-4A30-850E-093815600C7B}"/>
              </a:ext>
            </a:extLst>
          </p:cNvPr>
          <p:cNvSpPr>
            <a:spLocks noGrp="1"/>
          </p:cNvSpPr>
          <p:nvPr/>
        </p:nvSpPr>
        <p:spPr>
          <a:xfrm>
            <a:off x="37719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방향 전환 1 tick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5912526-04C3-45A0-9A3D-DC5A6B98D281}"/>
              </a:ext>
            </a:extLst>
          </p:cNvPr>
          <p:cNvSpPr>
            <a:spLocks noGrp="1"/>
          </p:cNvSpPr>
          <p:nvPr/>
        </p:nvSpPr>
        <p:spPr>
          <a:xfrm>
            <a:off x="63627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4D2933E-9FD7-471E-9DF3-0D7C21B1BF50}"/>
              </a:ext>
            </a:extLst>
          </p:cNvPr>
          <p:cNvSpPr>
            <a:spLocks noGrp="1"/>
          </p:cNvSpPr>
          <p:nvPr/>
        </p:nvSpPr>
        <p:spPr>
          <a:xfrm>
            <a:off x="6362700" y="1619250"/>
            <a:ext cx="66675" cy="12573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B009F3A-43E9-40DF-835B-98A2C8A9C134}"/>
              </a:ext>
            </a:extLst>
          </p:cNvPr>
          <p:cNvSpPr>
            <a:spLocks noGrp="1"/>
          </p:cNvSpPr>
          <p:nvPr/>
        </p:nvSpPr>
        <p:spPr>
          <a:xfrm>
            <a:off x="65532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ST_READ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D0EDE9E-A7AC-4553-AE50-DC11C3322DEF}"/>
              </a:ext>
            </a:extLst>
          </p:cNvPr>
          <p:cNvSpPr>
            <a:spLocks noGrp="1"/>
          </p:cNvSpPr>
          <p:nvPr/>
        </p:nvSpPr>
        <p:spPr>
          <a:xfrm>
            <a:off x="65532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phase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sample_en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response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6E3D5A8-52B1-4561-8046-4D7E9A4CCF6D}"/>
              </a:ext>
            </a:extLst>
          </p:cNvPr>
          <p:cNvSpPr>
            <a:spLocks noGrp="1"/>
          </p:cNvSpPr>
          <p:nvPr/>
        </p:nvSpPr>
        <p:spPr>
          <a:xfrm>
            <a:off x="91440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F75DEB8-126C-4230-B716-153EA3EEA728}"/>
              </a:ext>
            </a:extLst>
          </p:cNvPr>
          <p:cNvSpPr>
            <a:spLocks noGrp="1"/>
          </p:cNvSpPr>
          <p:nvPr/>
        </p:nvSpPr>
        <p:spPr>
          <a:xfrm>
            <a:off x="9144000" y="1619250"/>
            <a:ext cx="66675" cy="12573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1256707-121E-4F96-A985-90ABA45D4B38}"/>
              </a:ext>
            </a:extLst>
          </p:cNvPr>
          <p:cNvSpPr>
            <a:spLocks noGrp="1"/>
          </p:cNvSpPr>
          <p:nvPr/>
        </p:nvSpPr>
        <p:spPr>
          <a:xfrm>
            <a:off x="93345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ST_WRITE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815C9F1-F824-4AEF-BCBA-F549147C8380}"/>
              </a:ext>
            </a:extLst>
          </p:cNvPr>
          <p:cNvSpPr>
            <a:spLocks noGrp="1"/>
          </p:cNvSpPr>
          <p:nvPr/>
        </p:nvSpPr>
        <p:spPr>
          <a:xfrm>
            <a:off x="93345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phase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4157BEE1-0749-4A0B-B29D-07930A710FF5}"/>
              </a:ext>
            </a:extLst>
          </p:cNvPr>
          <p:cNvSpPr>
            <a:spLocks noGrp="1"/>
          </p:cNvSpPr>
          <p:nvPr/>
        </p:nvSpPr>
        <p:spPr>
          <a:xfrm>
            <a:off x="2286000" y="3333750"/>
            <a:ext cx="2095500" cy="4191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916B50D-48F5-4411-844A-F994A98B8481}"/>
              </a:ext>
            </a:extLst>
          </p:cNvPr>
          <p:cNvSpPr>
            <a:spLocks noGrp="1"/>
          </p:cNvSpPr>
          <p:nvPr/>
        </p:nvSpPr>
        <p:spPr>
          <a:xfrm>
            <a:off x="2381250" y="3400425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READ→WRITE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15CE5B9-1F67-4E52-8507-950491056025}"/>
              </a:ext>
            </a:extLst>
          </p:cNvPr>
          <p:cNvSpPr>
            <a:spLocks noGrp="1"/>
          </p:cNvSpPr>
          <p:nvPr/>
        </p:nvSpPr>
        <p:spPr>
          <a:xfrm>
            <a:off x="4686300" y="3429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9D55553C-66F3-4D6C-A792-8842F61AB6F4}"/>
              </a:ext>
            </a:extLst>
          </p:cNvPr>
          <p:cNvSpPr>
            <a:spLocks noGrp="1"/>
          </p:cNvSpPr>
          <p:nvPr/>
        </p:nvSpPr>
        <p:spPr>
          <a:xfrm>
            <a:off x="6896100" y="3333750"/>
            <a:ext cx="2095500" cy="4191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D82E511-E564-462D-91F8-486F744062D6}"/>
              </a:ext>
            </a:extLst>
          </p:cNvPr>
          <p:cNvSpPr>
            <a:spLocks noGrp="1"/>
          </p:cNvSpPr>
          <p:nvPr/>
        </p:nvSpPr>
        <p:spPr>
          <a:xfrm>
            <a:off x="6991350" y="3400425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WRITE→READ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D12C8A8-15BA-4705-B349-0DFCA4B0C967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978898D-B12C-40C4-ACB2-232AC5E7B937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66675" cy="10668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E04E648-657D-444F-8BB6-D910E969A76E}"/>
              </a:ext>
            </a:extLst>
          </p:cNvPr>
          <p:cNvSpPr>
            <a:spLocks noGrp="1"/>
          </p:cNvSpPr>
          <p:nvPr/>
        </p:nvSpPr>
        <p:spPr>
          <a:xfrm>
            <a:off x="129540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invariant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D65CE47-17DC-4883-8516-AABBBAEDCA3F}"/>
              </a:ext>
            </a:extLst>
          </p:cNvPr>
          <p:cNvSpPr>
            <a:spLocks noGrp="1"/>
          </p:cNvSpPr>
          <p:nvPr/>
        </p:nvSpPr>
        <p:spPr>
          <a:xfrm>
            <a:off x="129540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Hi-Z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IC가 data drive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1DCB949-E844-45BA-9EAB-8B74C0A4666C}"/>
              </a:ext>
            </a:extLst>
          </p:cNvPr>
          <p:cNvSpPr>
            <a:spLocks noGrp="1"/>
          </p:cNvSpPr>
          <p:nvPr/>
        </p:nvSpPr>
        <p:spPr>
          <a:xfrm>
            <a:off x="466725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32D7178-5F6D-4F26-A3A0-7CB6A3D71523}"/>
              </a:ext>
            </a:extLst>
          </p:cNvPr>
          <p:cNvSpPr>
            <a:spLocks noGrp="1"/>
          </p:cNvSpPr>
          <p:nvPr/>
        </p:nvSpPr>
        <p:spPr>
          <a:xfrm>
            <a:off x="4667250" y="4381500"/>
            <a:ext cx="66675" cy="10668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FF78F9B-F0FA-42E2-91CC-7E19F9E99537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invariant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8321A25-F10A-4814-8BB0-D59AE8541615}"/>
              </a:ext>
            </a:extLst>
          </p:cNvPr>
          <p:cNvSpPr>
            <a:spLocks noGrp="1"/>
          </p:cNvSpPr>
          <p:nvPr/>
        </p:nvSpPr>
        <p:spPr>
          <a:xfrm>
            <a:off x="485775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drive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OEN HIGH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EA70CA5-30A0-431A-9868-FBB3FC7F5C68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F95D55E-34FB-4AC6-AB9B-DF08D1F1FBDB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66675" cy="10668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9F8F655-D410-45C7-9470-B493B614441A}"/>
              </a:ext>
            </a:extLst>
          </p:cNvPr>
          <p:cNvSpPr>
            <a:spLocks noGrp="1"/>
          </p:cNvSpPr>
          <p:nvPr/>
        </p:nvSpPr>
        <p:spPr>
          <a:xfrm>
            <a:off x="842010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OEN low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BF67DC5-1685-48D4-BE09-42680665F1E7}"/>
              </a:ext>
            </a:extLst>
          </p:cNvPr>
          <p:cNvSpPr>
            <a:spLocks noGrp="1"/>
          </p:cNvSpPr>
          <p:nvPr/>
        </p:nvSpPr>
        <p:spPr>
          <a:xfrm>
            <a:off x="842010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drain burst 전용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GPX가 계속 drive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C081D70-AB1E-4597-BCD5-457EEB231514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p.8 / bus_phy:151-156, 359-512, 54-60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55DD7D0-DE9C-4504-9847-6B7A1E1B646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1D3220C-A4D1-4DBA-8542-3E7C3182E283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v002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481601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D506397C-AFE9-4998-9EC1-C91F792105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6628601-5804-4A5D-9D36-DEB533B31777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4C5C2A-4089-4253-9C8C-F885F0E98D37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2D0C9A-2490-46B8-B345-B72D19C6AF8B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AXI-Stream response 계약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36022D-15D7-4526-B247-C70CB5352AF3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06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957221B-BBC0-4116-8D55-A9D458FB330A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83E5C1-DFD2-4D5E-99B3-15EE447C0885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66675" cy="16764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2A9F11F-203C-4B16-9C0F-2DCF25C8C984}"/>
              </a:ext>
            </a:extLst>
          </p:cNvPr>
          <p:cNvSpPr>
            <a:spLocks noGrp="1"/>
          </p:cNvSpPr>
          <p:nvPr/>
        </p:nvSpPr>
        <p:spPr>
          <a:xfrm>
            <a:off x="112395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response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93EBD1-81C4-4477-AF90-BEE3FCC4DCDD}"/>
              </a:ext>
            </a:extLst>
          </p:cNvPr>
          <p:cNvSpPr>
            <a:spLocks noGrp="1"/>
          </p:cNvSpPr>
          <p:nvPr/>
        </p:nvSpPr>
        <p:spPr>
          <a:xfrm>
            <a:off x="112395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tdata[27:0]=read data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tdata[31:28]=0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2DF95F1-E69D-48F8-BD6D-668C02AEA10A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FC8AC1-7169-46F5-ACE2-3C8549A0BA2A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66675" cy="16764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4BEF2F7-A96C-44C0-86BD-0648792A38BE}"/>
              </a:ext>
            </a:extLst>
          </p:cNvPr>
          <p:cNvSpPr>
            <a:spLocks noGrp="1"/>
          </p:cNvSpPr>
          <p:nvPr/>
        </p:nvSpPr>
        <p:spPr>
          <a:xfrm>
            <a:off x="483870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ack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F3938B5-0C6E-4C8E-BED9-0D27FF4C2A57}"/>
              </a:ext>
            </a:extLst>
          </p:cNvPr>
          <p:cNvSpPr>
            <a:spLocks noGrp="1"/>
          </p:cNvSpPr>
          <p:nvPr/>
        </p:nvSpPr>
        <p:spPr>
          <a:xfrm>
            <a:off x="483870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tuser[0]=1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tkeep=1111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A1B2C84-2EF2-4A01-BC9C-671983422C8F}"/>
              </a:ext>
            </a:extLst>
          </p:cNvPr>
          <p:cNvSpPr>
            <a:spLocks noGrp="1"/>
          </p:cNvSpPr>
          <p:nvPr/>
        </p:nvSpPr>
        <p:spPr>
          <a:xfrm>
            <a:off x="836295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444A186-7FFC-4730-A0B9-89188F7A27DB}"/>
              </a:ext>
            </a:extLst>
          </p:cNvPr>
          <p:cNvSpPr>
            <a:spLocks noGrp="1"/>
          </p:cNvSpPr>
          <p:nvPr/>
        </p:nvSpPr>
        <p:spPr>
          <a:xfrm>
            <a:off x="8362950" y="1562100"/>
            <a:ext cx="66675" cy="16764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D9291B7-4A77-4611-9406-DDEF209C187D}"/>
              </a:ext>
            </a:extLst>
          </p:cNvPr>
          <p:cNvSpPr>
            <a:spLocks noGrp="1"/>
          </p:cNvSpPr>
          <p:nvPr/>
        </p:nvSpPr>
        <p:spPr>
          <a:xfrm>
            <a:off x="855345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hold rule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2C5000-4896-4EB5-82AB-AA12A92B373B}"/>
              </a:ext>
            </a:extLst>
          </p:cNvPr>
          <p:cNvSpPr>
            <a:spLocks noGrp="1"/>
          </p:cNvSpPr>
          <p:nvPr/>
        </p:nvSpPr>
        <p:spPr>
          <a:xfrm>
            <a:off x="855345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tvalid는 tready까지 유지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남은 response가 있으면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새 request accept 금지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117E26-8D04-45BB-A0D0-CC9B3EC91214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chip_ctrl 소비 규칙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157ADFC-52A9-4E41-A5B4-65C0974F0E61}"/>
              </a:ext>
            </a:extLst>
          </p:cNvPr>
          <p:cNvSpPr>
            <a:spLocks noGrp="1"/>
          </p:cNvSpPr>
          <p:nvPr/>
        </p:nvSpPr>
        <p:spPr>
          <a:xfrm>
            <a:off x="1104900" y="4343400"/>
            <a:ext cx="8191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 tvalid가 아니라 `tvalid AND tready`인 fire pulse를 사용합니다. tready가 0이면 같은 beat를 중복 소비하지 않고, pending 신호로 watchdog을 freeze합니다.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8F385C5-C4BC-4414-80BD-1D8A98FDC862}"/>
              </a:ext>
            </a:extLst>
          </p:cNvPr>
          <p:cNvSpPr>
            <a:spLocks noGrp="1"/>
          </p:cNvSpPr>
          <p:nvPr/>
        </p:nvSpPr>
        <p:spPr>
          <a:xfrm>
            <a:off x="9410700" y="409575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2890B1B-95FC-49E5-A0EF-2B26C0A72A34}"/>
              </a:ext>
            </a:extLst>
          </p:cNvPr>
          <p:cNvSpPr>
            <a:spLocks noGrp="1"/>
          </p:cNvSpPr>
          <p:nvPr/>
        </p:nvSpPr>
        <p:spPr>
          <a:xfrm>
            <a:off x="9410700" y="4095750"/>
            <a:ext cx="66675" cy="9144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CACF242-AE27-4092-964E-0A2EEA24C132}"/>
              </a:ext>
            </a:extLst>
          </p:cNvPr>
          <p:cNvSpPr>
            <a:spLocks noGrp="1"/>
          </p:cNvSpPr>
          <p:nvPr/>
        </p:nvSpPr>
        <p:spPr>
          <a:xfrm>
            <a:off x="9601200" y="42481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pending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A525345-C0EA-4C2C-8B07-2708B72B08BA}"/>
              </a:ext>
            </a:extLst>
          </p:cNvPr>
          <p:cNvSpPr>
            <a:spLocks noGrp="1"/>
          </p:cNvSpPr>
          <p:nvPr/>
        </p:nvSpPr>
        <p:spPr>
          <a:xfrm>
            <a:off x="9601200" y="4572000"/>
            <a:ext cx="1390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internal deferred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or AXIS hold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E607B5E-34A1-4FD4-BB46-1D2B393B3C8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bus_phy:327-350, 654-660 / chip_ctrl:592-614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9274A27-9934-411C-9D4F-EEDAB6E51110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5BAD224-61B1-4FBB-8B12-CE2B65F32D99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v002 · 2026-04-29</a:t>
            </a:r>
          </a:p>
        </p:txBody>
      </p:sp>
    </p:spTree>
    <p:extLst>
      <p:ext uri="{BB962C8B-B14F-4D97-AF65-F5344CB8AC3E}">
        <p14:creationId xmlns:p14="http://schemas.microsoft.com/office/powerpoint/2010/main" val="75020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D0304C36-D2F2-4016-BEB7-E6EB520AD2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16CC17-F165-4FF5-8B30-C03236892469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D4A4980-B9CF-4309-BCAC-0F58B9BDED42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4DFD43-EB91-469C-A9AA-DBCCDF795ED0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Burst READ와 IFIFO drain 의미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A898FF-23C7-4960-BAB4-8E51854F007F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07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90639F4-EA2A-4C56-9F7A-D1F29C4BC117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349990-6C5E-4A3A-AD57-40BC7C204408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66675" cy="13716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951BE0-64E8-451F-A1AC-9870B0EBF35D}"/>
              </a:ext>
            </a:extLst>
          </p:cNvPr>
          <p:cNvSpPr>
            <a:spLocks noGrp="1"/>
          </p:cNvSpPr>
          <p:nvPr/>
        </p:nvSpPr>
        <p:spPr>
          <a:xfrm>
            <a:off x="104775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5F59599-277A-4FAB-B404-EF2B8D16D8F2}"/>
              </a:ext>
            </a:extLst>
          </p:cNvPr>
          <p:cNvSpPr>
            <a:spLocks noGrp="1"/>
          </p:cNvSpPr>
          <p:nvPr/>
        </p:nvSpPr>
        <p:spPr>
          <a:xfrm>
            <a:off x="104775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IFIFO drain 중 back-to-back READ를 수행해 bus overhead를 줄입니다.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334AD81-8618-4324-87B8-1BB472794EF9}"/>
              </a:ext>
            </a:extLst>
          </p:cNvPr>
          <p:cNvSpPr>
            <a:spLocks noGrp="1"/>
          </p:cNvSpPr>
          <p:nvPr/>
        </p:nvSpPr>
        <p:spPr>
          <a:xfrm>
            <a:off x="453390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01BF65-DFB0-4994-995B-61B2744B53CF}"/>
              </a:ext>
            </a:extLst>
          </p:cNvPr>
          <p:cNvSpPr>
            <a:spLocks noGrp="1"/>
          </p:cNvSpPr>
          <p:nvPr/>
        </p:nvSpPr>
        <p:spPr>
          <a:xfrm>
            <a:off x="4533900" y="1409700"/>
            <a:ext cx="66675" cy="13716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224E6C-85AB-465D-8C63-9BC55CDB04DE}"/>
              </a:ext>
            </a:extLst>
          </p:cNvPr>
          <p:cNvSpPr>
            <a:spLocks noGrp="1"/>
          </p:cNvSpPr>
          <p:nvPr/>
        </p:nvSpPr>
        <p:spPr>
          <a:xfrm>
            <a:off x="472440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latched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3860110-78B8-4A2B-BDF4-8012333C4DE5}"/>
              </a:ext>
            </a:extLst>
          </p:cNvPr>
          <p:cNvSpPr>
            <a:spLocks noGrp="1"/>
          </p:cNvSpPr>
          <p:nvPr/>
        </p:nvSpPr>
        <p:spPr>
          <a:xfrm>
            <a:off x="472440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`s_oen_perm_r`는 burst 시작 시 latch되어 중간 흔들림을 막습니다.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4DAB975-3269-4C56-A66E-925780A8000B}"/>
              </a:ext>
            </a:extLst>
          </p:cNvPr>
          <p:cNvSpPr>
            <a:spLocks noGrp="1"/>
          </p:cNvSpPr>
          <p:nvPr/>
        </p:nvSpPr>
        <p:spPr>
          <a:xfrm>
            <a:off x="821055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88C6DD1-E077-4E2B-931D-A970AC0CE166}"/>
              </a:ext>
            </a:extLst>
          </p:cNvPr>
          <p:cNvSpPr>
            <a:spLocks noGrp="1"/>
          </p:cNvSpPr>
          <p:nvPr/>
        </p:nvSpPr>
        <p:spPr>
          <a:xfrm>
            <a:off x="8210550" y="1409700"/>
            <a:ext cx="66675" cy="13716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6D9FE27-2F2C-4F38-B517-3AEC268DB20D}"/>
              </a:ext>
            </a:extLst>
          </p:cNvPr>
          <p:cNvSpPr>
            <a:spLocks noGrp="1"/>
          </p:cNvSpPr>
          <p:nvPr/>
        </p:nvSpPr>
        <p:spPr>
          <a:xfrm>
            <a:off x="840105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 rule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A66F904-6EBB-4ED0-9CBB-193491AC8E89}"/>
              </a:ext>
            </a:extLst>
          </p:cNvPr>
          <p:cNvSpPr>
            <a:spLocks noGrp="1"/>
          </p:cNvSpPr>
          <p:nvPr/>
        </p:nvSpPr>
        <p:spPr>
          <a:xfrm>
            <a:off x="840105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empty FIFO read 금지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 active HIGH 기준은 C02에서 검증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D4E1440-9EC2-4143-972E-6D28EBAEF511}"/>
              </a:ext>
            </a:extLst>
          </p:cNvPr>
          <p:cNvSpPr>
            <a:spLocks noGrp="1"/>
          </p:cNvSpPr>
          <p:nvPr/>
        </p:nvSpPr>
        <p:spPr>
          <a:xfrm>
            <a:off x="1123950" y="3752850"/>
            <a:ext cx="1714500" cy="514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25159E4-DE79-4B9B-B836-3DA9BF83B306}"/>
              </a:ext>
            </a:extLst>
          </p:cNvPr>
          <p:cNvSpPr>
            <a:spLocks noGrp="1"/>
          </p:cNvSpPr>
          <p:nvPr/>
        </p:nvSpPr>
        <p:spPr>
          <a:xfrm>
            <a:off x="1333500" y="39052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D94613A-831C-4EFA-A079-FBD5DC695DF4}"/>
              </a:ext>
            </a:extLst>
          </p:cNvPr>
          <p:cNvSpPr>
            <a:spLocks noGrp="1"/>
          </p:cNvSpPr>
          <p:nvPr/>
        </p:nvSpPr>
        <p:spPr>
          <a:xfrm>
            <a:off x="2838450" y="3752850"/>
            <a:ext cx="10668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AB1CAF-7D63-40A3-950D-95C341C9571D}"/>
              </a:ext>
            </a:extLst>
          </p:cNvPr>
          <p:cNvSpPr>
            <a:spLocks noGrp="1"/>
          </p:cNvSpPr>
          <p:nvPr/>
        </p:nvSpPr>
        <p:spPr>
          <a:xfrm>
            <a:off x="2933700" y="3848100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744"/>
          </a:bodyPr>
          <a:lstStyle/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RDN high</a:t>
            </a:r>
          </a:p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 ticks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0AA10F-3577-49FD-9D69-8D2F30FEFC0E}"/>
              </a:ext>
            </a:extLst>
          </p:cNvPr>
          <p:cNvSpPr>
            <a:spLocks noGrp="1"/>
          </p:cNvSpPr>
          <p:nvPr/>
        </p:nvSpPr>
        <p:spPr>
          <a:xfrm>
            <a:off x="3905250" y="3752850"/>
            <a:ext cx="1714500" cy="514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15F20B8-B6B7-4DEE-A569-C1C5F1F81F05}"/>
              </a:ext>
            </a:extLst>
          </p:cNvPr>
          <p:cNvSpPr>
            <a:spLocks noGrp="1"/>
          </p:cNvSpPr>
          <p:nvPr/>
        </p:nvSpPr>
        <p:spPr>
          <a:xfrm>
            <a:off x="4095750" y="3905250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n+1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0DCBB98D-E2AE-44C2-86DA-254986C64D46}"/>
              </a:ext>
            </a:extLst>
          </p:cNvPr>
          <p:cNvSpPr>
            <a:spLocks noGrp="1"/>
          </p:cNvSpPr>
          <p:nvPr/>
        </p:nvSpPr>
        <p:spPr>
          <a:xfrm>
            <a:off x="6076950" y="3810000"/>
            <a:ext cx="1809750" cy="4000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C9D7464-0DC8-42AB-BD8C-FAE51A4ADC2E}"/>
              </a:ext>
            </a:extLst>
          </p:cNvPr>
          <p:cNvSpPr>
            <a:spLocks noGrp="1"/>
          </p:cNvSpPr>
          <p:nvPr/>
        </p:nvSpPr>
        <p:spPr>
          <a:xfrm>
            <a:off x="6172200" y="3876675"/>
            <a:ext cx="1543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 consumed?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7080026-26A6-4AC0-A79A-483ABC615AA9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2667000" cy="1047750"/>
          </a:xfrm>
          <a:prstGeom prst="roundRect">
            <a:avLst>
              <a:gd name="adj" fmla="val 727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E9DC8CE-DF0F-4F6E-9016-7FB47961F6D2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66675" cy="10477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9E00646-B739-4460-811A-0B9A8196D34C}"/>
              </a:ext>
            </a:extLst>
          </p:cNvPr>
          <p:cNvSpPr>
            <a:spLocks noGrp="1"/>
          </p:cNvSpPr>
          <p:nvPr/>
        </p:nvSpPr>
        <p:spPr>
          <a:xfrm>
            <a:off x="8362950" y="36766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backpressure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2EF30C7-5D84-47F1-A716-8353BE08A4E8}"/>
              </a:ext>
            </a:extLst>
          </p:cNvPr>
          <p:cNvSpPr>
            <a:spLocks noGrp="1"/>
          </p:cNvSpPr>
          <p:nvPr/>
        </p:nvSpPr>
        <p:spPr>
          <a:xfrm>
            <a:off x="8362950" y="4000500"/>
            <a:ext cx="23431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response가 소비되지 않으면 다음 burst read로 진행하지 않습니다.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7B4586A-0E3F-4297-A23F-7492D31BD296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p.7,p.11-12 / bus_phy:552-576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7B6C232-86A7-42E0-9DDC-1CDE71E4A95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9691726-FD48-40A7-8951-7CE7D643827A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v002 · 2026-04-29</a:t>
            </a:r>
          </a:p>
        </p:txBody>
      </p:sp>
    </p:spTree>
    <p:extLst>
      <p:ext uri="{BB962C8B-B14F-4D97-AF65-F5344CB8AC3E}">
        <p14:creationId xmlns:p14="http://schemas.microsoft.com/office/powerpoint/2010/main" val="686785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>
            <a:extLst>
              <a:ext uri="{FF2B5EF4-FFF2-40B4-BE49-F238E27FC236}">
                <a16:creationId xmlns:a16="http://schemas.microsoft.com/office/drawing/2014/main" id="{38E81F0A-2E44-418A-862E-59900BF662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F44882-B348-49BB-A0F7-981453210655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C04B25-A547-4D8D-A6C8-D60069F57EA8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4B86728-2074-440A-BC75-26D190F4F60A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Status pin synchronizer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A79988-6671-46A3-AE19-0DA206E2D9D7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08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358A9AB-77D1-421B-A1C4-07D109D5DE0C}"/>
              </a:ext>
            </a:extLst>
          </p:cNvPr>
          <p:cNvSpPr>
            <a:spLocks noGrp="1"/>
          </p:cNvSpPr>
          <p:nvPr/>
        </p:nvSpPr>
        <p:spPr>
          <a:xfrm>
            <a:off x="762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EDBF37-3B87-45EA-A664-46814AB66839}"/>
              </a:ext>
            </a:extLst>
          </p:cNvPr>
          <p:cNvSpPr>
            <a:spLocks noGrp="1"/>
          </p:cNvSpPr>
          <p:nvPr/>
        </p:nvSpPr>
        <p:spPr>
          <a:xfrm>
            <a:off x="933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EF1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9B8757FA-2C43-4979-B192-E0FC9C0E0098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872E0F0-4E87-4718-8BC0-C307EBB156B6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61A2AA6-2828-4FA6-9474-2E07EB709569}"/>
              </a:ext>
            </a:extLst>
          </p:cNvPr>
          <p:cNvSpPr>
            <a:spLocks noGrp="1"/>
          </p:cNvSpPr>
          <p:nvPr/>
        </p:nvSpPr>
        <p:spPr>
          <a:xfrm>
            <a:off x="876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C03D684-5812-4296-AC32-CEC2C8076BB4}"/>
              </a:ext>
            </a:extLst>
          </p:cNvPr>
          <p:cNvSpPr>
            <a:spLocks noGrp="1"/>
          </p:cNvSpPr>
          <p:nvPr/>
        </p:nvSpPr>
        <p:spPr>
          <a:xfrm>
            <a:off x="1314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6DBB0E3-0AC4-4ADD-A807-3165551D824D}"/>
              </a:ext>
            </a:extLst>
          </p:cNvPr>
          <p:cNvSpPr>
            <a:spLocks noGrp="1"/>
          </p:cNvSpPr>
          <p:nvPr/>
        </p:nvSpPr>
        <p:spPr>
          <a:xfrm>
            <a:off x="1352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E2C0BAAE-41F5-45C8-BF45-F4A1A6443A4C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1997E14-8230-40A6-9342-E0EEF23E0774}"/>
              </a:ext>
            </a:extLst>
          </p:cNvPr>
          <p:cNvSpPr>
            <a:spLocks noGrp="1"/>
          </p:cNvSpPr>
          <p:nvPr/>
        </p:nvSpPr>
        <p:spPr>
          <a:xfrm>
            <a:off x="2476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9225C7-59AE-4384-92E8-89E04ECA9C05}"/>
              </a:ext>
            </a:extLst>
          </p:cNvPr>
          <p:cNvSpPr>
            <a:spLocks noGrp="1"/>
          </p:cNvSpPr>
          <p:nvPr/>
        </p:nvSpPr>
        <p:spPr>
          <a:xfrm>
            <a:off x="2647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EF2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26F87DE6-306F-4117-A823-2BA3934AA213}"/>
              </a:ext>
            </a:extLst>
          </p:cNvPr>
          <p:cNvSpPr>
            <a:spLocks noGrp="1"/>
          </p:cNvSpPr>
          <p:nvPr/>
        </p:nvSpPr>
        <p:spPr>
          <a:xfrm>
            <a:off x="2667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22D5D7-9CE3-4BA3-89C7-56D6FDAE1775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4B008E0-FE4F-4B1F-BC6A-3A117893B500}"/>
              </a:ext>
            </a:extLst>
          </p:cNvPr>
          <p:cNvSpPr>
            <a:spLocks noGrp="1"/>
          </p:cNvSpPr>
          <p:nvPr/>
        </p:nvSpPr>
        <p:spPr>
          <a:xfrm>
            <a:off x="2590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C1EE43-A4BA-4E86-A5B5-D0294EC26272}"/>
              </a:ext>
            </a:extLst>
          </p:cNvPr>
          <p:cNvSpPr>
            <a:spLocks noGrp="1"/>
          </p:cNvSpPr>
          <p:nvPr/>
        </p:nvSpPr>
        <p:spPr>
          <a:xfrm>
            <a:off x="3028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FFD9407-DF60-4187-B91E-4DD0C2639F08}"/>
              </a:ext>
            </a:extLst>
          </p:cNvPr>
          <p:cNvSpPr>
            <a:spLocks noGrp="1"/>
          </p:cNvSpPr>
          <p:nvPr/>
        </p:nvSpPr>
        <p:spPr>
          <a:xfrm>
            <a:off x="3067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B3EAF581-4983-4008-AA2B-E51B46379F06}"/>
              </a:ext>
            </a:extLst>
          </p:cNvPr>
          <p:cNvSpPr>
            <a:spLocks noGrp="1"/>
          </p:cNvSpPr>
          <p:nvPr/>
        </p:nvSpPr>
        <p:spPr>
          <a:xfrm>
            <a:off x="2667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BDFBA0E-88BF-4FA7-BEC5-93F274140972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9E32A50-3150-440E-971D-AF07294E4171}"/>
              </a:ext>
            </a:extLst>
          </p:cNvPr>
          <p:cNvSpPr>
            <a:spLocks noGrp="1"/>
          </p:cNvSpPr>
          <p:nvPr/>
        </p:nvSpPr>
        <p:spPr>
          <a:xfrm>
            <a:off x="4362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LF1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2A490201-F059-489D-B944-780C0BE9D6F7}"/>
              </a:ext>
            </a:extLst>
          </p:cNvPr>
          <p:cNvSpPr>
            <a:spLocks noGrp="1"/>
          </p:cNvSpPr>
          <p:nvPr/>
        </p:nvSpPr>
        <p:spPr>
          <a:xfrm>
            <a:off x="4381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297F326-8CB1-45CC-A348-6CB49D777DF7}"/>
              </a:ext>
            </a:extLst>
          </p:cNvPr>
          <p:cNvSpPr>
            <a:spLocks noGrp="1"/>
          </p:cNvSpPr>
          <p:nvPr/>
        </p:nvSpPr>
        <p:spPr>
          <a:xfrm>
            <a:off x="4267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E60E4E2-C266-431A-BF7E-6AA61AE6005F}"/>
              </a:ext>
            </a:extLst>
          </p:cNvPr>
          <p:cNvSpPr>
            <a:spLocks noGrp="1"/>
          </p:cNvSpPr>
          <p:nvPr/>
        </p:nvSpPr>
        <p:spPr>
          <a:xfrm>
            <a:off x="4305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6DF5661-DF87-41FA-B6BD-F418783F058F}"/>
              </a:ext>
            </a:extLst>
          </p:cNvPr>
          <p:cNvSpPr>
            <a:spLocks noGrp="1"/>
          </p:cNvSpPr>
          <p:nvPr/>
        </p:nvSpPr>
        <p:spPr>
          <a:xfrm>
            <a:off x="4743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C7554AC-EAE7-4EC7-AC06-931D53082475}"/>
              </a:ext>
            </a:extLst>
          </p:cNvPr>
          <p:cNvSpPr>
            <a:spLocks noGrp="1"/>
          </p:cNvSpPr>
          <p:nvPr/>
        </p:nvSpPr>
        <p:spPr>
          <a:xfrm>
            <a:off x="4781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6415E5CB-FC3B-46DD-95E9-9A050D5B5BBC}"/>
              </a:ext>
            </a:extLst>
          </p:cNvPr>
          <p:cNvSpPr>
            <a:spLocks noGrp="1"/>
          </p:cNvSpPr>
          <p:nvPr/>
        </p:nvSpPr>
        <p:spPr>
          <a:xfrm>
            <a:off x="4381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62D5DB7-AD10-441C-9FE8-F3F34DB34320}"/>
              </a:ext>
            </a:extLst>
          </p:cNvPr>
          <p:cNvSpPr>
            <a:spLocks noGrp="1"/>
          </p:cNvSpPr>
          <p:nvPr/>
        </p:nvSpPr>
        <p:spPr>
          <a:xfrm>
            <a:off x="5905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DEB68BD-65CB-4D88-A073-298ADC9C1218}"/>
              </a:ext>
            </a:extLst>
          </p:cNvPr>
          <p:cNvSpPr>
            <a:spLocks noGrp="1"/>
          </p:cNvSpPr>
          <p:nvPr/>
        </p:nvSpPr>
        <p:spPr>
          <a:xfrm>
            <a:off x="6076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LF2</a:t>
            </a: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6453C5BE-B841-46FC-8CCF-B080B868F563}"/>
              </a:ext>
            </a:extLst>
          </p:cNvPr>
          <p:cNvSpPr>
            <a:spLocks noGrp="1"/>
          </p:cNvSpPr>
          <p:nvPr/>
        </p:nvSpPr>
        <p:spPr>
          <a:xfrm>
            <a:off x="6096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F6B4836-3F01-4CDA-B53B-B77076A1ED49}"/>
              </a:ext>
            </a:extLst>
          </p:cNvPr>
          <p:cNvSpPr>
            <a:spLocks noGrp="1"/>
          </p:cNvSpPr>
          <p:nvPr/>
        </p:nvSpPr>
        <p:spPr>
          <a:xfrm>
            <a:off x="5981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236CE2F-0C26-43CC-9DB9-21C4E9A9E9B2}"/>
              </a:ext>
            </a:extLst>
          </p:cNvPr>
          <p:cNvSpPr>
            <a:spLocks noGrp="1"/>
          </p:cNvSpPr>
          <p:nvPr/>
        </p:nvSpPr>
        <p:spPr>
          <a:xfrm>
            <a:off x="6019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CCBFE4-00EB-4322-AC98-3C9ED0D1FB7B}"/>
              </a:ext>
            </a:extLst>
          </p:cNvPr>
          <p:cNvSpPr>
            <a:spLocks noGrp="1"/>
          </p:cNvSpPr>
          <p:nvPr/>
        </p:nvSpPr>
        <p:spPr>
          <a:xfrm>
            <a:off x="6457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87A9ABE-E1BA-4878-8C0E-6A02B057755D}"/>
              </a:ext>
            </a:extLst>
          </p:cNvPr>
          <p:cNvSpPr>
            <a:spLocks noGrp="1"/>
          </p:cNvSpPr>
          <p:nvPr/>
        </p:nvSpPr>
        <p:spPr>
          <a:xfrm>
            <a:off x="6496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E7A23CE6-FA87-4116-8782-302FCA736BEC}"/>
              </a:ext>
            </a:extLst>
          </p:cNvPr>
          <p:cNvSpPr>
            <a:spLocks noGrp="1"/>
          </p:cNvSpPr>
          <p:nvPr/>
        </p:nvSpPr>
        <p:spPr>
          <a:xfrm>
            <a:off x="6096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C470EB5-436E-4BE5-910A-84602374F39B}"/>
              </a:ext>
            </a:extLst>
          </p:cNvPr>
          <p:cNvSpPr>
            <a:spLocks noGrp="1"/>
          </p:cNvSpPr>
          <p:nvPr/>
        </p:nvSpPr>
        <p:spPr>
          <a:xfrm>
            <a:off x="7620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770255B-C786-4F9B-8F70-28B7425947E9}"/>
              </a:ext>
            </a:extLst>
          </p:cNvPr>
          <p:cNvSpPr>
            <a:spLocks noGrp="1"/>
          </p:cNvSpPr>
          <p:nvPr/>
        </p:nvSpPr>
        <p:spPr>
          <a:xfrm>
            <a:off x="7791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IrFlag</a:t>
            </a: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19C4C956-E29B-4120-89B1-47B8342500E0}"/>
              </a:ext>
            </a:extLst>
          </p:cNvPr>
          <p:cNvSpPr>
            <a:spLocks noGrp="1"/>
          </p:cNvSpPr>
          <p:nvPr/>
        </p:nvSpPr>
        <p:spPr>
          <a:xfrm>
            <a:off x="7810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7E227C3-448E-437B-998E-60AC384920DF}"/>
              </a:ext>
            </a:extLst>
          </p:cNvPr>
          <p:cNvSpPr>
            <a:spLocks noGrp="1"/>
          </p:cNvSpPr>
          <p:nvPr/>
        </p:nvSpPr>
        <p:spPr>
          <a:xfrm>
            <a:off x="7696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B0EBD23-7340-432F-9816-924A93873225}"/>
              </a:ext>
            </a:extLst>
          </p:cNvPr>
          <p:cNvSpPr>
            <a:spLocks noGrp="1"/>
          </p:cNvSpPr>
          <p:nvPr/>
        </p:nvSpPr>
        <p:spPr>
          <a:xfrm>
            <a:off x="7734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11B11E4-0B5D-4E5C-81DE-75A3BE61011B}"/>
              </a:ext>
            </a:extLst>
          </p:cNvPr>
          <p:cNvSpPr>
            <a:spLocks noGrp="1"/>
          </p:cNvSpPr>
          <p:nvPr/>
        </p:nvSpPr>
        <p:spPr>
          <a:xfrm>
            <a:off x="8172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11D7CC3-5DBA-4FA2-B024-1EC018380163}"/>
              </a:ext>
            </a:extLst>
          </p:cNvPr>
          <p:cNvSpPr>
            <a:spLocks noGrp="1"/>
          </p:cNvSpPr>
          <p:nvPr/>
        </p:nvSpPr>
        <p:spPr>
          <a:xfrm>
            <a:off x="8210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C66F8A51-7606-44BE-B012-8729FBAD8971}"/>
              </a:ext>
            </a:extLst>
          </p:cNvPr>
          <p:cNvSpPr>
            <a:spLocks noGrp="1"/>
          </p:cNvSpPr>
          <p:nvPr/>
        </p:nvSpPr>
        <p:spPr>
          <a:xfrm>
            <a:off x="7810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D128C69-1855-42A8-AE44-4CC1A692D237}"/>
              </a:ext>
            </a:extLst>
          </p:cNvPr>
          <p:cNvSpPr>
            <a:spLocks noGrp="1"/>
          </p:cNvSpPr>
          <p:nvPr/>
        </p:nvSpPr>
        <p:spPr>
          <a:xfrm>
            <a:off x="9334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2A74E08-FE90-451C-B243-DF42D1275A36}"/>
              </a:ext>
            </a:extLst>
          </p:cNvPr>
          <p:cNvSpPr>
            <a:spLocks noGrp="1"/>
          </p:cNvSpPr>
          <p:nvPr/>
        </p:nvSpPr>
        <p:spPr>
          <a:xfrm>
            <a:off x="9505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ErrFlag</a:t>
            </a:r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1F61F2F5-488D-44AE-B8A7-0D7680798E29}"/>
              </a:ext>
            </a:extLst>
          </p:cNvPr>
          <p:cNvSpPr>
            <a:spLocks noGrp="1"/>
          </p:cNvSpPr>
          <p:nvPr/>
        </p:nvSpPr>
        <p:spPr>
          <a:xfrm>
            <a:off x="9525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7D5B616-AE47-4D7D-9607-20985B45BE8C}"/>
              </a:ext>
            </a:extLst>
          </p:cNvPr>
          <p:cNvSpPr>
            <a:spLocks noGrp="1"/>
          </p:cNvSpPr>
          <p:nvPr/>
        </p:nvSpPr>
        <p:spPr>
          <a:xfrm>
            <a:off x="9410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E66C446-7FBF-4F2C-B30E-872FC96CD439}"/>
              </a:ext>
            </a:extLst>
          </p:cNvPr>
          <p:cNvSpPr>
            <a:spLocks noGrp="1"/>
          </p:cNvSpPr>
          <p:nvPr/>
        </p:nvSpPr>
        <p:spPr>
          <a:xfrm>
            <a:off x="9448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CD4E963-51ED-4DCE-93F7-AC09B68D4FCA}"/>
              </a:ext>
            </a:extLst>
          </p:cNvPr>
          <p:cNvSpPr>
            <a:spLocks noGrp="1"/>
          </p:cNvSpPr>
          <p:nvPr/>
        </p:nvSpPr>
        <p:spPr>
          <a:xfrm>
            <a:off x="9886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A27703E-0926-4934-967B-DA3AA3DCBCA7}"/>
              </a:ext>
            </a:extLst>
          </p:cNvPr>
          <p:cNvSpPr>
            <a:spLocks noGrp="1"/>
          </p:cNvSpPr>
          <p:nvPr/>
        </p:nvSpPr>
        <p:spPr>
          <a:xfrm>
            <a:off x="9925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3" name="화살표: 오른쪽 52">
            <a:extLst>
              <a:ext uri="{FF2B5EF4-FFF2-40B4-BE49-F238E27FC236}">
                <a16:creationId xmlns:a16="http://schemas.microsoft.com/office/drawing/2014/main" id="{6FB348AD-2F79-45F7-9A7B-6F57489E05D4}"/>
              </a:ext>
            </a:extLst>
          </p:cNvPr>
          <p:cNvSpPr>
            <a:spLocks noGrp="1"/>
          </p:cNvSpPr>
          <p:nvPr/>
        </p:nvSpPr>
        <p:spPr>
          <a:xfrm>
            <a:off x="9525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A26EDEE-6491-4BD9-954B-77ED7878E13A}"/>
              </a:ext>
            </a:extLst>
          </p:cNvPr>
          <p:cNvSpPr>
            <a:spLocks noGrp="1"/>
          </p:cNvSpPr>
          <p:nvPr/>
        </p:nvSpPr>
        <p:spPr>
          <a:xfrm>
            <a:off x="1143000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83612CA-F44F-4D98-9DB2-014A79660E33}"/>
              </a:ext>
            </a:extLst>
          </p:cNvPr>
          <p:cNvSpPr>
            <a:spLocks noGrp="1"/>
          </p:cNvSpPr>
          <p:nvPr/>
        </p:nvSpPr>
        <p:spPr>
          <a:xfrm>
            <a:off x="1143000" y="4362450"/>
            <a:ext cx="66675" cy="10858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227A91C-1B26-4CCF-9FAC-49C03B7874E3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 polarity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876A4C2-12AB-41C1-AE61-5566403CB612}"/>
              </a:ext>
            </a:extLst>
          </p:cNvPr>
          <p:cNvSpPr>
            <a:spLocks noGrp="1"/>
          </p:cNvSpPr>
          <p:nvPr/>
        </p:nvSpPr>
        <p:spPr>
          <a:xfrm>
            <a:off x="1333500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EF1/EF2: empty flag active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LF1/LF2: load flag active HIGH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128B9030-4CD7-4B19-A495-09E48312FF4D}"/>
              </a:ext>
            </a:extLst>
          </p:cNvPr>
          <p:cNvSpPr>
            <a:spLocks noGrp="1"/>
          </p:cNvSpPr>
          <p:nvPr/>
        </p:nvSpPr>
        <p:spPr>
          <a:xfrm>
            <a:off x="4619625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9A0891D-1F3B-4A8E-BA8B-EF85DAAD58C7}"/>
              </a:ext>
            </a:extLst>
          </p:cNvPr>
          <p:cNvSpPr>
            <a:spLocks noGrp="1"/>
          </p:cNvSpPr>
          <p:nvPr/>
        </p:nvSpPr>
        <p:spPr>
          <a:xfrm>
            <a:off x="4619625" y="4362450"/>
            <a:ext cx="66675" cy="10858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544BE7C-8D15-4FF9-B902-4B4A028A4933}"/>
              </a:ext>
            </a:extLst>
          </p:cNvPr>
          <p:cNvSpPr>
            <a:spLocks noGrp="1"/>
          </p:cNvSpPr>
          <p:nvPr/>
        </p:nvSpPr>
        <p:spPr>
          <a:xfrm>
            <a:off x="4810125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보장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871303C-ED44-454A-BA68-665B463E959E}"/>
              </a:ext>
            </a:extLst>
          </p:cNvPr>
          <p:cNvSpPr>
            <a:spLocks noGrp="1"/>
          </p:cNvSpPr>
          <p:nvPr/>
        </p:nvSpPr>
        <p:spPr>
          <a:xfrm>
            <a:off x="4810125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2-FF와 ASYNC_REG attribute로 metastability를 방어합니다.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F9A6CEB8-DF9A-4191-BD09-2E4694C85598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66F24CF-8F17-427D-921C-E1A1CC3B37F8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66675" cy="10858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4330658-5D81-4865-8122-F6022F60895E}"/>
              </a:ext>
            </a:extLst>
          </p:cNvPr>
          <p:cNvSpPr>
            <a:spLocks noGrp="1"/>
          </p:cNvSpPr>
          <p:nvPr/>
        </p:nvSpPr>
        <p:spPr>
          <a:xfrm>
            <a:off x="8286750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주의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8A58F72-9C5B-46BA-83CF-C1E081CBC0A6}"/>
              </a:ext>
            </a:extLst>
          </p:cNvPr>
          <p:cNvSpPr>
            <a:spLocks noGrp="1"/>
          </p:cNvSpPr>
          <p:nvPr/>
        </p:nvSpPr>
        <p:spPr>
          <a:xfrm>
            <a:off x="8286750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짧은 pulse capture 보장은 별도 문제입니다. C02에서 level 사용 정책을 확인합니다.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DAA4BF0-3ED7-4D92-83DD-D536A2AFB749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p.11-12 / bus_phy:234-246, 665-705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E1E0590B-F780-4A2C-847C-CF327B4591DB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5844272-3D2A-4EB5-A07A-BFAC636E4FE9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v002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281554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>
            <a:extLst>
              <a:ext uri="{FF2B5EF4-FFF2-40B4-BE49-F238E27FC236}">
                <a16:creationId xmlns:a16="http://schemas.microsoft.com/office/drawing/2014/main" id="{78EA0E9F-1F72-4A47-82A5-31EE64F780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9A61159-00D3-4CF0-A214-E98298FE51E9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3FCD46F-4D44-48E6-8267-A3909A55A01A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054725-2EDD-4779-A0F3-C8AF621B5D73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코드 리뷰 findings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F53FE6-9989-4903-8D2F-204A16A5F6E5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09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43E261-D494-45D3-A677-093014F79F2D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66675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769A44-399B-4E89-AC57-437F1F252CA9}"/>
              </a:ext>
            </a:extLst>
          </p:cNvPr>
          <p:cNvSpPr>
            <a:spLocks noGrp="1"/>
          </p:cNvSpPr>
          <p:nvPr/>
        </p:nvSpPr>
        <p:spPr>
          <a:xfrm>
            <a:off x="742950" y="1447800"/>
            <a:ext cx="514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등급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81CA22-4B81-4A75-B96C-06DF50496FCB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247650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F00DE8-A6B8-4E32-843A-9EFE2C2BBD93}"/>
              </a:ext>
            </a:extLst>
          </p:cNvPr>
          <p:cNvSpPr>
            <a:spLocks noGrp="1"/>
          </p:cNvSpPr>
          <p:nvPr/>
        </p:nvSpPr>
        <p:spPr>
          <a:xfrm>
            <a:off x="1409700" y="1447800"/>
            <a:ext cx="2324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EB45139-8B64-46AC-9690-DF233AD0F5EE}"/>
              </a:ext>
            </a:extLst>
          </p:cNvPr>
          <p:cNvSpPr>
            <a:spLocks noGrp="1"/>
          </p:cNvSpPr>
          <p:nvPr/>
        </p:nvSpPr>
        <p:spPr>
          <a:xfrm>
            <a:off x="3810000" y="1333500"/>
            <a:ext cx="771525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EC78DAD-60D1-45E3-B40B-0D2ADB71E82B}"/>
              </a:ext>
            </a:extLst>
          </p:cNvPr>
          <p:cNvSpPr>
            <a:spLocks noGrp="1"/>
          </p:cNvSpPr>
          <p:nvPr/>
        </p:nvSpPr>
        <p:spPr>
          <a:xfrm>
            <a:off x="3886200" y="1447800"/>
            <a:ext cx="7562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의미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9E468AC-67AB-4D50-A5F7-9493D6455AB7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CCF71D-4AF2-4ADD-89D6-8EEC60127766}"/>
              </a:ext>
            </a:extLst>
          </p:cNvPr>
          <p:cNvSpPr>
            <a:spLocks noGrp="1"/>
          </p:cNvSpPr>
          <p:nvPr/>
        </p:nvSpPr>
        <p:spPr>
          <a:xfrm>
            <a:off x="762000" y="18002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45286D-B5DD-43D0-9702-0D10D4BAF7A0}"/>
              </a:ext>
            </a:extLst>
          </p:cNvPr>
          <p:cNvSpPr>
            <a:spLocks noGrp="1"/>
          </p:cNvSpPr>
          <p:nvPr/>
        </p:nvSpPr>
        <p:spPr>
          <a:xfrm>
            <a:off x="1333500" y="17145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B6F105F-6F35-490E-9C68-1805D70E5296}"/>
              </a:ext>
            </a:extLst>
          </p:cNvPr>
          <p:cNvSpPr>
            <a:spLocks noGrp="1"/>
          </p:cNvSpPr>
          <p:nvPr/>
        </p:nvSpPr>
        <p:spPr>
          <a:xfrm>
            <a:off x="1428750" y="18002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Illegal timing 조합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0578C54-839F-4CD0-B96D-973BF1C60B60}"/>
              </a:ext>
            </a:extLst>
          </p:cNvPr>
          <p:cNvSpPr>
            <a:spLocks noGrp="1"/>
          </p:cNvSpPr>
          <p:nvPr/>
        </p:nvSpPr>
        <p:spPr>
          <a:xfrm>
            <a:off x="3810000" y="17145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56F323-5A0E-4481-B59E-7C51FF9D962B}"/>
              </a:ext>
            </a:extLst>
          </p:cNvPr>
          <p:cNvSpPr>
            <a:spLocks noGrp="1"/>
          </p:cNvSpPr>
          <p:nvPr/>
        </p:nvSpPr>
        <p:spPr>
          <a:xfrm>
            <a:off x="3905250" y="18002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bus_phy는 ticks&lt;4만 clamp. div=1,ticks=4는 cfg_pkg상 illegal이므로 SW/CSR 정책으로 금지 필요.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CA2B1C5-81F0-41A2-9057-204DF72ABC19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7E840F-E76B-49AD-8B43-99CF1C7D398C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AC949E8-0123-40D7-9B68-1F2CD2E6AF38}"/>
              </a:ext>
            </a:extLst>
          </p:cNvPr>
          <p:cNvSpPr>
            <a:spLocks noGrp="1"/>
          </p:cNvSpPr>
          <p:nvPr/>
        </p:nvSpPr>
        <p:spPr>
          <a:xfrm>
            <a:off x="1333500" y="22669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B9D99ED-4F95-42D6-B17C-9808089ED1F7}"/>
              </a:ext>
            </a:extLst>
          </p:cNvPr>
          <p:cNvSpPr>
            <a:spLocks noGrp="1"/>
          </p:cNvSpPr>
          <p:nvPr/>
        </p:nvSpPr>
        <p:spPr>
          <a:xfrm>
            <a:off x="1428750" y="23526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Clock 기준 고정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F062E9D-C12C-4B5A-B454-272B6DC3041B}"/>
              </a:ext>
            </a:extLst>
          </p:cNvPr>
          <p:cNvSpPr>
            <a:spLocks noGrp="1"/>
          </p:cNvSpPr>
          <p:nvPr/>
        </p:nvSpPr>
        <p:spPr>
          <a:xfrm>
            <a:off x="3810000" y="22669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34EA40E-A9FB-43E1-AFE8-7A08F3177DAE}"/>
              </a:ext>
            </a:extLst>
          </p:cNvPr>
          <p:cNvSpPr>
            <a:spLocks noGrp="1"/>
          </p:cNvSpPr>
          <p:nvPr/>
        </p:nvSpPr>
        <p:spPr>
          <a:xfrm>
            <a:off x="3905250" y="23526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 sampling/FSM clock은 200 MHz. C01 timing 계산은 Tclk=5 ns로 고정.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85B35BC-463A-4DA5-A7F6-0254DF2FC470}"/>
              </a:ext>
            </a:extLst>
          </p:cNvPr>
          <p:cNvSpPr>
            <a:spLocks noGrp="1"/>
          </p:cNvSpPr>
          <p:nvPr/>
        </p:nvSpPr>
        <p:spPr>
          <a:xfrm>
            <a:off x="666750" y="28194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72C2834-8996-4BCD-B88A-422A55FCDA70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F1FAC44-F4FB-4A50-9881-280C77F70BA2}"/>
              </a:ext>
            </a:extLst>
          </p:cNvPr>
          <p:cNvSpPr>
            <a:spLocks noGrp="1"/>
          </p:cNvSpPr>
          <p:nvPr/>
        </p:nvSpPr>
        <p:spPr>
          <a:xfrm>
            <a:off x="1333500" y="28194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1B4D89C-D471-4DA5-813D-41508C8ADA56}"/>
              </a:ext>
            </a:extLst>
          </p:cNvPr>
          <p:cNvSpPr>
            <a:spLocks noGrp="1"/>
          </p:cNvSpPr>
          <p:nvPr/>
        </p:nvSpPr>
        <p:spPr>
          <a:xfrm>
            <a:off x="1428750" y="29051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Empty FIFO read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2784BF7-0EB4-43CB-8CC9-33970A1F919E}"/>
              </a:ext>
            </a:extLst>
          </p:cNvPr>
          <p:cNvSpPr>
            <a:spLocks noGrp="1"/>
          </p:cNvSpPr>
          <p:nvPr/>
        </p:nvSpPr>
        <p:spPr>
          <a:xfrm>
            <a:off x="3810000" y="28194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22C2874-5502-44BF-B5CD-CF1956D79993}"/>
              </a:ext>
            </a:extLst>
          </p:cNvPr>
          <p:cNvSpPr>
            <a:spLocks noGrp="1"/>
          </p:cNvSpPr>
          <p:nvPr/>
        </p:nvSpPr>
        <p:spPr>
          <a:xfrm>
            <a:off x="3905250" y="29051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데이터시트가 empty FIFO read를 금지. EF active HIGH 기반 drain 중지 조건은 C02 최우선 검증.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DE40803-CD9F-47C7-85E1-9ED82D13106D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1E48B07-8211-4C03-9BF2-500BD7B2C610}"/>
              </a:ext>
            </a:extLst>
          </p:cNvPr>
          <p:cNvSpPr>
            <a:spLocks noGrp="1"/>
          </p:cNvSpPr>
          <p:nvPr/>
        </p:nvSpPr>
        <p:spPr>
          <a:xfrm>
            <a:off x="762000" y="34575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B356615-920D-4C5B-9087-CABE16CE7F10}"/>
              </a:ext>
            </a:extLst>
          </p:cNvPr>
          <p:cNvSpPr>
            <a:spLocks noGrp="1"/>
          </p:cNvSpPr>
          <p:nvPr/>
        </p:nvSpPr>
        <p:spPr>
          <a:xfrm>
            <a:off x="1333500" y="33718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3A087C5-ADCD-4AB1-A451-F6B6AF9BBAB3}"/>
              </a:ext>
            </a:extLst>
          </p:cNvPr>
          <p:cNvSpPr>
            <a:spLocks noGrp="1"/>
          </p:cNvSpPr>
          <p:nvPr/>
        </p:nvSpPr>
        <p:spPr>
          <a:xfrm>
            <a:off x="1428750" y="34575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oen_permanent 운용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66B47D5-AFB9-4F16-B08A-5EF0A61DB29F}"/>
              </a:ext>
            </a:extLst>
          </p:cNvPr>
          <p:cNvSpPr>
            <a:spLocks noGrp="1"/>
          </p:cNvSpPr>
          <p:nvPr/>
        </p:nvSpPr>
        <p:spPr>
          <a:xfrm>
            <a:off x="3810000" y="33718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EE2F742-704F-4FA1-85CA-8D4F15FDE078}"/>
              </a:ext>
            </a:extLst>
          </p:cNvPr>
          <p:cNvSpPr>
            <a:spLocks noGrp="1"/>
          </p:cNvSpPr>
          <p:nvPr/>
        </p:nvSpPr>
        <p:spPr>
          <a:xfrm>
            <a:off x="3905250" y="34575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 low는 GPX가 bus를 계속 drive. drain burst 전용이며 WRITE 구조적 차단 검증 필요.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7AAD83F-7266-4534-B92C-EEC7E049B136}"/>
              </a:ext>
            </a:extLst>
          </p:cNvPr>
          <p:cNvSpPr>
            <a:spLocks noGrp="1"/>
          </p:cNvSpPr>
          <p:nvPr/>
        </p:nvSpPr>
        <p:spPr>
          <a:xfrm>
            <a:off x="666750" y="39243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07D7449-0C24-407E-9171-79070F5D66A0}"/>
              </a:ext>
            </a:extLst>
          </p:cNvPr>
          <p:cNvSpPr>
            <a:spLocks noGrp="1"/>
          </p:cNvSpPr>
          <p:nvPr/>
        </p:nvSpPr>
        <p:spPr>
          <a:xfrm>
            <a:off x="762000" y="40100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B052D7E-D648-4C40-A613-88D329175B4C}"/>
              </a:ext>
            </a:extLst>
          </p:cNvPr>
          <p:cNvSpPr>
            <a:spLocks noGrp="1"/>
          </p:cNvSpPr>
          <p:nvPr/>
        </p:nvSpPr>
        <p:spPr>
          <a:xfrm>
            <a:off x="1333500" y="39243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367B093-B123-4194-8724-702F2C263CC5}"/>
              </a:ext>
            </a:extLst>
          </p:cNvPr>
          <p:cNvSpPr>
            <a:spLocks noGrp="1"/>
          </p:cNvSpPr>
          <p:nvPr/>
        </p:nvSpPr>
        <p:spPr>
          <a:xfrm>
            <a:off x="1428750" y="40100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16-bit mode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215F165-ACA8-4B55-9C3B-18DB803CF3E6}"/>
              </a:ext>
            </a:extLst>
          </p:cNvPr>
          <p:cNvSpPr>
            <a:spLocks noGrp="1"/>
          </p:cNvSpPr>
          <p:nvPr/>
        </p:nvSpPr>
        <p:spPr>
          <a:xfrm>
            <a:off x="3810000" y="39243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A73FEA9-902A-4F79-A03D-2496B5EE8ABA}"/>
              </a:ext>
            </a:extLst>
          </p:cNvPr>
          <p:cNvSpPr>
            <a:spLocks noGrp="1"/>
          </p:cNvSpPr>
          <p:nvPr/>
        </p:nvSpPr>
        <p:spPr>
          <a:xfrm>
            <a:off x="3905250" y="40100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현재 RTL은 Reg14[4]를 0으로 강제. 28-bit bus 운용 보호정책을 유지해야 함.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A0BB9D5-D74A-4FE8-818D-BBC0262588F2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564F2E9-07CB-4517-8A76-3D07C8DC185D}"/>
              </a:ext>
            </a:extLst>
          </p:cNvPr>
          <p:cNvSpPr>
            <a:spLocks noGrp="1"/>
          </p:cNvSpPr>
          <p:nvPr/>
        </p:nvSpPr>
        <p:spPr>
          <a:xfrm>
            <a:off x="762000" y="45624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664781B-C38E-4F8C-896E-44F286DE6EC9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157D3FF-48E1-43EE-B406-BAB8662A5B0F}"/>
              </a:ext>
            </a:extLst>
          </p:cNvPr>
          <p:cNvSpPr>
            <a:spLocks noGrp="1"/>
          </p:cNvSpPr>
          <p:nvPr/>
        </p:nvSpPr>
        <p:spPr>
          <a:xfrm>
            <a:off x="1428750" y="45624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 backpressure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C8BDC4D-9A9B-4344-802C-B5EC59C82DA1}"/>
              </a:ext>
            </a:extLst>
          </p:cNvPr>
          <p:cNvSpPr>
            <a:spLocks noGrp="1"/>
          </p:cNvSpPr>
          <p:nvPr/>
        </p:nvSpPr>
        <p:spPr>
          <a:xfrm>
            <a:off x="3810000" y="44767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ACE6E5E-5B5A-40F8-A2ED-DAD9DB6E3770}"/>
              </a:ext>
            </a:extLst>
          </p:cNvPr>
          <p:cNvSpPr>
            <a:spLocks noGrp="1"/>
          </p:cNvSpPr>
          <p:nvPr/>
        </p:nvSpPr>
        <p:spPr>
          <a:xfrm>
            <a:off x="3905250" y="45624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tvalid hold와 pending merge는 적절하나, tready=0 장기 유지 waveform 검증 필요.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3AB6C91-A521-484D-93A7-9F0C49BF82DC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확정 기능 결함이라기보다, C01 경계에서 다음 단계 검증과 운용 문서화가 필요한 항목입니다.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8C9A70A-6E5F-4DD1-885C-532BCD83D545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C01_GPX_Bus_Read_20260429_v002.md §13 / TDC-GPX-Datasheet.pdf p.7-8,p.51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DE58B85-EBF4-4359-B507-4B8A15853DBA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3A59CF2-4800-446D-AB7B-558B784D88BE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v002 · 2026-04-29</a:t>
            </a:r>
          </a:p>
        </p:txBody>
      </p:sp>
    </p:spTree>
    <p:extLst>
      <p:ext uri="{BB962C8B-B14F-4D97-AF65-F5344CB8AC3E}">
        <p14:creationId xmlns:p14="http://schemas.microsoft.com/office/powerpoint/2010/main" val="687782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5B7D8295-4EBA-4B52-A7CA-0696E4932D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5FC9D11-ADBB-41BB-93C5-0804D5C351CD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9C5835-A7E2-4F9F-9C26-5EBBFE006A5E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4CCA90D-1915-4AF0-8449-D3540415FFE2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종료 조건과 다음 Cluster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550266-A0D1-4BC9-A197-80489A5E4296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10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DD10E53-BAD3-462F-9EFE-5226B72037CC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FA70B2-06EF-4D96-A2AD-729CCDCCAE6A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66675" cy="14287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30FF0F-89E1-473B-802C-FB80DBBDBE3D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C01에서 닫을 것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4F91AB-99F5-422A-B959-11A1A51AC6BE}"/>
              </a:ext>
            </a:extLst>
          </p:cNvPr>
          <p:cNvSpPr>
            <a:spLocks noGrp="1"/>
          </p:cNvSpPr>
          <p:nvPr/>
        </p:nvSpPr>
        <p:spPr>
          <a:xfrm>
            <a:off x="9525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datasheet p.7~8 기준의 READ/WRITE timing, OEN, AXIS response, status sync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58A2B0B-03BC-48B0-97DB-3C3E6AD587EC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7306D35-6A57-4CCB-AA98-CA51BBCA3EFF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66675" cy="14287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7CCD1E-6BCA-425E-917D-8036F22E4C1A}"/>
              </a:ext>
            </a:extLst>
          </p:cNvPr>
          <p:cNvSpPr>
            <a:spLocks noGrp="1"/>
          </p:cNvSpPr>
          <p:nvPr/>
        </p:nvSpPr>
        <p:spPr>
          <a:xfrm>
            <a:off x="470535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사용자 확인 반영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FE3677-1C71-4538-B0FC-2A9EB76DEC13}"/>
              </a:ext>
            </a:extLst>
          </p:cNvPr>
          <p:cNvSpPr>
            <a:spLocks noGrp="1"/>
          </p:cNvSpPr>
          <p:nvPr/>
        </p:nvSpPr>
        <p:spPr>
          <a:xfrm>
            <a:off x="470535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기준 문서: TDC-GPX-Datasheet.pdf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 clock: 200 MHz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F9B27E6-08A5-44B8-A3A3-96038F4FE032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D3B7E8F-964D-4DD1-BB65-4B692A88D40C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66675" cy="14287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965CE75-A8DB-415D-B599-A94C739A35F1}"/>
              </a:ext>
            </a:extLst>
          </p:cNvPr>
          <p:cNvSpPr>
            <a:spLocks noGrp="1"/>
          </p:cNvSpPr>
          <p:nvPr/>
        </p:nvSpPr>
        <p:spPr>
          <a:xfrm>
            <a:off x="84582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C02로 넘길 것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B4017E0-A01C-4236-93FF-6ACF4E26310A}"/>
              </a:ext>
            </a:extLst>
          </p:cNvPr>
          <p:cNvSpPr>
            <a:spLocks noGrp="1"/>
          </p:cNvSpPr>
          <p:nvPr/>
        </p:nvSpPr>
        <p:spPr>
          <a:xfrm>
            <a:off x="84582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 active HIGH 기반 empty FIFO read 방지, capture/drain/force_reinit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EED92B7-F607-4D30-B982-5D637C6199F9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다음 Cluster로 넘길 핵심 계약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176AC3D-AB2E-4587-802C-088ECF675DBA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82867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 C01 timing 기준은 i_tdc_clk=200 MHz, Tclk=5 ns입니다.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 READ/WRITE는 데이터시트 p.7 pulse/setup/hold 기준을 만족해야 합니다.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 WRITE 중 GPX OEN은 HIGH, OEN low는 drain burst 전용입니다.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4. response는 tready handshake 전까지 유지됩니다.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 EF1/EF2 active HIGH는 empty FIFO이며 empty FIFO read는 금지입니다.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6. Reg14[4] 16-bit mode 차단 정책은 유지되어야 합니다.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F39DDAB-975D-4DF0-B01D-67E23248F5D8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C60AAB7-73CC-4674-A256-5FE8DB21C8A0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66675" cy="11049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089BC4D-17CA-4212-ADB4-91D663096007}"/>
              </a:ext>
            </a:extLst>
          </p:cNvPr>
          <p:cNvSpPr>
            <a:spLocks noGrp="1"/>
          </p:cNvSpPr>
          <p:nvPr/>
        </p:nvSpPr>
        <p:spPr>
          <a:xfrm>
            <a:off x="9201150" y="39433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C02 시작점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24052BF-3700-47C9-AD35-8E74821A62C6}"/>
              </a:ext>
            </a:extLst>
          </p:cNvPr>
          <p:cNvSpPr>
            <a:spLocks noGrp="1"/>
          </p:cNvSpPr>
          <p:nvPr/>
        </p:nvSpPr>
        <p:spPr>
          <a:xfrm>
            <a:off x="9201150" y="4267200"/>
            <a:ext cx="17716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`chip_ctrl/chip_run`이 EF와 burst read로 drain을 어떻게 닫는지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D656ABA-A23B-408A-A698-909A1408681E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다음 파일: tdc_gpx_chip_ctrl.vhd, tdc_gpx_chip_run.vhd, tdc_gpx_chip_init.vhd, tdc_gpx_chip_reg.vhd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D5125F0-C9F7-4411-8937-6B2916DEBF3B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F6939A6-1C8A-4837-BED8-B8A6EF3E790B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v002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8517104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1502</Words>
  <Application>Microsoft Office PowerPoint</Application>
  <DocSecurity>0</DocSecurity>
  <PresentationFormat>와이드스크린</PresentationFormat>
  <Paragraphs>264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Aptos Mono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하늘 정</cp:lastModifiedBy>
  <cp:revision>1</cp:revision>
  <dcterms:created xsi:type="dcterms:W3CDTF">2026-04-29T01:14:18Z</dcterms:created>
  <dcterms:modified xsi:type="dcterms:W3CDTF">2026-04-29T01:28:10Z</dcterms:modified>
</cp:coreProperties>
</file>