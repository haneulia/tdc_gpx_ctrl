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8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v002는 TDC-GPX datasheet를 기준 문서로 삼고, Bus_Phy timing clock을 200 MHz로 고정한다.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C42FB6EB-1524-47AE-9785-03E221227B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0A3207-4C7B-4DAD-9F03-F3A9A8A6DDEC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rPr>
              <a:t>Cluster Analysis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35B8275-82A2-41EB-81C7-4319B4B1BEF5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C01_GPX_Bus_Read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B2AE8C-3215-4940-BB10-065983FAD8E3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8763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rPr>
              <a:t>데이터시트 기준으로 GPX IC에서 값을 읽어 오는 물리 bus primitive를 먼저 닫고, 다음 Cluster가 의존할 timing/response/status 계약을 정의합니다.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C8F5A82-E6B6-4609-8E3E-875836D964A5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623D82-1E88-4733-8DE0-7CE9135273FA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66675" cy="1143000"/>
          </a:xfrm>
          <a:prstGeom prst="rect">
            <a:avLst/>
          </a:prstGeom>
          <a:solidFill>
            <a:srgbClr val="2CA6A4"/>
          </a:solidFill>
          <a:ln w="0">
            <a:solidFill>
              <a:srgbClr val="2CA6A4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C560BC-881A-4E21-AC14-EC3C75A7D7E3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rPr>
              <a:t>기준 문서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3E401D-ADB4-427B-A985-503FC780D7B3}"/>
              </a:ext>
            </a:extLst>
          </p:cNvPr>
          <p:cNvSpPr>
            <a:spLocks noGrp="1"/>
          </p:cNvSpPr>
          <p:nvPr/>
        </p:nvSpPr>
        <p:spPr>
          <a:xfrm>
            <a:off x="85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Doc/TDC-GPX-Datasheet.pdf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p.7~8 bus timing / OEN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A35A2CE-ED1C-45CD-9AD8-753607B68252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A33FF32-5518-49EB-951A-E8A0F907ADD7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B605D0-AFC4-4EA1-90F9-6F9AD106DAF4}"/>
              </a:ext>
            </a:extLst>
          </p:cNvPr>
          <p:cNvSpPr>
            <a:spLocks noGrp="1"/>
          </p:cNvSpPr>
          <p:nvPr/>
        </p:nvSpPr>
        <p:spPr>
          <a:xfrm>
            <a:off x="466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Clock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BF4B4B1-53F9-4A66-AE25-BE003871D8A8}"/>
              </a:ext>
            </a:extLst>
          </p:cNvPr>
          <p:cNvSpPr>
            <a:spLocks noGrp="1"/>
          </p:cNvSpPr>
          <p:nvPr/>
        </p:nvSpPr>
        <p:spPr>
          <a:xfrm>
            <a:off x="466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sampling clock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200 MHz, Tclk=5 ns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9CEAFA0-5479-4AE3-B7AF-EA2A6A44D587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B978953-58FC-4187-8066-B6DB0E7C5293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66675" cy="11430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4243A51-E92A-4EF8-A252-858DEAFE42BB}"/>
              </a:ext>
            </a:extLst>
          </p:cNvPr>
          <p:cNvSpPr>
            <a:spLocks noGrp="1"/>
          </p:cNvSpPr>
          <p:nvPr/>
        </p:nvSpPr>
        <p:spPr>
          <a:xfrm>
            <a:off x="847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다음 단계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E170C55-75B9-4000-B445-A994C49FAB97}"/>
              </a:ext>
            </a:extLst>
          </p:cNvPr>
          <p:cNvSpPr>
            <a:spLocks noGrp="1"/>
          </p:cNvSpPr>
          <p:nvPr/>
        </p:nvSpPr>
        <p:spPr>
          <a:xfrm>
            <a:off x="847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C02에서 chip_ctrl/chip_run이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 primitive를 쓰는 방식 분석</a:t>
            </a:r>
          </a:p>
        </p:txBody>
      </p:sp>
    </p:spTree>
    <p:extLst>
      <p:ext uri="{BB962C8B-B14F-4D97-AF65-F5344CB8AC3E}">
        <p14:creationId xmlns:p14="http://schemas.microsoft.com/office/powerpoint/2010/main" val="208662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049C4181-B87D-4D60-BF28-CF8ACA9E2D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2D17042-9E4F-4554-B9DC-D28C9A294FFC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69B080-B495-4D4D-95D0-42438023A86B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E44B3D-58E2-4C84-A616-A26501889E58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Cluster 경계와 상위 연결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2F169F-6F5E-4C30-A397-544CDFB93717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02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4D028E7-583E-46B9-A8BA-E1CCC977F6DB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64E606-ABFD-40BB-A4EC-78CE0F741E0D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66675" cy="11430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870114-55F9-4F9E-ABC6-0DD90D4A7E38}"/>
              </a:ext>
            </a:extLst>
          </p:cNvPr>
          <p:cNvSpPr>
            <a:spLocks noGrp="1"/>
          </p:cNvSpPr>
          <p:nvPr/>
        </p:nvSpPr>
        <p:spPr>
          <a:xfrm>
            <a:off x="7810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chip_ctrl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40245C-15A9-4730-8A57-97E4A049851B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init/run/reg sub-FSM이 bus request를 만든다.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99CE7799-8879-473E-AA05-41881A589722}"/>
              </a:ext>
            </a:extLst>
          </p:cNvPr>
          <p:cNvSpPr>
            <a:spLocks noGrp="1"/>
          </p:cNvSpPr>
          <p:nvPr/>
        </p:nvSpPr>
        <p:spPr>
          <a:xfrm>
            <a:off x="3238500" y="1638300"/>
            <a:ext cx="1143000" cy="361950"/>
          </a:xfrm>
          <a:prstGeom prst="rightArrow">
            <a:avLst/>
          </a:prstGeom>
          <a:solidFill>
            <a:srgbClr val="5B5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79AD209-41B4-455C-9EF2-DF3338C7AC4E}"/>
              </a:ext>
            </a:extLst>
          </p:cNvPr>
          <p:cNvSpPr>
            <a:spLocks noGrp="1"/>
          </p:cNvSpPr>
          <p:nvPr/>
        </p:nvSpPr>
        <p:spPr>
          <a:xfrm>
            <a:off x="3333750" y="17049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request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E98C02E-82AD-4FB9-A693-CFE31C5893DA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0FC551-94D0-4207-80F0-E75A90C9BBE2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66675" cy="11430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10965A-5C75-4D68-BFB6-FD5B80AFDD57}"/>
              </a:ext>
            </a:extLst>
          </p:cNvPr>
          <p:cNvSpPr>
            <a:spLocks noGrp="1"/>
          </p:cNvSpPr>
          <p:nvPr/>
        </p:nvSpPr>
        <p:spPr>
          <a:xfrm>
            <a:off x="47815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bus_phy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D117896-BA40-479F-A49B-0AE13A42EED1}"/>
              </a:ext>
            </a:extLst>
          </p:cNvPr>
          <p:cNvSpPr>
            <a:spLocks noGrp="1"/>
          </p:cNvSpPr>
          <p:nvPr/>
        </p:nvSpPr>
        <p:spPr>
          <a:xfrm>
            <a:off x="47815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tick-phase FSM, IOBUF, status sync, AXIS response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54D508A7-82F5-4068-BE92-F882D51C725F}"/>
              </a:ext>
            </a:extLst>
          </p:cNvPr>
          <p:cNvSpPr>
            <a:spLocks noGrp="1"/>
          </p:cNvSpPr>
          <p:nvPr/>
        </p:nvSpPr>
        <p:spPr>
          <a:xfrm>
            <a:off x="7239000" y="1638300"/>
            <a:ext cx="1143000" cy="36195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F19C547-B92C-4347-B768-DA735CB47749}"/>
              </a:ext>
            </a:extLst>
          </p:cNvPr>
          <p:cNvSpPr>
            <a:spLocks noGrp="1"/>
          </p:cNvSpPr>
          <p:nvPr/>
        </p:nvSpPr>
        <p:spPr>
          <a:xfrm>
            <a:off x="7334250" y="17049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pins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1B8BEB9-5808-40A1-9BF9-954B7AAC0231}"/>
              </a:ext>
            </a:extLst>
          </p:cNvPr>
          <p:cNvSpPr>
            <a:spLocks noGrp="1"/>
          </p:cNvSpPr>
          <p:nvPr/>
        </p:nvSpPr>
        <p:spPr>
          <a:xfrm>
            <a:off x="85915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BB04A1E-2B28-46EB-944A-0527AF45F7B2}"/>
              </a:ext>
            </a:extLst>
          </p:cNvPr>
          <p:cNvSpPr>
            <a:spLocks noGrp="1"/>
          </p:cNvSpPr>
          <p:nvPr/>
        </p:nvSpPr>
        <p:spPr>
          <a:xfrm>
            <a:off x="8591550" y="123825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EDD7AA9-2796-463D-A7D3-B95641B1606F}"/>
              </a:ext>
            </a:extLst>
          </p:cNvPr>
          <p:cNvSpPr>
            <a:spLocks noGrp="1"/>
          </p:cNvSpPr>
          <p:nvPr/>
        </p:nvSpPr>
        <p:spPr>
          <a:xfrm>
            <a:off x="87820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TDC-GPX IC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BBE2853-398B-45D0-AA4D-99304062D509}"/>
              </a:ext>
            </a:extLst>
          </p:cNvPr>
          <p:cNvSpPr>
            <a:spLocks noGrp="1"/>
          </p:cNvSpPr>
          <p:nvPr/>
        </p:nvSpPr>
        <p:spPr>
          <a:xfrm>
            <a:off x="87820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28-bit async parallel bus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EF/LF active HIGH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380F9347-28F1-48F1-8BF6-EB65048253FF}"/>
              </a:ext>
            </a:extLst>
          </p:cNvPr>
          <p:cNvSpPr>
            <a:spLocks noGrp="1"/>
          </p:cNvSpPr>
          <p:nvPr/>
        </p:nvSpPr>
        <p:spPr>
          <a:xfrm>
            <a:off x="8591550" y="3028950"/>
            <a:ext cx="0" cy="3619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5CA1684-F944-4D4A-B5B5-3DCEA40CCD66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53C1916-0CB2-4C93-96D8-6DED3CBBB4D5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66675" cy="11430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341C20F-2C12-4E02-AF1B-EDC7A26F9C74}"/>
              </a:ext>
            </a:extLst>
          </p:cNvPr>
          <p:cNvSpPr>
            <a:spLocks noGrp="1"/>
          </p:cNvSpPr>
          <p:nvPr/>
        </p:nvSpPr>
        <p:spPr>
          <a:xfrm>
            <a:off x="4781550" y="300990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response skid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5DAA94C-F6CB-42BE-9264-E540D593A02A}"/>
              </a:ext>
            </a:extLst>
          </p:cNvPr>
          <p:cNvSpPr>
            <a:spLocks noGrp="1"/>
          </p:cNvSpPr>
          <p:nvPr/>
        </p:nvSpPr>
        <p:spPr>
          <a:xfrm>
            <a:off x="4781550" y="333375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response를 40b skid로 받아 chip_ctrl에 전달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FA68E0DE-1285-4D8A-B9BE-CBC41F5B4091}"/>
              </a:ext>
            </a:extLst>
          </p:cNvPr>
          <p:cNvSpPr>
            <a:spLocks noGrp="1"/>
          </p:cNvSpPr>
          <p:nvPr/>
        </p:nvSpPr>
        <p:spPr>
          <a:xfrm>
            <a:off x="3238500" y="3257550"/>
            <a:ext cx="1143000" cy="361950"/>
          </a:xfrm>
          <a:prstGeom prst="rightArrow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B4C8F1A-864B-495A-B279-815E64774FBE}"/>
              </a:ext>
            </a:extLst>
          </p:cNvPr>
          <p:cNvSpPr>
            <a:spLocks noGrp="1"/>
          </p:cNvSpPr>
          <p:nvPr/>
        </p:nvSpPr>
        <p:spPr>
          <a:xfrm>
            <a:off x="3333750" y="332422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response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6B3CF6A-796E-4A1C-82E1-328EF3E5CE44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1B4EC60-56EA-4669-A3C5-F4B478DF0D49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66675" cy="11430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3208333-714E-4375-BE35-B554150E6503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chip_ctrl consume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545A52A-2086-4CDD-A95A-FB0EDF8BC60A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valid AND ready fire pulse만 소비하고 pending으로 watchdog을 freeze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BC68D0C-6961-48D0-A822-B05F2BAB8CCF}"/>
              </a:ext>
            </a:extLst>
          </p:cNvPr>
          <p:cNvSpPr>
            <a:spLocks noGrp="1"/>
          </p:cNvSpPr>
          <p:nvPr/>
        </p:nvSpPr>
        <p:spPr>
          <a:xfrm>
            <a:off x="838200" y="4810125"/>
            <a:ext cx="971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이번 Cluster는 datasheet p.7~8 기준을 bus_phy와 연결 계약에 매핑합니다.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75A399D-52EF-4577-B4D3-EE1665241FF6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p.3,p.7,p.11-12 / config_ctrl:1445-1503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2CFAB44-1E08-4737-8759-226FC39DC83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D7B530A-1B1B-494A-B3DB-A2AD7CB1775A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v003 · 2026-04-29</a:t>
            </a:r>
          </a:p>
        </p:txBody>
      </p:sp>
    </p:spTree>
    <p:extLst>
      <p:ext uri="{BB962C8B-B14F-4D97-AF65-F5344CB8AC3E}">
        <p14:creationId xmlns:p14="http://schemas.microsoft.com/office/powerpoint/2010/main" val="286611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9A69325F-9BB6-46AE-A525-47B38B0DC7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6C8C8F-60A7-4B0E-9265-028E373365B7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EDA508-7310-41AF-86CE-3D6DE7506140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69D623-BBEE-4D45-8C54-2FAA4D20C48F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timing: 기준점 3개로 분리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F51B06-72AC-4ADC-8FD8-0BE948C145FD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03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73E5890-AD24-4F32-B107-A8B2241F18B9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809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E0AABC-C382-4427-AA59-EF73061C5656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66675" cy="13525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7646BF7-2D89-43E7-9130-D635D865F56F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tick 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03D148-5A9C-4C17-B3F1-68A18DD68C1F}"/>
              </a:ext>
            </a:extLst>
          </p:cNvPr>
          <p:cNvSpPr>
            <a:spLocks noGrp="1"/>
          </p:cNvSpPr>
          <p:nvPr/>
        </p:nvSpPr>
        <p:spPr>
          <a:xfrm>
            <a:off x="838200" y="2266950"/>
            <a:ext cx="1485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ADR setup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CSN low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high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25F395F9-1218-4D74-9750-A50D42BE8F31}"/>
              </a:ext>
            </a:extLst>
          </p:cNvPr>
          <p:cNvSpPr>
            <a:spLocks noGrp="1"/>
          </p:cNvSpPr>
          <p:nvPr/>
        </p:nvSpPr>
        <p:spPr>
          <a:xfrm>
            <a:off x="2324100" y="2286000"/>
            <a:ext cx="552450" cy="2857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1D2883C-305F-4676-B78F-454B65A63C81}"/>
              </a:ext>
            </a:extLst>
          </p:cNvPr>
          <p:cNvSpPr>
            <a:spLocks noGrp="1"/>
          </p:cNvSpPr>
          <p:nvPr/>
        </p:nvSpPr>
        <p:spPr>
          <a:xfrm>
            <a:off x="2838450" y="1790700"/>
            <a:ext cx="1809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D87858-1D2F-4136-ABC7-0504ECB73414}"/>
              </a:ext>
            </a:extLst>
          </p:cNvPr>
          <p:cNvSpPr>
            <a:spLocks noGrp="1"/>
          </p:cNvSpPr>
          <p:nvPr/>
        </p:nvSpPr>
        <p:spPr>
          <a:xfrm>
            <a:off x="2838450" y="1790700"/>
            <a:ext cx="66675" cy="13525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DF48B94-0A59-4977-A0D1-185E95CC8942}"/>
              </a:ext>
            </a:extLst>
          </p:cNvPr>
          <p:cNvSpPr>
            <a:spLocks noGrp="1"/>
          </p:cNvSpPr>
          <p:nvPr/>
        </p:nvSpPr>
        <p:spPr>
          <a:xfrm>
            <a:off x="3028950" y="194310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tick 1..N-2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64F9CD3-5B1B-4E72-9A46-FBC8F86532B3}"/>
              </a:ext>
            </a:extLst>
          </p:cNvPr>
          <p:cNvSpPr>
            <a:spLocks noGrp="1"/>
          </p:cNvSpPr>
          <p:nvPr/>
        </p:nvSpPr>
        <p:spPr>
          <a:xfrm>
            <a:off x="3028950" y="2266950"/>
            <a:ext cx="1485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low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drives D bus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121D1A4D-682A-4207-A843-4900BCEE94E3}"/>
              </a:ext>
            </a:extLst>
          </p:cNvPr>
          <p:cNvSpPr>
            <a:spLocks noGrp="1"/>
          </p:cNvSpPr>
          <p:nvPr/>
        </p:nvSpPr>
        <p:spPr>
          <a:xfrm>
            <a:off x="4514850" y="2286000"/>
            <a:ext cx="552450" cy="2857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7AC4215-4120-4C3C-938C-EB2582B744CD}"/>
              </a:ext>
            </a:extLst>
          </p:cNvPr>
          <p:cNvSpPr>
            <a:spLocks noGrp="1"/>
          </p:cNvSpPr>
          <p:nvPr/>
        </p:nvSpPr>
        <p:spPr>
          <a:xfrm>
            <a:off x="5029200" y="1790700"/>
            <a:ext cx="1809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4C800C0-5FDB-4CAC-A615-4B429424A9ED}"/>
              </a:ext>
            </a:extLst>
          </p:cNvPr>
          <p:cNvSpPr>
            <a:spLocks noGrp="1"/>
          </p:cNvSpPr>
          <p:nvPr/>
        </p:nvSpPr>
        <p:spPr>
          <a:xfrm>
            <a:off x="5029200" y="1790700"/>
            <a:ext cx="66675" cy="13525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4DAFF4-8AD4-407D-BBB6-71E63A8DC2CF}"/>
              </a:ext>
            </a:extLst>
          </p:cNvPr>
          <p:cNvSpPr>
            <a:spLocks noGrp="1"/>
          </p:cNvSpPr>
          <p:nvPr/>
        </p:nvSpPr>
        <p:spPr>
          <a:xfrm>
            <a:off x="5219700" y="194310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tick N-2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01FDA1-B21F-49CC-9CB9-EE70D0D0ACB6}"/>
              </a:ext>
            </a:extLst>
          </p:cNvPr>
          <p:cNvSpPr>
            <a:spLocks noGrp="1"/>
          </p:cNvSpPr>
          <p:nvPr/>
        </p:nvSpPr>
        <p:spPr>
          <a:xfrm>
            <a:off x="5219700" y="2266950"/>
            <a:ext cx="1485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sample_en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IOB FF armed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3714B8CC-CD13-4EC5-8046-F96C77922B8E}"/>
              </a:ext>
            </a:extLst>
          </p:cNvPr>
          <p:cNvSpPr>
            <a:spLocks noGrp="1"/>
          </p:cNvSpPr>
          <p:nvPr/>
        </p:nvSpPr>
        <p:spPr>
          <a:xfrm>
            <a:off x="6705600" y="2286000"/>
            <a:ext cx="552450" cy="2857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04A0483-FE58-4851-8C8B-AA619CBF5EB5}"/>
              </a:ext>
            </a:extLst>
          </p:cNvPr>
          <p:cNvSpPr>
            <a:spLocks noGrp="1"/>
          </p:cNvSpPr>
          <p:nvPr/>
        </p:nvSpPr>
        <p:spPr>
          <a:xfrm>
            <a:off x="7219950" y="1790700"/>
            <a:ext cx="1809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53AFF3-6594-4699-B1F2-A8F21D05BA70}"/>
              </a:ext>
            </a:extLst>
          </p:cNvPr>
          <p:cNvSpPr>
            <a:spLocks noGrp="1"/>
          </p:cNvSpPr>
          <p:nvPr/>
        </p:nvSpPr>
        <p:spPr>
          <a:xfrm>
            <a:off x="7219950" y="1790700"/>
            <a:ext cx="66675" cy="13525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2DD3322-B447-4F26-B25F-5CD655563679}"/>
              </a:ext>
            </a:extLst>
          </p:cNvPr>
          <p:cNvSpPr>
            <a:spLocks noGrp="1"/>
          </p:cNvSpPr>
          <p:nvPr/>
        </p:nvSpPr>
        <p:spPr>
          <a:xfrm>
            <a:off x="7410450" y="194310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tick N-1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1C1DE84-CC6D-4887-821E-D098753E2813}"/>
              </a:ext>
            </a:extLst>
          </p:cNvPr>
          <p:cNvSpPr>
            <a:spLocks noGrp="1"/>
          </p:cNvSpPr>
          <p:nvPr/>
        </p:nvSpPr>
        <p:spPr>
          <a:xfrm>
            <a:off x="7410450" y="2266950"/>
            <a:ext cx="1485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rsp_pending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9092E1C1-2966-4BFF-AEF1-11562055D8C2}"/>
              </a:ext>
            </a:extLst>
          </p:cNvPr>
          <p:cNvSpPr>
            <a:spLocks noGrp="1"/>
          </p:cNvSpPr>
          <p:nvPr/>
        </p:nvSpPr>
        <p:spPr>
          <a:xfrm>
            <a:off x="8896350" y="2286000"/>
            <a:ext cx="552450" cy="2857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2C0C2F5-831C-4672-A414-9405ACBA7F7A}"/>
              </a:ext>
            </a:extLst>
          </p:cNvPr>
          <p:cNvSpPr>
            <a:spLocks noGrp="1"/>
          </p:cNvSpPr>
          <p:nvPr/>
        </p:nvSpPr>
        <p:spPr>
          <a:xfrm>
            <a:off x="9410700" y="1790700"/>
            <a:ext cx="1809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CD5EA90-F5B9-49D9-BCD9-CCB2C71C2111}"/>
              </a:ext>
            </a:extLst>
          </p:cNvPr>
          <p:cNvSpPr>
            <a:spLocks noGrp="1"/>
          </p:cNvSpPr>
          <p:nvPr/>
        </p:nvSpPr>
        <p:spPr>
          <a:xfrm>
            <a:off x="9410700" y="1790700"/>
            <a:ext cx="66675" cy="13525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9540570-2AF8-4EE8-9AD1-06B54DF87559}"/>
              </a:ext>
            </a:extLst>
          </p:cNvPr>
          <p:cNvSpPr>
            <a:spLocks noGrp="1"/>
          </p:cNvSpPr>
          <p:nvPr/>
        </p:nvSpPr>
        <p:spPr>
          <a:xfrm>
            <a:off x="9601200" y="194310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tick N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B744524-C243-4D15-AF80-ABFE746B817C}"/>
              </a:ext>
            </a:extLst>
          </p:cNvPr>
          <p:cNvSpPr>
            <a:spLocks noGrp="1"/>
          </p:cNvSpPr>
          <p:nvPr/>
        </p:nvSpPr>
        <p:spPr>
          <a:xfrm>
            <a:off x="9601200" y="2266950"/>
            <a:ext cx="1485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AXIS tvalid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response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3FEB744-747E-4F7C-8F97-8D060BA13F8D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1076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div=1, ticks=5: tick0→capture 20 ns / RDN low→capture 15 ns / beat period 25 ns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EE0FB25-A353-4497-9F2B-F2993860ECC9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2038350" cy="933450"/>
          </a:xfrm>
          <a:prstGeom prst="roundRect">
            <a:avLst>
              <a:gd name="adj" fmla="val 816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8273AA9-61A4-49BC-9D70-A87883F1BEE4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66675" cy="9334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BF21D33-9349-42C5-A8C8-F7CCC7D9B02E}"/>
              </a:ext>
            </a:extLst>
          </p:cNvPr>
          <p:cNvSpPr>
            <a:spLocks noGrp="1"/>
          </p:cNvSpPr>
          <p:nvPr/>
        </p:nvSpPr>
        <p:spPr>
          <a:xfrm>
            <a:off x="800100" y="46672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tV-DR 기준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E094673-9333-4610-A969-6C0D0BD6F1F8}"/>
              </a:ext>
            </a:extLst>
          </p:cNvPr>
          <p:cNvSpPr>
            <a:spLocks noGrp="1"/>
          </p:cNvSpPr>
          <p:nvPr/>
        </p:nvSpPr>
        <p:spPr>
          <a:xfrm>
            <a:off x="800100" y="4991100"/>
            <a:ext cx="171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low 이후 capture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15 ns, OK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BAE5141-505C-4FE8-9763-7D4F163C6FB6}"/>
              </a:ext>
            </a:extLst>
          </p:cNvPr>
          <p:cNvSpPr>
            <a:spLocks noGrp="1"/>
          </p:cNvSpPr>
          <p:nvPr/>
        </p:nvSpPr>
        <p:spPr>
          <a:xfrm>
            <a:off x="2952750" y="4514850"/>
            <a:ext cx="2038350" cy="933450"/>
          </a:xfrm>
          <a:prstGeom prst="roundRect">
            <a:avLst>
              <a:gd name="adj" fmla="val 8163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7BF6ACA-BBE5-4BA4-9518-B789EFBA1B2F}"/>
              </a:ext>
            </a:extLst>
          </p:cNvPr>
          <p:cNvSpPr>
            <a:spLocks noGrp="1"/>
          </p:cNvSpPr>
          <p:nvPr/>
        </p:nvSpPr>
        <p:spPr>
          <a:xfrm>
            <a:off x="2952750" y="4514850"/>
            <a:ext cx="66675" cy="9334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E4383E4-8763-4D9F-9ED7-2E004406D9B3}"/>
              </a:ext>
            </a:extLst>
          </p:cNvPr>
          <p:cNvSpPr>
            <a:spLocks noGrp="1"/>
          </p:cNvSpPr>
          <p:nvPr/>
        </p:nvSpPr>
        <p:spPr>
          <a:xfrm>
            <a:off x="3143250" y="46672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transaction 기준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193EC2A-9433-4AD5-ABEF-A74927683DB5}"/>
              </a:ext>
            </a:extLst>
          </p:cNvPr>
          <p:cNvSpPr>
            <a:spLocks noGrp="1"/>
          </p:cNvSpPr>
          <p:nvPr/>
        </p:nvSpPr>
        <p:spPr>
          <a:xfrm>
            <a:off x="3143250" y="4991100"/>
            <a:ext cx="171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tick0 이후 capture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 ns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B6E0F924-5FD8-40F8-ABA0-A28B33CA9A05}"/>
              </a:ext>
            </a:extLst>
          </p:cNvPr>
          <p:cNvSpPr>
            <a:spLocks noGrp="1"/>
          </p:cNvSpPr>
          <p:nvPr/>
        </p:nvSpPr>
        <p:spPr>
          <a:xfrm>
            <a:off x="5295900" y="4514850"/>
            <a:ext cx="2038350" cy="933450"/>
          </a:xfrm>
          <a:prstGeom prst="roundRect">
            <a:avLst>
              <a:gd name="adj" fmla="val 816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3786AD7-6602-4547-95CF-098B8DA52E22}"/>
              </a:ext>
            </a:extLst>
          </p:cNvPr>
          <p:cNvSpPr>
            <a:spLocks noGrp="1"/>
          </p:cNvSpPr>
          <p:nvPr/>
        </p:nvSpPr>
        <p:spPr>
          <a:xfrm>
            <a:off x="5295900" y="4514850"/>
            <a:ext cx="66675" cy="9334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0B384B4-3F1D-4935-BA0F-E4B8681A5571}"/>
              </a:ext>
            </a:extLst>
          </p:cNvPr>
          <p:cNvSpPr>
            <a:spLocks noGrp="1"/>
          </p:cNvSpPr>
          <p:nvPr/>
        </p:nvSpPr>
        <p:spPr>
          <a:xfrm>
            <a:off x="5486400" y="46672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readout 기준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5E6836E-E0D4-42F4-8D1E-291771340EAC}"/>
              </a:ext>
            </a:extLst>
          </p:cNvPr>
          <p:cNvSpPr>
            <a:spLocks noGrp="1"/>
          </p:cNvSpPr>
          <p:nvPr/>
        </p:nvSpPr>
        <p:spPr>
          <a:xfrm>
            <a:off x="5486400" y="4991100"/>
            <a:ext cx="171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burst beat period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25 ns = 40 MHz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B23AFE6-EDD2-44C1-8064-863D392BA868}"/>
              </a:ext>
            </a:extLst>
          </p:cNvPr>
          <p:cNvSpPr>
            <a:spLocks noGrp="1"/>
          </p:cNvSpPr>
          <p:nvPr/>
        </p:nvSpPr>
        <p:spPr>
          <a:xfrm>
            <a:off x="7639050" y="4514850"/>
            <a:ext cx="2038350" cy="933450"/>
          </a:xfrm>
          <a:prstGeom prst="roundRect">
            <a:avLst>
              <a:gd name="adj" fmla="val 816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040036C-11E0-4D26-AE8E-741E150B9CDC}"/>
              </a:ext>
            </a:extLst>
          </p:cNvPr>
          <p:cNvSpPr>
            <a:spLocks noGrp="1"/>
          </p:cNvSpPr>
          <p:nvPr/>
        </p:nvSpPr>
        <p:spPr>
          <a:xfrm>
            <a:off x="7639050" y="4514850"/>
            <a:ext cx="66675" cy="9334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1D2D1BE-C16E-46C7-94A2-E375815F5BE4}"/>
              </a:ext>
            </a:extLst>
          </p:cNvPr>
          <p:cNvSpPr>
            <a:spLocks noGrp="1"/>
          </p:cNvSpPr>
          <p:nvPr/>
        </p:nvSpPr>
        <p:spPr>
          <a:xfrm>
            <a:off x="7829550" y="46672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금지 예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8458778-2B25-4F1C-9E22-366A58D0E2B1}"/>
              </a:ext>
            </a:extLst>
          </p:cNvPr>
          <p:cNvSpPr>
            <a:spLocks noGrp="1"/>
          </p:cNvSpPr>
          <p:nvPr/>
        </p:nvSpPr>
        <p:spPr>
          <a:xfrm>
            <a:off x="7829550" y="4991100"/>
            <a:ext cx="171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div=1,ticks=4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 ns beat = 50 MHz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A8E63DA-FF1C-4085-9559-C1FCF4F52000}"/>
              </a:ext>
            </a:extLst>
          </p:cNvPr>
          <p:cNvSpPr>
            <a:spLocks noGrp="1"/>
          </p:cNvSpPr>
          <p:nvPr/>
        </p:nvSpPr>
        <p:spPr>
          <a:xfrm>
            <a:off x="9982200" y="4514850"/>
            <a:ext cx="1428750" cy="933450"/>
          </a:xfrm>
          <a:prstGeom prst="roundRect">
            <a:avLst>
              <a:gd name="adj" fmla="val 8163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7CC154C-C0D7-475F-B012-6C5BCD7FC762}"/>
              </a:ext>
            </a:extLst>
          </p:cNvPr>
          <p:cNvSpPr>
            <a:spLocks noGrp="1"/>
          </p:cNvSpPr>
          <p:nvPr/>
        </p:nvSpPr>
        <p:spPr>
          <a:xfrm>
            <a:off x="9982200" y="4514850"/>
            <a:ext cx="66675" cy="9334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2396AF0-6D32-4F65-AB86-D851A5C1F5B2}"/>
              </a:ext>
            </a:extLst>
          </p:cNvPr>
          <p:cNvSpPr>
            <a:spLocks noGrp="1"/>
          </p:cNvSpPr>
          <p:nvPr/>
        </p:nvSpPr>
        <p:spPr>
          <a:xfrm>
            <a:off x="10172700" y="46672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기본값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CBDF0D5-C9B0-4FAE-9C53-E5A8B2A527E5}"/>
              </a:ext>
            </a:extLst>
          </p:cNvPr>
          <p:cNvSpPr>
            <a:spLocks noGrp="1"/>
          </p:cNvSpPr>
          <p:nvPr/>
        </p:nvSpPr>
        <p:spPr>
          <a:xfrm>
            <a:off x="10172700" y="4991100"/>
            <a:ext cx="1104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div=2,ticks=5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 MHz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3C97F21-42CB-4F1F-81BD-ABEC25FE572D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p.7,p.27 / bus_phy:33-52, 527-548 / csr_chip:846-859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D6B2212-B6A6-4E8F-AC02-648F7E5524A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1310DD8-AC39-4140-92C3-61838B2F2D01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v003 · 2026-04-29</a:t>
            </a:r>
          </a:p>
        </p:txBody>
      </p:sp>
    </p:spTree>
    <p:extLst>
      <p:ext uri="{BB962C8B-B14F-4D97-AF65-F5344CB8AC3E}">
        <p14:creationId xmlns:p14="http://schemas.microsoft.com/office/powerpoint/2010/main" val="431491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39C9DE35-4E19-440D-8C5E-96D538912B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26EE24-7E55-4B00-A93F-BE226D826E41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B0F97B0-C767-4EAC-AC06-8BEF6E4E8574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5545A7A-CBA7-4F89-99A2-252F990C5583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 timing과 OEN 조건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EFF73ED-684C-4D60-AA9B-AD7776D6B86A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04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4A54DAC-6795-42FB-912A-49096D8B8D2A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AA9D7D-01C7-4B6C-8B30-A591B3D88865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66675" cy="1428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E4E336A-EB07-40D1-926A-CFFAF455D564}"/>
              </a:ext>
            </a:extLst>
          </p:cNvPr>
          <p:cNvSpPr>
            <a:spLocks noGrp="1"/>
          </p:cNvSpPr>
          <p:nvPr/>
        </p:nvSpPr>
        <p:spPr>
          <a:xfrm>
            <a:off x="1028700" y="1619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tick 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AABBF0-FD73-453D-9A05-3AE1F5B45DF9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2343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ADR + DATA setup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CSN low, WRN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drives D-bus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78609EA0-3A9E-4287-938F-4A4DF0731261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43000" cy="342900"/>
          </a:xfrm>
          <a:prstGeom prst="rightArrow">
            <a:avLst/>
          </a:prstGeom>
          <a:solidFill>
            <a:srgbClr val="5B5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7D8EFC-BEC1-40FA-A5A3-19D9486CD02E}"/>
              </a:ext>
            </a:extLst>
          </p:cNvPr>
          <p:cNvSpPr>
            <a:spLocks noGrp="1"/>
          </p:cNvSpPr>
          <p:nvPr/>
        </p:nvSpPr>
        <p:spPr>
          <a:xfrm>
            <a:off x="3810000" y="20669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L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5D7A033-291D-4E52-855B-AF395E1F22AC}"/>
              </a:ext>
            </a:extLst>
          </p:cNvPr>
          <p:cNvSpPr>
            <a:spLocks noGrp="1"/>
          </p:cNvSpPr>
          <p:nvPr/>
        </p:nvSpPr>
        <p:spPr>
          <a:xfrm>
            <a:off x="5067300" y="14668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D936BF-AA98-47EC-A42B-F7B5EC398011}"/>
              </a:ext>
            </a:extLst>
          </p:cNvPr>
          <p:cNvSpPr>
            <a:spLocks noGrp="1"/>
          </p:cNvSpPr>
          <p:nvPr/>
        </p:nvSpPr>
        <p:spPr>
          <a:xfrm>
            <a:off x="5067300" y="146685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31AAE2-F558-4B51-8AB9-C03FFC93201A}"/>
              </a:ext>
            </a:extLst>
          </p:cNvPr>
          <p:cNvSpPr>
            <a:spLocks noGrp="1"/>
          </p:cNvSpPr>
          <p:nvPr/>
        </p:nvSpPr>
        <p:spPr>
          <a:xfrm>
            <a:off x="5257800" y="1619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tick 1..N-2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6BE4FE9-9411-45BB-82E5-5839E3B4CF29}"/>
              </a:ext>
            </a:extLst>
          </p:cNvPr>
          <p:cNvSpPr>
            <a:spLocks noGrp="1"/>
          </p:cNvSpPr>
          <p:nvPr/>
        </p:nvSpPr>
        <p:spPr>
          <a:xfrm>
            <a:off x="5257800" y="1943100"/>
            <a:ext cx="2343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low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pulse width 확보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03377D59-6269-4C45-89D8-207E2A013E2B}"/>
              </a:ext>
            </a:extLst>
          </p:cNvPr>
          <p:cNvSpPr>
            <a:spLocks noGrp="1"/>
          </p:cNvSpPr>
          <p:nvPr/>
        </p:nvSpPr>
        <p:spPr>
          <a:xfrm>
            <a:off x="7943850" y="2000250"/>
            <a:ext cx="1143000" cy="34290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9AB2934-A90F-44AA-B2C3-8A674AFE8E88}"/>
              </a:ext>
            </a:extLst>
          </p:cNvPr>
          <p:cNvSpPr>
            <a:spLocks noGrp="1"/>
          </p:cNvSpPr>
          <p:nvPr/>
        </p:nvSpPr>
        <p:spPr>
          <a:xfrm>
            <a:off x="8039100" y="20669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H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C46F74A-6710-42E3-9D82-930F02052E55}"/>
              </a:ext>
            </a:extLst>
          </p:cNvPr>
          <p:cNvSpPr>
            <a:spLocks noGrp="1"/>
          </p:cNvSpPr>
          <p:nvPr/>
        </p:nvSpPr>
        <p:spPr>
          <a:xfrm>
            <a:off x="9296400" y="1466850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FD96E06-DD84-4B64-8BA1-BF141F2ED0FB}"/>
              </a:ext>
            </a:extLst>
          </p:cNvPr>
          <p:cNvSpPr>
            <a:spLocks noGrp="1"/>
          </p:cNvSpPr>
          <p:nvPr/>
        </p:nvSpPr>
        <p:spPr>
          <a:xfrm>
            <a:off x="9296400" y="146685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D8BAFD-D097-4B6A-BD09-83F821B91B4D}"/>
              </a:ext>
            </a:extLst>
          </p:cNvPr>
          <p:cNvSpPr>
            <a:spLocks noGrp="1"/>
          </p:cNvSpPr>
          <p:nvPr/>
        </p:nvSpPr>
        <p:spPr>
          <a:xfrm>
            <a:off x="9486900" y="16192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tick N-1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98DAD3E-282A-4952-B176-29DD19F2762D}"/>
              </a:ext>
            </a:extLst>
          </p:cNvPr>
          <p:cNvSpPr>
            <a:spLocks noGrp="1"/>
          </p:cNvSpPr>
          <p:nvPr/>
        </p:nvSpPr>
        <p:spPr>
          <a:xfrm>
            <a:off x="9486900" y="1943100"/>
            <a:ext cx="17716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release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A2E26E5-6CB8-4C12-91C5-673DB2E97BB0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DFBDDE4-B885-4E17-9E02-C36DCA4FC3A1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66675" cy="1219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76F33A8-1C86-4742-8751-BA0B424771D6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B8670D3-B80D-4A01-9876-04B7082DC669}"/>
              </a:ext>
            </a:extLst>
          </p:cNvPr>
          <p:cNvSpPr>
            <a:spLocks noGrp="1"/>
          </p:cNvSpPr>
          <p:nvPr/>
        </p:nvSpPr>
        <p:spPr>
          <a:xfrm>
            <a:off x="10096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tS-DW ≥ 5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tH-DW ≥ 4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tPW-WL/WH ≥ 6 ns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F0290D4-285F-45E9-AA63-3FB7AF92E50C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05019D0-E5B8-45D6-94E4-E980978B3107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66675" cy="12192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127205-40A8-40DF-8752-71E78F524A9C}"/>
              </a:ext>
            </a:extLst>
          </p:cNvPr>
          <p:cNvSpPr>
            <a:spLocks noGrp="1"/>
          </p:cNvSpPr>
          <p:nvPr/>
        </p:nvSpPr>
        <p:spPr>
          <a:xfrm>
            <a:off x="37528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44E2BC2-899E-4A54-8FBE-64603B38E89A}"/>
              </a:ext>
            </a:extLst>
          </p:cNvPr>
          <p:cNvSpPr>
            <a:spLocks noGrp="1"/>
          </p:cNvSpPr>
          <p:nvPr/>
        </p:nvSpPr>
        <p:spPr>
          <a:xfrm>
            <a:off x="37528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중 GPX OEN은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반드시 HIGH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08261-BF9B-4FC6-A714-5814DED0E776}"/>
              </a:ext>
            </a:extLst>
          </p:cNvPr>
          <p:cNvSpPr>
            <a:spLocks noGrp="1"/>
          </p:cNvSpPr>
          <p:nvPr/>
        </p:nvSpPr>
        <p:spPr>
          <a:xfrm>
            <a:off x="63055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7CCFE93-73AE-41C9-AFBD-67AB590534FC}"/>
              </a:ext>
            </a:extLst>
          </p:cNvPr>
          <p:cNvSpPr>
            <a:spLocks noGrp="1"/>
          </p:cNvSpPr>
          <p:nvPr/>
        </p:nvSpPr>
        <p:spPr>
          <a:xfrm>
            <a:off x="6305550" y="3638550"/>
            <a:ext cx="66675" cy="1219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381AAE9-C7F7-49E2-BB2D-EBC930011108}"/>
              </a:ext>
            </a:extLst>
          </p:cNvPr>
          <p:cNvSpPr>
            <a:spLocks noGrp="1"/>
          </p:cNvSpPr>
          <p:nvPr/>
        </p:nvSpPr>
        <p:spPr>
          <a:xfrm>
            <a:off x="64960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방향 전환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01B452-6DBC-4489-A378-7381C37BAA53}"/>
              </a:ext>
            </a:extLst>
          </p:cNvPr>
          <p:cNvSpPr>
            <a:spLocks noGrp="1"/>
          </p:cNvSpPr>
          <p:nvPr/>
        </p:nvSpPr>
        <p:spPr>
          <a:xfrm>
            <a:off x="64960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이후 WRITE는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ST_TURNAROUND 경유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B56F546-8799-41E3-81BD-E8FBCC203C1A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4E181E4-A5D8-4C44-BC92-433D9A722D38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66675" cy="12192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E0500AA-A96E-4F2D-BC20-F5CE28769B78}"/>
              </a:ext>
            </a:extLst>
          </p:cNvPr>
          <p:cNvSpPr>
            <a:spLocks noGrp="1"/>
          </p:cNvSpPr>
          <p:nvPr/>
        </p:nvSpPr>
        <p:spPr>
          <a:xfrm>
            <a:off x="92392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응답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9089B93-817B-49C0-8BD6-31AD34394031}"/>
              </a:ext>
            </a:extLst>
          </p:cNvPr>
          <p:cNvSpPr>
            <a:spLocks noGrp="1"/>
          </p:cNvSpPr>
          <p:nvPr/>
        </p:nvSpPr>
        <p:spPr>
          <a:xfrm>
            <a:off x="92392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`tdata=0`, `tuser[0]=1`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D6DA9D4-110F-4439-9FD1-CA6CD6F8DF12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p.7-8 / bus_phy:418-435, 608-630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112EBB4-3251-4814-88B6-E1A41734CB40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8A944FD-8218-4A6E-B730-711D3FE30792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v003 · 2026-04-29</a:t>
            </a:r>
          </a:p>
        </p:txBody>
      </p:sp>
    </p:spTree>
    <p:extLst>
      <p:ext uri="{BB962C8B-B14F-4D97-AF65-F5344CB8AC3E}">
        <p14:creationId xmlns:p14="http://schemas.microsoft.com/office/powerpoint/2010/main" val="58300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E63B2A6-A038-443C-A985-74527223C6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12FD992-5D23-437A-B35D-A5CB20F65A5F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0C2944-625E-4D38-87EA-D4D5023DBC87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EDD21D-4344-46D5-AFB1-ACDF0CC67E3C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FSM과 bus contention 방지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0092E4-344B-4993-9878-BCA2CC730426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05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3D75121-B056-44B7-ADCA-F6112936DE6D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AF73282-2377-464E-93D3-0992F0F3B220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66675" cy="12573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5250019-1594-4D09-8EE8-C78BF4665674}"/>
              </a:ext>
            </a:extLst>
          </p:cNvPr>
          <p:cNvSpPr>
            <a:spLocks noGrp="1"/>
          </p:cNvSpPr>
          <p:nvPr/>
        </p:nvSpPr>
        <p:spPr>
          <a:xfrm>
            <a:off x="9906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ST_IDLE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CB14F64-3E7C-40D5-A708-EBE222A2B3F2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request 대기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strobes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6CF7091-C17F-46EB-A051-1FA0FFD842BF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F7D5757-2E57-48D9-A053-4E7E578F004F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66675" cy="12573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12A08F-069D-4B53-B89D-4547015682CB}"/>
              </a:ext>
            </a:extLst>
          </p:cNvPr>
          <p:cNvSpPr>
            <a:spLocks noGrp="1"/>
          </p:cNvSpPr>
          <p:nvPr/>
        </p:nvSpPr>
        <p:spPr>
          <a:xfrm>
            <a:off x="37719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5664A79-0617-4CE4-9B54-960315DF3263}"/>
              </a:ext>
            </a:extLst>
          </p:cNvPr>
          <p:cNvSpPr>
            <a:spLocks noGrp="1"/>
          </p:cNvSpPr>
          <p:nvPr/>
        </p:nvSpPr>
        <p:spPr>
          <a:xfrm>
            <a:off x="37719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방향 전환 1 tick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D7A6CE7-6EAF-460F-8D11-6A3E2937E42E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02B0DC5-E1E8-4266-A861-15B0A2DAFA65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66675" cy="12573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F52FB3F-5C4D-43B1-A290-B983CDF9173E}"/>
              </a:ext>
            </a:extLst>
          </p:cNvPr>
          <p:cNvSpPr>
            <a:spLocks noGrp="1"/>
          </p:cNvSpPr>
          <p:nvPr/>
        </p:nvSpPr>
        <p:spPr>
          <a:xfrm>
            <a:off x="65532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ST_READ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3D3D9F4-EC48-4520-AC83-453F6AF40911}"/>
              </a:ext>
            </a:extLst>
          </p:cNvPr>
          <p:cNvSpPr>
            <a:spLocks noGrp="1"/>
          </p:cNvSpPr>
          <p:nvPr/>
        </p:nvSpPr>
        <p:spPr>
          <a:xfrm>
            <a:off x="65532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phase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sample_en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response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77979CD-E5DE-4F5E-89F1-403CCFAE45F3}"/>
              </a:ext>
            </a:extLst>
          </p:cNvPr>
          <p:cNvSpPr>
            <a:spLocks noGrp="1"/>
          </p:cNvSpPr>
          <p:nvPr/>
        </p:nvSpPr>
        <p:spPr>
          <a:xfrm>
            <a:off x="91440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E013EE6-D447-45A1-884F-DE00F4CED030}"/>
              </a:ext>
            </a:extLst>
          </p:cNvPr>
          <p:cNvSpPr>
            <a:spLocks noGrp="1"/>
          </p:cNvSpPr>
          <p:nvPr/>
        </p:nvSpPr>
        <p:spPr>
          <a:xfrm>
            <a:off x="9144000" y="1619250"/>
            <a:ext cx="66675" cy="12573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3B0746-8F1E-4E61-A0E4-4A77A293C493}"/>
              </a:ext>
            </a:extLst>
          </p:cNvPr>
          <p:cNvSpPr>
            <a:spLocks noGrp="1"/>
          </p:cNvSpPr>
          <p:nvPr/>
        </p:nvSpPr>
        <p:spPr>
          <a:xfrm>
            <a:off x="93345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ST_WRITE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A64B5D8-F4F1-4788-9196-AB9465888656}"/>
              </a:ext>
            </a:extLst>
          </p:cNvPr>
          <p:cNvSpPr>
            <a:spLocks noGrp="1"/>
          </p:cNvSpPr>
          <p:nvPr/>
        </p:nvSpPr>
        <p:spPr>
          <a:xfrm>
            <a:off x="93345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phase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0DD6BBCD-BED1-41D1-80F1-1385CD487682}"/>
              </a:ext>
            </a:extLst>
          </p:cNvPr>
          <p:cNvSpPr>
            <a:spLocks noGrp="1"/>
          </p:cNvSpPr>
          <p:nvPr/>
        </p:nvSpPr>
        <p:spPr>
          <a:xfrm>
            <a:off x="2286000" y="3333750"/>
            <a:ext cx="209550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AEC39D0-8AE0-4A37-84C2-C9C75DB10D55}"/>
              </a:ext>
            </a:extLst>
          </p:cNvPr>
          <p:cNvSpPr>
            <a:spLocks noGrp="1"/>
          </p:cNvSpPr>
          <p:nvPr/>
        </p:nvSpPr>
        <p:spPr>
          <a:xfrm>
            <a:off x="2381250" y="3400425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READ→WRITE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37720D0-493F-40B6-B02F-982396509563}"/>
              </a:ext>
            </a:extLst>
          </p:cNvPr>
          <p:cNvSpPr>
            <a:spLocks noGrp="1"/>
          </p:cNvSpPr>
          <p:nvPr/>
        </p:nvSpPr>
        <p:spPr>
          <a:xfrm>
            <a:off x="4686300" y="3429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8C9E6FA6-4A40-4175-B007-0FFA904CB022}"/>
              </a:ext>
            </a:extLst>
          </p:cNvPr>
          <p:cNvSpPr>
            <a:spLocks noGrp="1"/>
          </p:cNvSpPr>
          <p:nvPr/>
        </p:nvSpPr>
        <p:spPr>
          <a:xfrm>
            <a:off x="6896100" y="3333750"/>
            <a:ext cx="209550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B965E1E-1BBB-49BF-A68A-C877A1837ADD}"/>
              </a:ext>
            </a:extLst>
          </p:cNvPr>
          <p:cNvSpPr>
            <a:spLocks noGrp="1"/>
          </p:cNvSpPr>
          <p:nvPr/>
        </p:nvSpPr>
        <p:spPr>
          <a:xfrm>
            <a:off x="6991350" y="3400425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WRITE→READ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E3F13D4-9DFE-4986-B300-577ED28ECEFE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FC34DF7-6540-4B8A-A023-0B6B23A7A6EC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66675" cy="10668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4ED6550-B6A6-4AEE-BED4-97F4D5C6C945}"/>
              </a:ext>
            </a:extLst>
          </p:cNvPr>
          <p:cNvSpPr>
            <a:spLocks noGrp="1"/>
          </p:cNvSpPr>
          <p:nvPr/>
        </p:nvSpPr>
        <p:spPr>
          <a:xfrm>
            <a:off x="129540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invariant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EE3F6FA-BD14-471F-BB9B-69095B6F12C6}"/>
              </a:ext>
            </a:extLst>
          </p:cNvPr>
          <p:cNvSpPr>
            <a:spLocks noGrp="1"/>
          </p:cNvSpPr>
          <p:nvPr/>
        </p:nvSpPr>
        <p:spPr>
          <a:xfrm>
            <a:off x="129540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Hi-Z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IC가 data drive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7085834-2E5B-4ADC-B04E-70AFC903209A}"/>
              </a:ext>
            </a:extLst>
          </p:cNvPr>
          <p:cNvSpPr>
            <a:spLocks noGrp="1"/>
          </p:cNvSpPr>
          <p:nvPr/>
        </p:nvSpPr>
        <p:spPr>
          <a:xfrm>
            <a:off x="466725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972263B-8D7E-401B-99E5-F240B24BDA15}"/>
              </a:ext>
            </a:extLst>
          </p:cNvPr>
          <p:cNvSpPr>
            <a:spLocks noGrp="1"/>
          </p:cNvSpPr>
          <p:nvPr/>
        </p:nvSpPr>
        <p:spPr>
          <a:xfrm>
            <a:off x="4667250" y="4381500"/>
            <a:ext cx="66675" cy="10668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C5E9C16-71A6-421C-B196-3E52286024FF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invariant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4346E1D-C145-4935-9A57-CC1DC75D4669}"/>
              </a:ext>
            </a:extLst>
          </p:cNvPr>
          <p:cNvSpPr>
            <a:spLocks noGrp="1"/>
          </p:cNvSpPr>
          <p:nvPr/>
        </p:nvSpPr>
        <p:spPr>
          <a:xfrm>
            <a:off x="485775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drive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OEN HIGH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CA7E65B-0B1F-44F6-A693-B5DAFC63CF96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CC12EF4-B4B9-49C0-BBD9-E42B2D0E197F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66675" cy="10668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78C5034-2F58-439A-A7E1-F7B918B6F508}"/>
              </a:ext>
            </a:extLst>
          </p:cNvPr>
          <p:cNvSpPr>
            <a:spLocks noGrp="1"/>
          </p:cNvSpPr>
          <p:nvPr/>
        </p:nvSpPr>
        <p:spPr>
          <a:xfrm>
            <a:off x="842010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 low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F89F8F4-C91E-4CE5-8493-6E6AE83F90CC}"/>
              </a:ext>
            </a:extLst>
          </p:cNvPr>
          <p:cNvSpPr>
            <a:spLocks noGrp="1"/>
          </p:cNvSpPr>
          <p:nvPr/>
        </p:nvSpPr>
        <p:spPr>
          <a:xfrm>
            <a:off x="842010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drain burst 전용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GPX가 계속 drive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6D776CC-A8D9-43FB-BBB0-964CA4E271A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p.8 / bus_phy:151-156, 359-512, 54-60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882DBAB-1010-47CB-BA28-1656672E24CB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2477BED-3E35-47F9-AD80-F739492903E8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v003 · 2026-04-29</a:t>
            </a:r>
          </a:p>
        </p:txBody>
      </p:sp>
    </p:spTree>
    <p:extLst>
      <p:ext uri="{BB962C8B-B14F-4D97-AF65-F5344CB8AC3E}">
        <p14:creationId xmlns:p14="http://schemas.microsoft.com/office/powerpoint/2010/main" val="840471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78DB6AA9-B2FF-471D-99D5-FA2732ED62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F737B5F-762D-48F4-97D2-0AD94DC93AB1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09756C-EEB0-4E96-A2C2-DD9C07757A34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9D6853-2D40-4F44-966A-EAA3648E36FB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AXI-Stream response 계약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E6E6E2-6A5D-4B2E-89DE-F12047F1E6F9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06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A8E1F04-6028-45EF-8F8B-96B80E6E993D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CDA148-58F1-46A8-9C41-C7065DD2E8E9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66675" cy="16764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22FEB2-DBD7-4B8C-9CFD-1D0ABBD7B3DD}"/>
              </a:ext>
            </a:extLst>
          </p:cNvPr>
          <p:cNvSpPr>
            <a:spLocks noGrp="1"/>
          </p:cNvSpPr>
          <p:nvPr/>
        </p:nvSpPr>
        <p:spPr>
          <a:xfrm>
            <a:off x="112395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response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BED19DF-0C8B-45B3-9AAB-3804C0508E13}"/>
              </a:ext>
            </a:extLst>
          </p:cNvPr>
          <p:cNvSpPr>
            <a:spLocks noGrp="1"/>
          </p:cNvSpPr>
          <p:nvPr/>
        </p:nvSpPr>
        <p:spPr>
          <a:xfrm>
            <a:off x="112395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tdata[27:0]=read data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tdata[31:28]=0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312CAD6-9C6B-45A0-97B9-46D4B98ACBF7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6EB2A62-CFC0-4A0C-AE56-2333B3DECB4C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66675" cy="16764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528FAF-21CF-4C81-A70D-042BECBB98D5}"/>
              </a:ext>
            </a:extLst>
          </p:cNvPr>
          <p:cNvSpPr>
            <a:spLocks noGrp="1"/>
          </p:cNvSpPr>
          <p:nvPr/>
        </p:nvSpPr>
        <p:spPr>
          <a:xfrm>
            <a:off x="483870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ack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6C693A-928B-445E-A7D8-7B6A13F52DE4}"/>
              </a:ext>
            </a:extLst>
          </p:cNvPr>
          <p:cNvSpPr>
            <a:spLocks noGrp="1"/>
          </p:cNvSpPr>
          <p:nvPr/>
        </p:nvSpPr>
        <p:spPr>
          <a:xfrm>
            <a:off x="483870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tuser[0]=1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tkeep=1111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78A0C23-6701-4CCD-A34B-14AF5B239031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1C00DCD-7612-4160-8739-9A57187BF4AF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66675" cy="16764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CCC25F2-386B-49E9-B0B8-B8317987E5B2}"/>
              </a:ext>
            </a:extLst>
          </p:cNvPr>
          <p:cNvSpPr>
            <a:spLocks noGrp="1"/>
          </p:cNvSpPr>
          <p:nvPr/>
        </p:nvSpPr>
        <p:spPr>
          <a:xfrm>
            <a:off x="855345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hold rule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C55A592-1D5D-4287-9CEE-CBC96E8AACC1}"/>
              </a:ext>
            </a:extLst>
          </p:cNvPr>
          <p:cNvSpPr>
            <a:spLocks noGrp="1"/>
          </p:cNvSpPr>
          <p:nvPr/>
        </p:nvSpPr>
        <p:spPr>
          <a:xfrm>
            <a:off x="855345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tvalid는 tready까지 유지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남은 response가 있으면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새 request accept 금지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FE21D8-12D1-4450-8592-DC770891FF53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chip_ctrl 소비 규칙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3049412-4D3B-415A-840D-3DD2878A971B}"/>
              </a:ext>
            </a:extLst>
          </p:cNvPr>
          <p:cNvSpPr>
            <a:spLocks noGrp="1"/>
          </p:cNvSpPr>
          <p:nvPr/>
        </p:nvSpPr>
        <p:spPr>
          <a:xfrm>
            <a:off x="1104900" y="4343400"/>
            <a:ext cx="8191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tvalid가 아니라 `tvalid AND tready`인 fire pulse를 사용합니다. tready가 0이면 같은 beat를 중복 소비하지 않고, pending 신호로 watchdog을 freeze합니다.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79CDB9F-7BB0-4AE6-848E-B9C070C1EFCF}"/>
              </a:ext>
            </a:extLst>
          </p:cNvPr>
          <p:cNvSpPr>
            <a:spLocks noGrp="1"/>
          </p:cNvSpPr>
          <p:nvPr/>
        </p:nvSpPr>
        <p:spPr>
          <a:xfrm>
            <a:off x="9410700" y="409575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28E9723-BF58-4EBE-83E0-D0EF892EA44E}"/>
              </a:ext>
            </a:extLst>
          </p:cNvPr>
          <p:cNvSpPr>
            <a:spLocks noGrp="1"/>
          </p:cNvSpPr>
          <p:nvPr/>
        </p:nvSpPr>
        <p:spPr>
          <a:xfrm>
            <a:off x="9410700" y="4095750"/>
            <a:ext cx="66675" cy="9144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7B59500-1A2C-4B46-9FC8-563CF835A7F0}"/>
              </a:ext>
            </a:extLst>
          </p:cNvPr>
          <p:cNvSpPr>
            <a:spLocks noGrp="1"/>
          </p:cNvSpPr>
          <p:nvPr/>
        </p:nvSpPr>
        <p:spPr>
          <a:xfrm>
            <a:off x="9601200" y="42481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pending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6A58936-19F7-4824-8B03-D742E607BA8D}"/>
              </a:ext>
            </a:extLst>
          </p:cNvPr>
          <p:cNvSpPr>
            <a:spLocks noGrp="1"/>
          </p:cNvSpPr>
          <p:nvPr/>
        </p:nvSpPr>
        <p:spPr>
          <a:xfrm>
            <a:off x="9601200" y="4572000"/>
            <a:ext cx="1390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internal deferred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or AXIS hold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B066972-E4B4-46D0-A3E9-7930F3032609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bus_phy:327-350, 654-660 / chip_ctrl:592-614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F5DC867-4B39-430D-BC89-F44E389D273C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21ACF73-EAE8-4134-9D4A-CC8C7CBB2018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v003 · 2026-04-29</a:t>
            </a:r>
          </a:p>
        </p:txBody>
      </p:sp>
    </p:spTree>
    <p:extLst>
      <p:ext uri="{BB962C8B-B14F-4D97-AF65-F5344CB8AC3E}">
        <p14:creationId xmlns:p14="http://schemas.microsoft.com/office/powerpoint/2010/main" val="70631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34B2433D-828B-4CCA-A2AE-1CD13124A9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BD2B49D-E3DA-4C43-A9DB-5D3EA881C13B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6255EC-EC7F-4C73-B56F-44653880F4D7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3FF129-0480-490B-A69F-4A1E2F3A7603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Burst READ와 IFIFO drain 의미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CD011B-2AFC-4A96-99B9-7BAC97037510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07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77E49FB-DCEB-4261-BA64-4B4779B6148D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F4DE91-38EE-49B1-ACAE-111EA011798E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66675" cy="13716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E4B571-309C-4C56-9533-A5F41A647FC8}"/>
              </a:ext>
            </a:extLst>
          </p:cNvPr>
          <p:cNvSpPr>
            <a:spLocks noGrp="1"/>
          </p:cNvSpPr>
          <p:nvPr/>
        </p:nvSpPr>
        <p:spPr>
          <a:xfrm>
            <a:off x="104775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702D5A-8D67-421A-8D99-C21E931E1944}"/>
              </a:ext>
            </a:extLst>
          </p:cNvPr>
          <p:cNvSpPr>
            <a:spLocks noGrp="1"/>
          </p:cNvSpPr>
          <p:nvPr/>
        </p:nvSpPr>
        <p:spPr>
          <a:xfrm>
            <a:off x="104775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IFIFO drain 중 back-to-back READ를 수행해 bus overhead를 줄입니다.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0CFC9E8-C21B-4125-B6E1-E60E6BD6C2DE}"/>
              </a:ext>
            </a:extLst>
          </p:cNvPr>
          <p:cNvSpPr>
            <a:spLocks noGrp="1"/>
          </p:cNvSpPr>
          <p:nvPr/>
        </p:nvSpPr>
        <p:spPr>
          <a:xfrm>
            <a:off x="453390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49B9BA7-8587-4CB1-B4C8-6281875E6C67}"/>
              </a:ext>
            </a:extLst>
          </p:cNvPr>
          <p:cNvSpPr>
            <a:spLocks noGrp="1"/>
          </p:cNvSpPr>
          <p:nvPr/>
        </p:nvSpPr>
        <p:spPr>
          <a:xfrm>
            <a:off x="4533900" y="1409700"/>
            <a:ext cx="66675" cy="13716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38FBB7-10B1-4CD6-8C68-343A3FCC83A9}"/>
              </a:ext>
            </a:extLst>
          </p:cNvPr>
          <p:cNvSpPr>
            <a:spLocks noGrp="1"/>
          </p:cNvSpPr>
          <p:nvPr/>
        </p:nvSpPr>
        <p:spPr>
          <a:xfrm>
            <a:off x="472440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latched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E77854F-660A-4E80-B1D5-1CAAECE61750}"/>
              </a:ext>
            </a:extLst>
          </p:cNvPr>
          <p:cNvSpPr>
            <a:spLocks noGrp="1"/>
          </p:cNvSpPr>
          <p:nvPr/>
        </p:nvSpPr>
        <p:spPr>
          <a:xfrm>
            <a:off x="472440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`s_oen_perm_r`는 burst 시작 시 latch되어 중간 흔들림을 막습니다.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4306C18-20FA-4E89-91E3-C7AE0C0EEAC9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9574B3E-D221-4227-9957-072C0066AC58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66675" cy="13716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D4D9FDE-AD92-453E-9807-D65824B3B294}"/>
              </a:ext>
            </a:extLst>
          </p:cNvPr>
          <p:cNvSpPr>
            <a:spLocks noGrp="1"/>
          </p:cNvSpPr>
          <p:nvPr/>
        </p:nvSpPr>
        <p:spPr>
          <a:xfrm>
            <a:off x="840105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 rule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5DDEABC-19C1-4A5A-BCE3-5CFA836AA6E9}"/>
              </a:ext>
            </a:extLst>
          </p:cNvPr>
          <p:cNvSpPr>
            <a:spLocks noGrp="1"/>
          </p:cNvSpPr>
          <p:nvPr/>
        </p:nvSpPr>
        <p:spPr>
          <a:xfrm>
            <a:off x="840105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empty FIFO read 금지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 active HIGH 기준은 C02에서 검증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2A985A3-4EAE-4D29-A697-246A496AA395}"/>
              </a:ext>
            </a:extLst>
          </p:cNvPr>
          <p:cNvSpPr>
            <a:spLocks noGrp="1"/>
          </p:cNvSpPr>
          <p:nvPr/>
        </p:nvSpPr>
        <p:spPr>
          <a:xfrm>
            <a:off x="1123950" y="3752850"/>
            <a:ext cx="1714500" cy="514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15740A6-6B4B-4F6D-BDA9-82AB4C995E0C}"/>
              </a:ext>
            </a:extLst>
          </p:cNvPr>
          <p:cNvSpPr>
            <a:spLocks noGrp="1"/>
          </p:cNvSpPr>
          <p:nvPr/>
        </p:nvSpPr>
        <p:spPr>
          <a:xfrm>
            <a:off x="1333500" y="39052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E01205-C136-4CDD-83EC-5E5AC2178579}"/>
              </a:ext>
            </a:extLst>
          </p:cNvPr>
          <p:cNvSpPr>
            <a:spLocks noGrp="1"/>
          </p:cNvSpPr>
          <p:nvPr/>
        </p:nvSpPr>
        <p:spPr>
          <a:xfrm>
            <a:off x="2838450" y="3752850"/>
            <a:ext cx="10668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C3ACF24-0E19-43F0-A6BC-011C0CC957B1}"/>
              </a:ext>
            </a:extLst>
          </p:cNvPr>
          <p:cNvSpPr>
            <a:spLocks noGrp="1"/>
          </p:cNvSpPr>
          <p:nvPr/>
        </p:nvSpPr>
        <p:spPr>
          <a:xfrm>
            <a:off x="2933700" y="3848100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744"/>
          </a:bodyPr>
          <a:lstStyle/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RDN high</a:t>
            </a:r>
          </a:p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 ticks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D86B164-64EF-4B0A-B2C1-D30B8B420F55}"/>
              </a:ext>
            </a:extLst>
          </p:cNvPr>
          <p:cNvSpPr>
            <a:spLocks noGrp="1"/>
          </p:cNvSpPr>
          <p:nvPr/>
        </p:nvSpPr>
        <p:spPr>
          <a:xfrm>
            <a:off x="3905250" y="3752850"/>
            <a:ext cx="1714500" cy="514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AF8B861-6E22-4B80-A444-CB86664F0DB0}"/>
              </a:ext>
            </a:extLst>
          </p:cNvPr>
          <p:cNvSpPr>
            <a:spLocks noGrp="1"/>
          </p:cNvSpPr>
          <p:nvPr/>
        </p:nvSpPr>
        <p:spPr>
          <a:xfrm>
            <a:off x="4095750" y="3905250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n+1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A7E72E06-6C8D-4EDA-8E20-DA06EFA47672}"/>
              </a:ext>
            </a:extLst>
          </p:cNvPr>
          <p:cNvSpPr>
            <a:spLocks noGrp="1"/>
          </p:cNvSpPr>
          <p:nvPr/>
        </p:nvSpPr>
        <p:spPr>
          <a:xfrm>
            <a:off x="6076950" y="3810000"/>
            <a:ext cx="1809750" cy="4000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F1E6540-9F8D-4EC9-9076-198F23E13DEA}"/>
              </a:ext>
            </a:extLst>
          </p:cNvPr>
          <p:cNvSpPr>
            <a:spLocks noGrp="1"/>
          </p:cNvSpPr>
          <p:nvPr/>
        </p:nvSpPr>
        <p:spPr>
          <a:xfrm>
            <a:off x="6172200" y="3876675"/>
            <a:ext cx="1543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 consumed?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A0BCA41-7873-4A2D-905F-420D9662BAC5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2667000" cy="1047750"/>
          </a:xfrm>
          <a:prstGeom prst="roundRect">
            <a:avLst>
              <a:gd name="adj" fmla="val 727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132E46E-F6BB-4BC3-B4D4-8563A0A7DA86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66675" cy="10477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8C22BA2-C62D-497B-A19C-25DC83B3936E}"/>
              </a:ext>
            </a:extLst>
          </p:cNvPr>
          <p:cNvSpPr>
            <a:spLocks noGrp="1"/>
          </p:cNvSpPr>
          <p:nvPr/>
        </p:nvSpPr>
        <p:spPr>
          <a:xfrm>
            <a:off x="8362950" y="36766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backpressure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2E0086A-1D6A-4BE2-AC59-8564036FF6E0}"/>
              </a:ext>
            </a:extLst>
          </p:cNvPr>
          <p:cNvSpPr>
            <a:spLocks noGrp="1"/>
          </p:cNvSpPr>
          <p:nvPr/>
        </p:nvSpPr>
        <p:spPr>
          <a:xfrm>
            <a:off x="8362950" y="4000500"/>
            <a:ext cx="23431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response가 소비되지 않으면 다음 burst read로 진행하지 않습니다.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AB54762-5928-45F6-A8E5-39C0221739AF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p.7,p.11-12 / bus_phy:552-576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4957617-26C8-4E55-8BA7-627C63917212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18B617E-352A-4ED1-B990-D950D02284B2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v003 · 2026-04-29</a:t>
            </a:r>
          </a:p>
        </p:txBody>
      </p:sp>
    </p:spTree>
    <p:extLst>
      <p:ext uri="{BB962C8B-B14F-4D97-AF65-F5344CB8AC3E}">
        <p14:creationId xmlns:p14="http://schemas.microsoft.com/office/powerpoint/2010/main" val="419391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>
            <a:extLst>
              <a:ext uri="{FF2B5EF4-FFF2-40B4-BE49-F238E27FC236}">
                <a16:creationId xmlns:a16="http://schemas.microsoft.com/office/drawing/2014/main" id="{4E76C044-C9AD-4AC7-995E-C522C42107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879E47-856A-4454-80A6-E4C11F216A8C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EA0A66-ABD3-4ACA-8FCB-B1374E0E23B4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B65412-F789-46C8-994D-52EADC477314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Status pin synchronizer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D62E28-2558-4CEB-876B-CD6CCFC9361A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08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F8C972A-C5DB-4A77-B0A0-D88E3F74AD58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319BF1-9A87-48BA-AB31-E09930C062DA}"/>
              </a:ext>
            </a:extLst>
          </p:cNvPr>
          <p:cNvSpPr>
            <a:spLocks noGrp="1"/>
          </p:cNvSpPr>
          <p:nvPr/>
        </p:nvSpPr>
        <p:spPr>
          <a:xfrm>
            <a:off x="933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EF1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D9611FEB-0DE7-40AD-A119-F1F42BE6BD8C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78DE7F-94A9-4412-A507-460B25E8FBB7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0D7666-1DDE-49EE-8AD7-BFE228EAD405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BC82AA-EDCE-4F57-81FC-B5D560DEAABB}"/>
              </a:ext>
            </a:extLst>
          </p:cNvPr>
          <p:cNvSpPr>
            <a:spLocks noGrp="1"/>
          </p:cNvSpPr>
          <p:nvPr/>
        </p:nvSpPr>
        <p:spPr>
          <a:xfrm>
            <a:off x="1314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2199F2B-6E4C-4E6B-B683-280EF42D7F3A}"/>
              </a:ext>
            </a:extLst>
          </p:cNvPr>
          <p:cNvSpPr>
            <a:spLocks noGrp="1"/>
          </p:cNvSpPr>
          <p:nvPr/>
        </p:nvSpPr>
        <p:spPr>
          <a:xfrm>
            <a:off x="1352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8A68EEB9-0CDE-4A2E-861C-08773AF33DFE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7E3A8A0-5EBC-4A90-BA8F-009005CCBDD7}"/>
              </a:ext>
            </a:extLst>
          </p:cNvPr>
          <p:cNvSpPr>
            <a:spLocks noGrp="1"/>
          </p:cNvSpPr>
          <p:nvPr/>
        </p:nvSpPr>
        <p:spPr>
          <a:xfrm>
            <a:off x="2476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911F68-F05D-4E2C-80FA-4E72D034A805}"/>
              </a:ext>
            </a:extLst>
          </p:cNvPr>
          <p:cNvSpPr>
            <a:spLocks noGrp="1"/>
          </p:cNvSpPr>
          <p:nvPr/>
        </p:nvSpPr>
        <p:spPr>
          <a:xfrm>
            <a:off x="2647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EF2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3E889A14-DAD9-4F59-968E-50E2BC26AEA0}"/>
              </a:ext>
            </a:extLst>
          </p:cNvPr>
          <p:cNvSpPr>
            <a:spLocks noGrp="1"/>
          </p:cNvSpPr>
          <p:nvPr/>
        </p:nvSpPr>
        <p:spPr>
          <a:xfrm>
            <a:off x="2667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7C16626-FA69-4B20-9F28-60714D4969C8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331345-076F-4012-95EA-DE24FD094849}"/>
              </a:ext>
            </a:extLst>
          </p:cNvPr>
          <p:cNvSpPr>
            <a:spLocks noGrp="1"/>
          </p:cNvSpPr>
          <p:nvPr/>
        </p:nvSpPr>
        <p:spPr>
          <a:xfrm>
            <a:off x="2590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429F67B-3639-43AE-BF8F-345069E07192}"/>
              </a:ext>
            </a:extLst>
          </p:cNvPr>
          <p:cNvSpPr>
            <a:spLocks noGrp="1"/>
          </p:cNvSpPr>
          <p:nvPr/>
        </p:nvSpPr>
        <p:spPr>
          <a:xfrm>
            <a:off x="3028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BB47571-99B1-4F98-9A89-1BEA74156D0F}"/>
              </a:ext>
            </a:extLst>
          </p:cNvPr>
          <p:cNvSpPr>
            <a:spLocks noGrp="1"/>
          </p:cNvSpPr>
          <p:nvPr/>
        </p:nvSpPr>
        <p:spPr>
          <a:xfrm>
            <a:off x="3067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81A63581-76EC-40F6-8109-A5FBA25E1290}"/>
              </a:ext>
            </a:extLst>
          </p:cNvPr>
          <p:cNvSpPr>
            <a:spLocks noGrp="1"/>
          </p:cNvSpPr>
          <p:nvPr/>
        </p:nvSpPr>
        <p:spPr>
          <a:xfrm>
            <a:off x="2667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CCB5BD2-89E8-4990-9B71-306A705D1709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84EDA0D-B3ED-4408-AF99-860E717DE568}"/>
              </a:ext>
            </a:extLst>
          </p:cNvPr>
          <p:cNvSpPr>
            <a:spLocks noGrp="1"/>
          </p:cNvSpPr>
          <p:nvPr/>
        </p:nvSpPr>
        <p:spPr>
          <a:xfrm>
            <a:off x="4362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LF1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0286F667-7953-44FC-BBF5-3037697312E9}"/>
              </a:ext>
            </a:extLst>
          </p:cNvPr>
          <p:cNvSpPr>
            <a:spLocks noGrp="1"/>
          </p:cNvSpPr>
          <p:nvPr/>
        </p:nvSpPr>
        <p:spPr>
          <a:xfrm>
            <a:off x="4381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A6B607E-C8CB-4BF6-BDD6-EF926E533347}"/>
              </a:ext>
            </a:extLst>
          </p:cNvPr>
          <p:cNvSpPr>
            <a:spLocks noGrp="1"/>
          </p:cNvSpPr>
          <p:nvPr/>
        </p:nvSpPr>
        <p:spPr>
          <a:xfrm>
            <a:off x="4267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8C63841-3C87-4BEB-B74A-5585D2EF38C2}"/>
              </a:ext>
            </a:extLst>
          </p:cNvPr>
          <p:cNvSpPr>
            <a:spLocks noGrp="1"/>
          </p:cNvSpPr>
          <p:nvPr/>
        </p:nvSpPr>
        <p:spPr>
          <a:xfrm>
            <a:off x="4305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AE7F102-FC9E-46A1-B23C-689D3E56B43B}"/>
              </a:ext>
            </a:extLst>
          </p:cNvPr>
          <p:cNvSpPr>
            <a:spLocks noGrp="1"/>
          </p:cNvSpPr>
          <p:nvPr/>
        </p:nvSpPr>
        <p:spPr>
          <a:xfrm>
            <a:off x="4743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7583280-A5DE-4D67-9063-774F03A99D33}"/>
              </a:ext>
            </a:extLst>
          </p:cNvPr>
          <p:cNvSpPr>
            <a:spLocks noGrp="1"/>
          </p:cNvSpPr>
          <p:nvPr/>
        </p:nvSpPr>
        <p:spPr>
          <a:xfrm>
            <a:off x="4781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7BFA2A3A-48A2-4C05-B09D-8FBF5F982037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C52565B-498B-4EBA-AD41-1C241DEC1C3C}"/>
              </a:ext>
            </a:extLst>
          </p:cNvPr>
          <p:cNvSpPr>
            <a:spLocks noGrp="1"/>
          </p:cNvSpPr>
          <p:nvPr/>
        </p:nvSpPr>
        <p:spPr>
          <a:xfrm>
            <a:off x="5905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ABA4636-3BD5-44A4-83D9-60EF4DC5F102}"/>
              </a:ext>
            </a:extLst>
          </p:cNvPr>
          <p:cNvSpPr>
            <a:spLocks noGrp="1"/>
          </p:cNvSpPr>
          <p:nvPr/>
        </p:nvSpPr>
        <p:spPr>
          <a:xfrm>
            <a:off x="6076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LF2</a:t>
            </a: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1FE2D1C9-E836-46C8-8188-DE4C701A2523}"/>
              </a:ext>
            </a:extLst>
          </p:cNvPr>
          <p:cNvSpPr>
            <a:spLocks noGrp="1"/>
          </p:cNvSpPr>
          <p:nvPr/>
        </p:nvSpPr>
        <p:spPr>
          <a:xfrm>
            <a:off x="6096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5A1A53C-8CAD-4162-AFD6-DB56CD7E987E}"/>
              </a:ext>
            </a:extLst>
          </p:cNvPr>
          <p:cNvSpPr>
            <a:spLocks noGrp="1"/>
          </p:cNvSpPr>
          <p:nvPr/>
        </p:nvSpPr>
        <p:spPr>
          <a:xfrm>
            <a:off x="5981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2B93D86-8CA0-41FD-A4B7-0986EC43FB84}"/>
              </a:ext>
            </a:extLst>
          </p:cNvPr>
          <p:cNvSpPr>
            <a:spLocks noGrp="1"/>
          </p:cNvSpPr>
          <p:nvPr/>
        </p:nvSpPr>
        <p:spPr>
          <a:xfrm>
            <a:off x="6019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914D82D-33AA-4B2C-B5FC-4C18A98C41DE}"/>
              </a:ext>
            </a:extLst>
          </p:cNvPr>
          <p:cNvSpPr>
            <a:spLocks noGrp="1"/>
          </p:cNvSpPr>
          <p:nvPr/>
        </p:nvSpPr>
        <p:spPr>
          <a:xfrm>
            <a:off x="6457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FDC93F9-9EA5-4B48-B378-F7EA96666FAF}"/>
              </a:ext>
            </a:extLst>
          </p:cNvPr>
          <p:cNvSpPr>
            <a:spLocks noGrp="1"/>
          </p:cNvSpPr>
          <p:nvPr/>
        </p:nvSpPr>
        <p:spPr>
          <a:xfrm>
            <a:off x="6496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7D0A57C7-CE96-4E51-8BC9-3F4B3EF38C98}"/>
              </a:ext>
            </a:extLst>
          </p:cNvPr>
          <p:cNvSpPr>
            <a:spLocks noGrp="1"/>
          </p:cNvSpPr>
          <p:nvPr/>
        </p:nvSpPr>
        <p:spPr>
          <a:xfrm>
            <a:off x="6096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F3D9C86-882C-45E6-AEC9-E52C7EED3FC7}"/>
              </a:ext>
            </a:extLst>
          </p:cNvPr>
          <p:cNvSpPr>
            <a:spLocks noGrp="1"/>
          </p:cNvSpPr>
          <p:nvPr/>
        </p:nvSpPr>
        <p:spPr>
          <a:xfrm>
            <a:off x="7620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9DC578F-85D6-4512-A4B4-F6D390806A02}"/>
              </a:ext>
            </a:extLst>
          </p:cNvPr>
          <p:cNvSpPr>
            <a:spLocks noGrp="1"/>
          </p:cNvSpPr>
          <p:nvPr/>
        </p:nvSpPr>
        <p:spPr>
          <a:xfrm>
            <a:off x="7791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IrFlag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DDEB655F-78C2-46DA-A4CC-9FDEF65A4B21}"/>
              </a:ext>
            </a:extLst>
          </p:cNvPr>
          <p:cNvSpPr>
            <a:spLocks noGrp="1"/>
          </p:cNvSpPr>
          <p:nvPr/>
        </p:nvSpPr>
        <p:spPr>
          <a:xfrm>
            <a:off x="7810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4C15BF6-493D-406A-8FDF-8B5397C98E2A}"/>
              </a:ext>
            </a:extLst>
          </p:cNvPr>
          <p:cNvSpPr>
            <a:spLocks noGrp="1"/>
          </p:cNvSpPr>
          <p:nvPr/>
        </p:nvSpPr>
        <p:spPr>
          <a:xfrm>
            <a:off x="7696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53A9140-94CD-45E2-816E-A5B8F02FA064}"/>
              </a:ext>
            </a:extLst>
          </p:cNvPr>
          <p:cNvSpPr>
            <a:spLocks noGrp="1"/>
          </p:cNvSpPr>
          <p:nvPr/>
        </p:nvSpPr>
        <p:spPr>
          <a:xfrm>
            <a:off x="7734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5EBFA0F-EE31-4524-A1DC-162D8EE184EF}"/>
              </a:ext>
            </a:extLst>
          </p:cNvPr>
          <p:cNvSpPr>
            <a:spLocks noGrp="1"/>
          </p:cNvSpPr>
          <p:nvPr/>
        </p:nvSpPr>
        <p:spPr>
          <a:xfrm>
            <a:off x="8172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A858663-7C41-4DE8-93C1-BCFDF00D819C}"/>
              </a:ext>
            </a:extLst>
          </p:cNvPr>
          <p:cNvSpPr>
            <a:spLocks noGrp="1"/>
          </p:cNvSpPr>
          <p:nvPr/>
        </p:nvSpPr>
        <p:spPr>
          <a:xfrm>
            <a:off x="8210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1BE1E41F-2C13-4EC7-8BF4-A00D5D2726A8}"/>
              </a:ext>
            </a:extLst>
          </p:cNvPr>
          <p:cNvSpPr>
            <a:spLocks noGrp="1"/>
          </p:cNvSpPr>
          <p:nvPr/>
        </p:nvSpPr>
        <p:spPr>
          <a:xfrm>
            <a:off x="7810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8EF6421C-EA35-4ADA-8291-1C4A13546B6C}"/>
              </a:ext>
            </a:extLst>
          </p:cNvPr>
          <p:cNvSpPr>
            <a:spLocks noGrp="1"/>
          </p:cNvSpPr>
          <p:nvPr/>
        </p:nvSpPr>
        <p:spPr>
          <a:xfrm>
            <a:off x="9334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02E64DA-E359-4824-A0CF-948B3A058019}"/>
              </a:ext>
            </a:extLst>
          </p:cNvPr>
          <p:cNvSpPr>
            <a:spLocks noGrp="1"/>
          </p:cNvSpPr>
          <p:nvPr/>
        </p:nvSpPr>
        <p:spPr>
          <a:xfrm>
            <a:off x="9505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ErrFlag</a:t>
            </a:r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D1509B2E-6AB4-44AD-B54E-7C357B03BADB}"/>
              </a:ext>
            </a:extLst>
          </p:cNvPr>
          <p:cNvSpPr>
            <a:spLocks noGrp="1"/>
          </p:cNvSpPr>
          <p:nvPr/>
        </p:nvSpPr>
        <p:spPr>
          <a:xfrm>
            <a:off x="9525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8930EA0-10F2-4497-8509-CDC014B1053A}"/>
              </a:ext>
            </a:extLst>
          </p:cNvPr>
          <p:cNvSpPr>
            <a:spLocks noGrp="1"/>
          </p:cNvSpPr>
          <p:nvPr/>
        </p:nvSpPr>
        <p:spPr>
          <a:xfrm>
            <a:off x="9410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806F7DB-2982-4007-958E-865B26C5E80E}"/>
              </a:ext>
            </a:extLst>
          </p:cNvPr>
          <p:cNvSpPr>
            <a:spLocks noGrp="1"/>
          </p:cNvSpPr>
          <p:nvPr/>
        </p:nvSpPr>
        <p:spPr>
          <a:xfrm>
            <a:off x="9448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C30E112-6243-478A-BD15-9683C106980F}"/>
              </a:ext>
            </a:extLst>
          </p:cNvPr>
          <p:cNvSpPr>
            <a:spLocks noGrp="1"/>
          </p:cNvSpPr>
          <p:nvPr/>
        </p:nvSpPr>
        <p:spPr>
          <a:xfrm>
            <a:off x="9886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1DEEF68-3B23-482F-B03C-BCF0A1F657F8}"/>
              </a:ext>
            </a:extLst>
          </p:cNvPr>
          <p:cNvSpPr>
            <a:spLocks noGrp="1"/>
          </p:cNvSpPr>
          <p:nvPr/>
        </p:nvSpPr>
        <p:spPr>
          <a:xfrm>
            <a:off x="9925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3" name="화살표: 오른쪽 52">
            <a:extLst>
              <a:ext uri="{FF2B5EF4-FFF2-40B4-BE49-F238E27FC236}">
                <a16:creationId xmlns:a16="http://schemas.microsoft.com/office/drawing/2014/main" id="{CE823C06-64AA-4E70-BB9C-A4AB765D2ED6}"/>
              </a:ext>
            </a:extLst>
          </p:cNvPr>
          <p:cNvSpPr>
            <a:spLocks noGrp="1"/>
          </p:cNvSpPr>
          <p:nvPr/>
        </p:nvSpPr>
        <p:spPr>
          <a:xfrm>
            <a:off x="9525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4C9669B-29A7-41E6-8C60-B3CF0436D42C}"/>
              </a:ext>
            </a:extLst>
          </p:cNvPr>
          <p:cNvSpPr>
            <a:spLocks noGrp="1"/>
          </p:cNvSpPr>
          <p:nvPr/>
        </p:nvSpPr>
        <p:spPr>
          <a:xfrm>
            <a:off x="1143000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29930CC-0393-4ED1-92E3-F9B103A23642}"/>
              </a:ext>
            </a:extLst>
          </p:cNvPr>
          <p:cNvSpPr>
            <a:spLocks noGrp="1"/>
          </p:cNvSpPr>
          <p:nvPr/>
        </p:nvSpPr>
        <p:spPr>
          <a:xfrm>
            <a:off x="1143000" y="4362450"/>
            <a:ext cx="66675" cy="10858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EA00154-897F-4C14-ACD9-6703F367B713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 polarity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13F92A6-E5B7-4DCD-BBE0-C8276C712632}"/>
              </a:ext>
            </a:extLst>
          </p:cNvPr>
          <p:cNvSpPr>
            <a:spLocks noGrp="1"/>
          </p:cNvSpPr>
          <p:nvPr/>
        </p:nvSpPr>
        <p:spPr>
          <a:xfrm>
            <a:off x="1333500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EF1/EF2: empty flag active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LF1/LF2: load flag active HIGH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10B635D-9839-40FE-9304-4F23472DD79A}"/>
              </a:ext>
            </a:extLst>
          </p:cNvPr>
          <p:cNvSpPr>
            <a:spLocks noGrp="1"/>
          </p:cNvSpPr>
          <p:nvPr/>
        </p:nvSpPr>
        <p:spPr>
          <a:xfrm>
            <a:off x="4619625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F8866E4-7E56-4B64-9989-292DF4C67279}"/>
              </a:ext>
            </a:extLst>
          </p:cNvPr>
          <p:cNvSpPr>
            <a:spLocks noGrp="1"/>
          </p:cNvSpPr>
          <p:nvPr/>
        </p:nvSpPr>
        <p:spPr>
          <a:xfrm>
            <a:off x="4619625" y="4362450"/>
            <a:ext cx="66675" cy="10858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36C0D57-E7A5-4305-810E-EF30393F7EB9}"/>
              </a:ext>
            </a:extLst>
          </p:cNvPr>
          <p:cNvSpPr>
            <a:spLocks noGrp="1"/>
          </p:cNvSpPr>
          <p:nvPr/>
        </p:nvSpPr>
        <p:spPr>
          <a:xfrm>
            <a:off x="4810125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보장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9CCE5CE-E4B6-49C2-8E5E-BE4EE9726271}"/>
              </a:ext>
            </a:extLst>
          </p:cNvPr>
          <p:cNvSpPr>
            <a:spLocks noGrp="1"/>
          </p:cNvSpPr>
          <p:nvPr/>
        </p:nvSpPr>
        <p:spPr>
          <a:xfrm>
            <a:off x="4810125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2-FF와 ASYNC_REG attribute로 metastability를 방어합니다.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D046A763-E639-4303-9065-42DBBD8A30FC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A6CE0A1-66B7-4D1F-8600-F451CA28C3D5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66675" cy="10858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3B29CFC-0083-4236-930E-0C39A48716AE}"/>
              </a:ext>
            </a:extLst>
          </p:cNvPr>
          <p:cNvSpPr>
            <a:spLocks noGrp="1"/>
          </p:cNvSpPr>
          <p:nvPr/>
        </p:nvSpPr>
        <p:spPr>
          <a:xfrm>
            <a:off x="8286750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주의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7D8E881-79B1-4C8B-92FF-E98A39836B85}"/>
              </a:ext>
            </a:extLst>
          </p:cNvPr>
          <p:cNvSpPr>
            <a:spLocks noGrp="1"/>
          </p:cNvSpPr>
          <p:nvPr/>
        </p:nvSpPr>
        <p:spPr>
          <a:xfrm>
            <a:off x="8286750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짧은 pulse capture 보장은 별도 문제입니다. C02에서 level 사용 정책을 확인합니다.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6545BCD-5198-40BB-9FA9-4EF1F3D19C56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p.11-12 / bus_phy:234-246, 665-705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19FF74F-B4A4-4BE9-A4DF-4AAA4746E574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EEFD1CA-C93A-4E3C-87F9-74FFB55024E0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v003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480011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>
            <a:extLst>
              <a:ext uri="{FF2B5EF4-FFF2-40B4-BE49-F238E27FC236}">
                <a16:creationId xmlns:a16="http://schemas.microsoft.com/office/drawing/2014/main" id="{05C3A2F1-1BEA-4746-A39C-E3724D5092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BB3100E-DFB5-44E4-AA88-74AC2CD4A765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2143D2-06D3-4484-A86F-80BCCE58840B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F968A6-09E7-4085-B7A4-5E0EBAA18316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코드 리뷰 findings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5E8F95-CD0B-487F-8342-8A23DC4D41C4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09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FB0BBE-93CF-47D1-880F-BF027E35243B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66675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50C6DC-25A2-4A1F-8AD1-B829F2B4DC25}"/>
              </a:ext>
            </a:extLst>
          </p:cNvPr>
          <p:cNvSpPr>
            <a:spLocks noGrp="1"/>
          </p:cNvSpPr>
          <p:nvPr/>
        </p:nvSpPr>
        <p:spPr>
          <a:xfrm>
            <a:off x="742950" y="1447800"/>
            <a:ext cx="514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등급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682CEA-C96D-4B40-8013-8090A7133607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247650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057B36-AC24-48A8-9DAE-C4F50187AFC3}"/>
              </a:ext>
            </a:extLst>
          </p:cNvPr>
          <p:cNvSpPr>
            <a:spLocks noGrp="1"/>
          </p:cNvSpPr>
          <p:nvPr/>
        </p:nvSpPr>
        <p:spPr>
          <a:xfrm>
            <a:off x="1409700" y="1447800"/>
            <a:ext cx="2324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159422-BFE4-48FE-ABBB-C789291E90B8}"/>
              </a:ext>
            </a:extLst>
          </p:cNvPr>
          <p:cNvSpPr>
            <a:spLocks noGrp="1"/>
          </p:cNvSpPr>
          <p:nvPr/>
        </p:nvSpPr>
        <p:spPr>
          <a:xfrm>
            <a:off x="3810000" y="1333500"/>
            <a:ext cx="771525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8D4871-88D5-4922-B40F-533126F0672A}"/>
              </a:ext>
            </a:extLst>
          </p:cNvPr>
          <p:cNvSpPr>
            <a:spLocks noGrp="1"/>
          </p:cNvSpPr>
          <p:nvPr/>
        </p:nvSpPr>
        <p:spPr>
          <a:xfrm>
            <a:off x="3886200" y="1447800"/>
            <a:ext cx="7562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의미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91A8A94-46E2-4928-8738-56466B3A9D0A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67E7548-6C24-40AD-894A-72B8AE6B9198}"/>
              </a:ext>
            </a:extLst>
          </p:cNvPr>
          <p:cNvSpPr>
            <a:spLocks noGrp="1"/>
          </p:cNvSpPr>
          <p:nvPr/>
        </p:nvSpPr>
        <p:spPr>
          <a:xfrm>
            <a:off x="762000" y="18002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72C00-FF1D-4D25-8A3B-84D7162ED15E}"/>
              </a:ext>
            </a:extLst>
          </p:cNvPr>
          <p:cNvSpPr>
            <a:spLocks noGrp="1"/>
          </p:cNvSpPr>
          <p:nvPr/>
        </p:nvSpPr>
        <p:spPr>
          <a:xfrm>
            <a:off x="1333500" y="17145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6DF14E-9E6D-48CA-8023-9FF3F3C54010}"/>
              </a:ext>
            </a:extLst>
          </p:cNvPr>
          <p:cNvSpPr>
            <a:spLocks noGrp="1"/>
          </p:cNvSpPr>
          <p:nvPr/>
        </p:nvSpPr>
        <p:spPr>
          <a:xfrm>
            <a:off x="1428750" y="18002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Timing 기준점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C6A0626-89DC-4AC1-8EEC-ABB4D8F43ADA}"/>
              </a:ext>
            </a:extLst>
          </p:cNvPr>
          <p:cNvSpPr>
            <a:spLocks noGrp="1"/>
          </p:cNvSpPr>
          <p:nvPr/>
        </p:nvSpPr>
        <p:spPr>
          <a:xfrm>
            <a:off x="3810000" y="17145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BBD6C3-25AF-4CE6-92C6-CC5AA693E412}"/>
              </a:ext>
            </a:extLst>
          </p:cNvPr>
          <p:cNvSpPr>
            <a:spLocks noGrp="1"/>
          </p:cNvSpPr>
          <p:nvPr/>
        </p:nvSpPr>
        <p:spPr>
          <a:xfrm>
            <a:off x="3905250" y="18002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15 ns는 RDN-low 기준, 20 ns는 tick0 기준. 문서는 두 기준을 분리해야 함.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982F0A1-5D03-415B-8B23-237DD405BF5E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F94EB97-F21E-488A-B49E-D6B93B41F8AA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9BF3C30-BFBD-40CA-9A06-9E15F46BE733}"/>
              </a:ext>
            </a:extLst>
          </p:cNvPr>
          <p:cNvSpPr>
            <a:spLocks noGrp="1"/>
          </p:cNvSpPr>
          <p:nvPr/>
        </p:nvSpPr>
        <p:spPr>
          <a:xfrm>
            <a:off x="1333500" y="22669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9184C3-5F34-4D52-A2EC-3771F00CE445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40 MHz readout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4DA047F-F01B-4D9B-9DE4-B30EF2D6CE85}"/>
              </a:ext>
            </a:extLst>
          </p:cNvPr>
          <p:cNvSpPr>
            <a:spLocks noGrp="1"/>
          </p:cNvSpPr>
          <p:nvPr/>
        </p:nvSpPr>
        <p:spPr>
          <a:xfrm>
            <a:off x="3810000" y="22669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C3E9D87-EEF7-459C-B22A-CB04B830F608}"/>
              </a:ext>
            </a:extLst>
          </p:cNvPr>
          <p:cNvSpPr>
            <a:spLocks noGrp="1"/>
          </p:cNvSpPr>
          <p:nvPr/>
        </p:nvSpPr>
        <p:spPr>
          <a:xfrm>
            <a:off x="3905250" y="23526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div=1,ticks=5는 25 ns=40 MHz 경계. div=1,ticks=4는 50 MHz라 금지.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99A4D9F-A7AA-4054-B4F1-7F7DC65A583B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E7E877A-36A9-4667-8C74-7EB0A79A2973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1777F7-FBAD-474C-8CB7-7926693636FF}"/>
              </a:ext>
            </a:extLst>
          </p:cNvPr>
          <p:cNvSpPr>
            <a:spLocks noGrp="1"/>
          </p:cNvSpPr>
          <p:nvPr/>
        </p:nvSpPr>
        <p:spPr>
          <a:xfrm>
            <a:off x="1333500" y="28194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F4E6172-76FB-483E-875F-7F4A0D128C6E}"/>
              </a:ext>
            </a:extLst>
          </p:cNvPr>
          <p:cNvSpPr>
            <a:spLocks noGrp="1"/>
          </p:cNvSpPr>
          <p:nvPr/>
        </p:nvSpPr>
        <p:spPr>
          <a:xfrm>
            <a:off x="1428750" y="29051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 예외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062A905-641E-4318-A655-A4762314F10F}"/>
              </a:ext>
            </a:extLst>
          </p:cNvPr>
          <p:cNvSpPr>
            <a:spLocks noGrp="1"/>
          </p:cNvSpPr>
          <p:nvPr/>
        </p:nvSpPr>
        <p:spPr>
          <a:xfrm>
            <a:off x="3810000" y="28194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937BA1F-CBC8-4F2F-AD1E-EE17AC74F644}"/>
              </a:ext>
            </a:extLst>
          </p:cNvPr>
          <p:cNvSpPr>
            <a:spLocks noGrp="1"/>
          </p:cNvSpPr>
          <p:nvPr/>
        </p:nvSpPr>
        <p:spPr>
          <a:xfrm>
            <a:off x="3905250" y="29051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pull-up/미연결은 permanent 비활성 generic 후보. Low 고정은 WRITE contention으로 지원 불가.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4F031B2-899F-47ED-822E-F99D036E25FD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D547E85-2075-461A-ABFE-1C2C0D39EDDF}"/>
              </a:ext>
            </a:extLst>
          </p:cNvPr>
          <p:cNvSpPr>
            <a:spLocks noGrp="1"/>
          </p:cNvSpPr>
          <p:nvPr/>
        </p:nvSpPr>
        <p:spPr>
          <a:xfrm>
            <a:off x="762000" y="34575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2F638BA-8A5B-4396-AFE5-19023B701C68}"/>
              </a:ext>
            </a:extLst>
          </p:cNvPr>
          <p:cNvSpPr>
            <a:spLocks noGrp="1"/>
          </p:cNvSpPr>
          <p:nvPr/>
        </p:nvSpPr>
        <p:spPr>
          <a:xfrm>
            <a:off x="1333500" y="33718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A319DDA-C69B-4B68-B40A-96D571998EF1}"/>
              </a:ext>
            </a:extLst>
          </p:cNvPr>
          <p:cNvSpPr>
            <a:spLocks noGrp="1"/>
          </p:cNvSpPr>
          <p:nvPr/>
        </p:nvSpPr>
        <p:spPr>
          <a:xfrm>
            <a:off x="1428750" y="34575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Empty FIFO read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79BB24F-D1D6-4BB1-9905-EF0BF7E80EC7}"/>
              </a:ext>
            </a:extLst>
          </p:cNvPr>
          <p:cNvSpPr>
            <a:spLocks noGrp="1"/>
          </p:cNvSpPr>
          <p:nvPr/>
        </p:nvSpPr>
        <p:spPr>
          <a:xfrm>
            <a:off x="3810000" y="33718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1789A2C-CD7E-472B-807D-7E82D39F5E18}"/>
              </a:ext>
            </a:extLst>
          </p:cNvPr>
          <p:cNvSpPr>
            <a:spLocks noGrp="1"/>
          </p:cNvSpPr>
          <p:nvPr/>
        </p:nvSpPr>
        <p:spPr>
          <a:xfrm>
            <a:off x="3905250" y="34575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데이터시트가 empty FIFO read를 금지. EF active HIGH 기반 drain 중지 조건은 C02 최우선 검증.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D605986-7BFF-411D-93C4-C0D555DD6E6C}"/>
              </a:ext>
            </a:extLst>
          </p:cNvPr>
          <p:cNvSpPr>
            <a:spLocks noGrp="1"/>
          </p:cNvSpPr>
          <p:nvPr/>
        </p:nvSpPr>
        <p:spPr>
          <a:xfrm>
            <a:off x="666750" y="39243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D46EB4F-659E-42EE-A225-7F9181C24C64}"/>
              </a:ext>
            </a:extLst>
          </p:cNvPr>
          <p:cNvSpPr>
            <a:spLocks noGrp="1"/>
          </p:cNvSpPr>
          <p:nvPr/>
        </p:nvSpPr>
        <p:spPr>
          <a:xfrm>
            <a:off x="762000" y="40100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49CC198-9415-4A66-86EB-73D3DE0E0C61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0DC1BF1-CB08-4002-BC73-6DF6B9A1C60E}"/>
              </a:ext>
            </a:extLst>
          </p:cNvPr>
          <p:cNvSpPr>
            <a:spLocks noGrp="1"/>
          </p:cNvSpPr>
          <p:nvPr/>
        </p:nvSpPr>
        <p:spPr>
          <a:xfrm>
            <a:off x="1428750" y="40100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조합 경계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76FEFE6-9626-4B3C-92A7-2BBF5E7E2784}"/>
              </a:ext>
            </a:extLst>
          </p:cNvPr>
          <p:cNvSpPr>
            <a:spLocks noGrp="1"/>
          </p:cNvSpPr>
          <p:nvPr/>
        </p:nvSpPr>
        <p:spPr>
          <a:xfrm>
            <a:off x="3810000" y="39243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FF8D690-CE4F-4FFA-AF2D-3CAA547F6209}"/>
              </a:ext>
            </a:extLst>
          </p:cNvPr>
          <p:cNvSpPr>
            <a:spLocks noGrp="1"/>
          </p:cNvSpPr>
          <p:nvPr/>
        </p:nvSpPr>
        <p:spPr>
          <a:xfrm>
            <a:off x="3905250" y="40100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주요 pin은 FF 기반. 단 o_rsp_pending은 조합 OR이라 register boundary 개선 후보.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812773D-666A-4FD0-AE7D-6A8571E8A62A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6B9AAAF-03DD-46DD-B6E7-651D7E2EE61C}"/>
              </a:ext>
            </a:extLst>
          </p:cNvPr>
          <p:cNvSpPr>
            <a:spLocks noGrp="1"/>
          </p:cNvSpPr>
          <p:nvPr/>
        </p:nvSpPr>
        <p:spPr>
          <a:xfrm>
            <a:off x="762000" y="45624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805BC6D-2310-4D3B-A389-D0CEFEC1A719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A445D7D-B8F4-469C-8C87-846228C1CE63}"/>
              </a:ext>
            </a:extLst>
          </p:cNvPr>
          <p:cNvSpPr>
            <a:spLocks noGrp="1"/>
          </p:cNvSpPr>
          <p:nvPr/>
        </p:nvSpPr>
        <p:spPr>
          <a:xfrm>
            <a:off x="1428750" y="45624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2-FF sync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0FAFBDF-A7ED-4766-988F-B75C76C66E12}"/>
              </a:ext>
            </a:extLst>
          </p:cNvPr>
          <p:cNvSpPr>
            <a:spLocks noGrp="1"/>
          </p:cNvSpPr>
          <p:nvPr/>
        </p:nvSpPr>
        <p:spPr>
          <a:xfrm>
            <a:off x="3810000" y="44767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4B96287-C3FC-4ADA-BF28-74D937CCAA6E}"/>
              </a:ext>
            </a:extLst>
          </p:cNvPr>
          <p:cNvSpPr>
            <a:spLocks noGrp="1"/>
          </p:cNvSpPr>
          <p:nvPr/>
        </p:nvSpPr>
        <p:spPr>
          <a:xfrm>
            <a:off x="3905250" y="45624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level status에는 충분. pulse event capture로 해석하면 C02에서 별도 검증 필요.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18D817B-3BBD-472E-91FD-9525D84A40DF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확정 기능 결함이라기보다, C01 경계에서 다음 단계 검증과 운용 문서화가 필요한 항목입니다.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A39BE21-06C8-4322-BABD-C80A087A81CC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C01_GPX_Bus_Read_20260429_v003.md §13 / TDC-GPX-Datasheet.pdf p.7-8,p.27,p.51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1E0AE29-53AA-40CA-A994-FDA83E5B23BF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A7D838D-7C76-4164-9FFE-34858DA47B34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v003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5253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87A401D3-7722-4D6B-940B-B776DB38B1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84CD0D-5177-4F9E-AB7F-BAF0A62295BE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72383D-3A1C-4859-8732-0DF5BE078DF0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D473E9-A6D5-490A-B059-EFA3A59EB558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종료 조건과 다음 Cluster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83BED6-9AB8-4455-8281-D8DF8DCDC234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10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7F25E3A-19B8-4C78-BB49-484E29A32756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107810-3E8F-41FE-A18E-DF0E27212BB2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06C397-C50D-4E50-BA9E-3ADDCDBE8C79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C01에서 닫을 것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11796C-DC38-48C6-A821-5672B478A648}"/>
              </a:ext>
            </a:extLst>
          </p:cNvPr>
          <p:cNvSpPr>
            <a:spLocks noGrp="1"/>
          </p:cNvSpPr>
          <p:nvPr/>
        </p:nvSpPr>
        <p:spPr>
          <a:xfrm>
            <a:off x="9525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datasheet p.7/p.27 기준의 timing 기준점, OEN 예외, status sync 판단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9584090-2BCD-4F61-8488-1611ECD185E6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2586CF5-8CDD-4BAE-BD37-6840E88C6AEB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66675" cy="14287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525849-9D71-42A0-AA29-A75998D5B6EF}"/>
              </a:ext>
            </a:extLst>
          </p:cNvPr>
          <p:cNvSpPr>
            <a:spLocks noGrp="1"/>
          </p:cNvSpPr>
          <p:nvPr/>
        </p:nvSpPr>
        <p:spPr>
          <a:xfrm>
            <a:off x="470535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새 분석 기준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75EA14-35E8-47DE-8B04-F5CF852CB78F}"/>
              </a:ext>
            </a:extLst>
          </p:cNvPr>
          <p:cNvSpPr>
            <a:spLocks noGrp="1"/>
          </p:cNvSpPr>
          <p:nvPr/>
        </p:nvSpPr>
        <p:spPr>
          <a:xfrm>
            <a:off x="470535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module boundary는 FF/register 중심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VHDL prefix/postfix 규칙 적용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97BAB67-9CDC-4B94-B51D-59E668BF7539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FA122C-F93C-44D1-B8AE-E9F32B97C9B5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1D85C4-5674-4ED9-9459-56CC38D38BB7}"/>
              </a:ext>
            </a:extLst>
          </p:cNvPr>
          <p:cNvSpPr>
            <a:spLocks noGrp="1"/>
          </p:cNvSpPr>
          <p:nvPr/>
        </p:nvSpPr>
        <p:spPr>
          <a:xfrm>
            <a:off x="84582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C02로 넘길 것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1F77B6-62C6-470F-A0C3-72D219B55414}"/>
              </a:ext>
            </a:extLst>
          </p:cNvPr>
          <p:cNvSpPr>
            <a:spLocks noGrp="1"/>
          </p:cNvSpPr>
          <p:nvPr/>
        </p:nvSpPr>
        <p:spPr>
          <a:xfrm>
            <a:off x="84582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 active HIGH 기반 empty FIFO read 방지, OEN mode, capture/drain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27F1BAF-B21E-4ADD-B694-6E59A5BCBAAD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다음 Cluster로 넘길 핵심 계약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B5D58DA-8C3A-43ED-9016-C2BD08D57F4F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82867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 div=1,ticks=5는 RDN-low→capture 15 ns, tick0→capture 20 ns, beat 25 ns입니다.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 GPX data bus readout은 40 MHz보다 빠르게 운용하지 않습니다.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 200 MHz GPX control clock과 150 MHz output stream clock은 별도 domain입니다.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 OEN pull-up/미연결은 permanent 비의존 generic 후보, Low 고정은 unsupported입니다.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 2-FF sync는 level status에 충분하지만 pulse capture가 아닙니다.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6. 조합 경계는 finding으로 기록하고 FF/register boundary 기준을 적용합니다.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800929D-3F00-4A08-892D-6BB5574926E5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64EBECC-6F0B-418C-8280-C8AC7D3B432F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66675" cy="11049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15874C9-836F-4478-9197-01189C03C7D3}"/>
              </a:ext>
            </a:extLst>
          </p:cNvPr>
          <p:cNvSpPr>
            <a:spLocks noGrp="1"/>
          </p:cNvSpPr>
          <p:nvPr/>
        </p:nvSpPr>
        <p:spPr>
          <a:xfrm>
            <a:off x="9201150" y="39433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C02 시작점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C4D853D-35F5-4DCD-976B-7C8C1D4B3A4E}"/>
              </a:ext>
            </a:extLst>
          </p:cNvPr>
          <p:cNvSpPr>
            <a:spLocks noGrp="1"/>
          </p:cNvSpPr>
          <p:nvPr/>
        </p:nvSpPr>
        <p:spPr>
          <a:xfrm>
            <a:off x="9201150" y="4267200"/>
            <a:ext cx="17716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`chip_ctrl/chip_run`이 EF, OEN mode, burst read로 drain을 어떻게 닫는지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44FD500-A386-4A89-8E47-EED8907CE030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다음 파일: tdc_gpx_chip_ctrl.vhd, tdc_gpx_chip_run.vhd, tdc_gpx_chip_init.vhd, tdc_gpx_chip_reg.vhd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66944FB-29A8-4CF6-A0AF-2038F29DABB1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8035A90-8C98-4B27-B798-06CB5ABD24DA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v003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13966597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1520</Words>
  <Application>Microsoft Office PowerPoint</Application>
  <DocSecurity>0</DocSecurity>
  <PresentationFormat>와이드스크린</PresentationFormat>
  <Paragraphs>267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Aptos Mono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하늘 정</cp:lastModifiedBy>
  <cp:revision>1</cp:revision>
  <dcterms:created xsi:type="dcterms:W3CDTF">2026-04-29T02:05:26Z</dcterms:created>
  <dcterms:modified xsi:type="dcterms:W3CDTF">2026-04-29T02:21:44Z</dcterms:modified>
</cp:coreProperties>
</file>