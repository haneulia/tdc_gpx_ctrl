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v006는 정상 READ 운용 시퀀스에서 200 MHz와 250 MHz를 같은 기준점으로 비교한다.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F2E521D8-65A1-43BE-8D87-695E7BACB0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A76483-1FF0-4BF3-AD95-50D5AA96DF8E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rPr>
              <a:t>Cluster Analysis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10B4AAD-E5CC-4DFB-BD06-3235679E689E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C01_GPX_Bus_Read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7D0D77-BC47-4BC9-B6C5-2272D5C4B310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8763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rPr>
              <a:t>데이터시트 기준으로 GPX IC에서 값을 읽어 오는 물리 bus primitive를 먼저 닫고, 다음 Cluster가 의존할 timing/response/status 계약을 정의합니다.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C662E12-D5C4-4AFA-975D-1B27E899F9CB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F4E098-0334-4B92-AA76-8ABBE9D56BA0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66675" cy="1143000"/>
          </a:xfrm>
          <a:prstGeom prst="rect">
            <a:avLst/>
          </a:prstGeom>
          <a:solidFill>
            <a:srgbClr val="2CA6A4"/>
          </a:solidFill>
          <a:ln w="0">
            <a:solidFill>
              <a:srgbClr val="2CA6A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81E152-FA78-47A3-A173-95D514D7B62D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rPr>
              <a:t>기준 문서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DC90CA-A29D-4C67-98CD-8593653A1123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Doc/TDC-GPX-Datasheet.pdf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p.7~8 bus timing / OEN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56C97C6-A862-47DD-AEC3-7962626A621B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0D3FD6-2674-4B62-AF91-D3668709C850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4CDFD6-92FE-4905-B5F5-A2BF458F3D86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Clock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6499CE-F950-4F79-A744-C07EBD255355}"/>
              </a:ext>
            </a:extLst>
          </p:cNvPr>
          <p:cNvSpPr>
            <a:spLocks noGrp="1"/>
          </p:cNvSpPr>
          <p:nvPr/>
        </p:nvSpPr>
        <p:spPr>
          <a:xfrm>
            <a:off x="466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기본: 200 MHz, Tclk=5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250 MHz 변경 시 tick 계약 재계산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E8E9B1B-DFA3-4019-8F0E-F75E4A79F989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F3721B-FEB3-4937-BEFC-8DF17754D43E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8A878C-9B71-4615-9281-56058125E00A}"/>
              </a:ext>
            </a:extLst>
          </p:cNvPr>
          <p:cNvSpPr>
            <a:spLocks noGrp="1"/>
          </p:cNvSpPr>
          <p:nvPr/>
        </p:nvSpPr>
        <p:spPr>
          <a:xfrm>
            <a:off x="847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다음 단계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5E2ACB-310F-4215-92E8-1BB1B08350F6}"/>
              </a:ext>
            </a:extLst>
          </p:cNvPr>
          <p:cNvSpPr>
            <a:spLocks noGrp="1"/>
          </p:cNvSpPr>
          <p:nvPr/>
        </p:nvSpPr>
        <p:spPr>
          <a:xfrm>
            <a:off x="847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C02에서 chip_ctrl/chip_run이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 primitive를 쓰는 방식 분석</a:t>
            </a:r>
          </a:p>
        </p:txBody>
      </p:sp>
    </p:spTree>
    <p:extLst>
      <p:ext uri="{BB962C8B-B14F-4D97-AF65-F5344CB8AC3E}">
        <p14:creationId xmlns:p14="http://schemas.microsoft.com/office/powerpoint/2010/main" val="1986024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08879572-1CE2-47B0-9BA0-2480AAD43A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574CCDA-2825-41B4-80BB-DA5ED1874474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457D48-15CC-4527-AAC9-949E060F3CC3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49E617-1CA9-47E6-B5F6-F5F19A9C6A5B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Cluster 경계와 상위 연결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E0EBD8-0D28-4626-92D1-28FFF94DCE27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02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E04BDD4-94B9-4635-994D-840A766E8672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F392B8-BA64-47BD-8B8D-0BDF0A0A3DB3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6675" cy="11430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E8D158-0226-4310-AE30-8705E0907D49}"/>
              </a:ext>
            </a:extLst>
          </p:cNvPr>
          <p:cNvSpPr>
            <a:spLocks noGrp="1"/>
          </p:cNvSpPr>
          <p:nvPr/>
        </p:nvSpPr>
        <p:spPr>
          <a:xfrm>
            <a:off x="781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chip_ctrl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0FACA6-949F-4A2F-A73A-E2D4E0E2C46F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init/run/reg sub-FSM이 bus request를 만든다.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FA4B7A5-FE83-4960-B849-DBD4D2FFD6A6}"/>
              </a:ext>
            </a:extLst>
          </p:cNvPr>
          <p:cNvSpPr>
            <a:spLocks noGrp="1"/>
          </p:cNvSpPr>
          <p:nvPr/>
        </p:nvSpPr>
        <p:spPr>
          <a:xfrm>
            <a:off x="3238500" y="1638300"/>
            <a:ext cx="1143000" cy="36195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40687C-FDBA-41DF-9DCF-7B55B451501E}"/>
              </a:ext>
            </a:extLst>
          </p:cNvPr>
          <p:cNvSpPr>
            <a:spLocks noGrp="1"/>
          </p:cNvSpPr>
          <p:nvPr/>
        </p:nvSpPr>
        <p:spPr>
          <a:xfrm>
            <a:off x="33337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request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6AD3D70-0595-432A-8C13-9B5036D58281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010598-D540-4886-B364-C39105F9CE58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66675" cy="11430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C8F832-55F7-46A0-A431-E453A938DB72}"/>
              </a:ext>
            </a:extLst>
          </p:cNvPr>
          <p:cNvSpPr>
            <a:spLocks noGrp="1"/>
          </p:cNvSpPr>
          <p:nvPr/>
        </p:nvSpPr>
        <p:spPr>
          <a:xfrm>
            <a:off x="47815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bus_phy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3E3E68-7CC9-48A6-BC6A-2A49B4DBBF90}"/>
              </a:ext>
            </a:extLst>
          </p:cNvPr>
          <p:cNvSpPr>
            <a:spLocks noGrp="1"/>
          </p:cNvSpPr>
          <p:nvPr/>
        </p:nvSpPr>
        <p:spPr>
          <a:xfrm>
            <a:off x="47815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tick-phase FSM, IOBUF, status sync, AXIS response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FD5C9393-3687-4FDA-A33D-B40D7CD66E32}"/>
              </a:ext>
            </a:extLst>
          </p:cNvPr>
          <p:cNvSpPr>
            <a:spLocks noGrp="1"/>
          </p:cNvSpPr>
          <p:nvPr/>
        </p:nvSpPr>
        <p:spPr>
          <a:xfrm>
            <a:off x="7239000" y="1638300"/>
            <a:ext cx="1143000" cy="36195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1625B1-3B48-46AC-9B95-D469EA1E14FD}"/>
              </a:ext>
            </a:extLst>
          </p:cNvPr>
          <p:cNvSpPr>
            <a:spLocks noGrp="1"/>
          </p:cNvSpPr>
          <p:nvPr/>
        </p:nvSpPr>
        <p:spPr>
          <a:xfrm>
            <a:off x="73342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pins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5775C7B-9D68-41D0-B8C2-6422923E4E19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3BA4F91-2FDE-4873-B782-3803876EF495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7A7E70C-18AC-4692-862E-E74CD407504E}"/>
              </a:ext>
            </a:extLst>
          </p:cNvPr>
          <p:cNvSpPr>
            <a:spLocks noGrp="1"/>
          </p:cNvSpPr>
          <p:nvPr/>
        </p:nvSpPr>
        <p:spPr>
          <a:xfrm>
            <a:off x="8782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TDC-GPX IC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23455B-F7DD-467F-8EE4-F22DBEAAD07A}"/>
              </a:ext>
            </a:extLst>
          </p:cNvPr>
          <p:cNvSpPr>
            <a:spLocks noGrp="1"/>
          </p:cNvSpPr>
          <p:nvPr/>
        </p:nvSpPr>
        <p:spPr>
          <a:xfrm>
            <a:off x="8782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28-bit async parallel bus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EF/LF active HIGH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F31A9E85-A22C-466B-BBA0-5D7488831196}"/>
              </a:ext>
            </a:extLst>
          </p:cNvPr>
          <p:cNvSpPr>
            <a:spLocks noGrp="1"/>
          </p:cNvSpPr>
          <p:nvPr/>
        </p:nvSpPr>
        <p:spPr>
          <a:xfrm>
            <a:off x="8591550" y="3028950"/>
            <a:ext cx="0" cy="3619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E8AE3F2-335C-4795-B1B4-2F4DDECFAE61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D756012-1748-46E4-B31D-B24177D92191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5F90D3-F34E-4C61-9D46-2E3B49BA4187}"/>
              </a:ext>
            </a:extLst>
          </p:cNvPr>
          <p:cNvSpPr>
            <a:spLocks noGrp="1"/>
          </p:cNvSpPr>
          <p:nvPr/>
        </p:nvSpPr>
        <p:spPr>
          <a:xfrm>
            <a:off x="47815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response skid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D999C50-F1F6-4133-B42B-BE467E741FB7}"/>
              </a:ext>
            </a:extLst>
          </p:cNvPr>
          <p:cNvSpPr>
            <a:spLocks noGrp="1"/>
          </p:cNvSpPr>
          <p:nvPr/>
        </p:nvSpPr>
        <p:spPr>
          <a:xfrm>
            <a:off x="47815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response를 40b skid로 받아 chip_ctrl에 전달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28F9C94D-1F73-4A3B-B1F6-11209DDB822B}"/>
              </a:ext>
            </a:extLst>
          </p:cNvPr>
          <p:cNvSpPr>
            <a:spLocks noGrp="1"/>
          </p:cNvSpPr>
          <p:nvPr/>
        </p:nvSpPr>
        <p:spPr>
          <a:xfrm>
            <a:off x="3238500" y="3257550"/>
            <a:ext cx="1143000" cy="3619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EB19935-23CC-4133-9699-3E0D05A67153}"/>
              </a:ext>
            </a:extLst>
          </p:cNvPr>
          <p:cNvSpPr>
            <a:spLocks noGrp="1"/>
          </p:cNvSpPr>
          <p:nvPr/>
        </p:nvSpPr>
        <p:spPr>
          <a:xfrm>
            <a:off x="3333750" y="332422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response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7473318-CD99-4F66-A49B-FF64B8AA6002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B0D2BB4-68C1-461F-A7E8-239E14980369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66675" cy="11430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5C5698-F648-48AF-98C2-0D252C40541C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chip_ctrl consume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8F500D4-55D6-452C-B7EF-12D21AE0DBA1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valid AND ready fire pulse만 소비하고 pending으로 watchdog을 freeze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589D9C8-8624-451A-9F97-CCBF8F9CF4BD}"/>
              </a:ext>
            </a:extLst>
          </p:cNvPr>
          <p:cNvSpPr>
            <a:spLocks noGrp="1"/>
          </p:cNvSpPr>
          <p:nvPr/>
        </p:nvSpPr>
        <p:spPr>
          <a:xfrm>
            <a:off x="838200" y="4810125"/>
            <a:ext cx="971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이번 Cluster는 datasheet p.7~8 기준을 bus_phy와 연결 계약에 매핑합니다.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8787A7C-A9F9-44C9-BCBE-6EDEEB7DC2B3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p.3,p.7,p.11-12 / config_ctrl:1445-1503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55B455F-0118-4C24-BE50-D840A1762495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4F815D7-5946-4DC4-9484-E5296E04A0CB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v006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02782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직사각형 94">
            <a:extLst>
              <a:ext uri="{FF2B5EF4-FFF2-40B4-BE49-F238E27FC236}">
                <a16:creationId xmlns:a16="http://schemas.microsoft.com/office/drawing/2014/main" id="{CFB7709E-4EED-4647-8D2E-392830546F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6B091DB-B424-42D1-A819-47AB01B61FF2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408FD9-CA79-41E6-BD9B-83F901140133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D93EF2-E9DD-4AA3-8116-6E4A7A929F9F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READ 200/250 MHz 비교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20EC3D-3DAE-4ED9-A165-8D7720F7B774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03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86F0E9-3CD7-4702-8FDC-1929199D56FA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1066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같은 READ sequence를 tick 기준으로 환산합니다. 판단 기준은 데이터시트 p.7 READ timing과 p.27의 40 MHz transfer rate입니다.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CC4E13-D7D1-46E9-90A4-9811951CD35A}"/>
              </a:ext>
            </a:extLst>
          </p:cNvPr>
          <p:cNvSpPr>
            <a:spLocks noGrp="1"/>
          </p:cNvSpPr>
          <p:nvPr/>
        </p:nvSpPr>
        <p:spPr>
          <a:xfrm>
            <a:off x="533400" y="14859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200 MHz 정상 경계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95ABEC5-B6F9-4670-8E8E-E9AEE2C1F843}"/>
              </a:ext>
            </a:extLst>
          </p:cNvPr>
          <p:cNvSpPr>
            <a:spLocks noGrp="1"/>
          </p:cNvSpPr>
          <p:nvPr/>
        </p:nvSpPr>
        <p:spPr>
          <a:xfrm>
            <a:off x="533400" y="16954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T=5ns, div=1,ticks=5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71635B-4F38-4C99-86A3-1ED37D08D0A2}"/>
              </a:ext>
            </a:extLst>
          </p:cNvPr>
          <p:cNvSpPr>
            <a:spLocks noGrp="1"/>
          </p:cNvSpPr>
          <p:nvPr/>
        </p:nvSpPr>
        <p:spPr>
          <a:xfrm>
            <a:off x="2714625" y="1657350"/>
            <a:ext cx="7858125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07D21A-DE17-4698-9327-25D1A9BF15AD}"/>
              </a:ext>
            </a:extLst>
          </p:cNvPr>
          <p:cNvSpPr>
            <a:spLocks noGrp="1"/>
          </p:cNvSpPr>
          <p:nvPr/>
        </p:nvSpPr>
        <p:spPr>
          <a:xfrm>
            <a:off x="2714625" y="1466850"/>
            <a:ext cx="20955" cy="4572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2BC40F-EC65-40F6-9B10-8E595B30481B}"/>
              </a:ext>
            </a:extLst>
          </p:cNvPr>
          <p:cNvSpPr>
            <a:spLocks noGrp="1"/>
          </p:cNvSpPr>
          <p:nvPr/>
        </p:nvSpPr>
        <p:spPr>
          <a:xfrm>
            <a:off x="2295525" y="19812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tick0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6A20E4-2C53-42BC-8F3B-5F8958C605F2}"/>
              </a:ext>
            </a:extLst>
          </p:cNvPr>
          <p:cNvSpPr>
            <a:spLocks noGrp="1"/>
          </p:cNvSpPr>
          <p:nvPr/>
        </p:nvSpPr>
        <p:spPr>
          <a:xfrm>
            <a:off x="3667125" y="1466850"/>
            <a:ext cx="20955" cy="4572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F674B0-2F56-4877-818D-33F6E71EF250}"/>
              </a:ext>
            </a:extLst>
          </p:cNvPr>
          <p:cNvSpPr>
            <a:spLocks noGrp="1"/>
          </p:cNvSpPr>
          <p:nvPr/>
        </p:nvSpPr>
        <p:spPr>
          <a:xfrm>
            <a:off x="3248025" y="19812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RDN↓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8A3956-15F5-45F2-8315-53F942FC287F}"/>
              </a:ext>
            </a:extLst>
          </p:cNvPr>
          <p:cNvSpPr>
            <a:spLocks noGrp="1"/>
          </p:cNvSpPr>
          <p:nvPr/>
        </p:nvSpPr>
        <p:spPr>
          <a:xfrm>
            <a:off x="6524625" y="1466850"/>
            <a:ext cx="20955" cy="457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23D22E-DBBA-410D-A45E-7CD4589863A9}"/>
              </a:ext>
            </a:extLst>
          </p:cNvPr>
          <p:cNvSpPr>
            <a:spLocks noGrp="1"/>
          </p:cNvSpPr>
          <p:nvPr/>
        </p:nvSpPr>
        <p:spPr>
          <a:xfrm>
            <a:off x="6105525" y="19812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capture/RDN↑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A076273-0E91-4162-86CF-66BE88FAC63E}"/>
              </a:ext>
            </a:extLst>
          </p:cNvPr>
          <p:cNvSpPr>
            <a:spLocks noGrp="1"/>
          </p:cNvSpPr>
          <p:nvPr/>
        </p:nvSpPr>
        <p:spPr>
          <a:xfrm>
            <a:off x="8429625" y="1466850"/>
            <a:ext cx="20955" cy="457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24BEFAB-0EC6-465A-B24D-C08AF83CE5D8}"/>
              </a:ext>
            </a:extLst>
          </p:cNvPr>
          <p:cNvSpPr>
            <a:spLocks noGrp="1"/>
          </p:cNvSpPr>
          <p:nvPr/>
        </p:nvSpPr>
        <p:spPr>
          <a:xfrm>
            <a:off x="8010525" y="19812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next RDN↓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738BBF-63D6-4622-92E3-BA6F29DEC47B}"/>
              </a:ext>
            </a:extLst>
          </p:cNvPr>
          <p:cNvSpPr>
            <a:spLocks noGrp="1"/>
          </p:cNvSpPr>
          <p:nvPr/>
        </p:nvSpPr>
        <p:spPr>
          <a:xfrm>
            <a:off x="3667125" y="1590675"/>
            <a:ext cx="2857500" cy="133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068D9A0A-DD97-480E-97F1-A1839264CB0C}"/>
              </a:ext>
            </a:extLst>
          </p:cNvPr>
          <p:cNvSpPr>
            <a:spLocks noGrp="1"/>
          </p:cNvSpPr>
          <p:nvPr/>
        </p:nvSpPr>
        <p:spPr>
          <a:xfrm>
            <a:off x="3724275" y="2209800"/>
            <a:ext cx="4648200" cy="2095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CEC501-3437-4DEA-BDD9-813890D1B3DB}"/>
              </a:ext>
            </a:extLst>
          </p:cNvPr>
          <p:cNvSpPr>
            <a:spLocks noGrp="1"/>
          </p:cNvSpPr>
          <p:nvPr/>
        </p:nvSpPr>
        <p:spPr>
          <a:xfrm>
            <a:off x="3819525" y="2276475"/>
            <a:ext cx="43815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69444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25 ns / 40.0 MHz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2007B6E-4E21-4DEC-8467-AED1BEAF9642}"/>
              </a:ext>
            </a:extLst>
          </p:cNvPr>
          <p:cNvSpPr>
            <a:spLocks noGrp="1"/>
          </p:cNvSpPr>
          <p:nvPr/>
        </p:nvSpPr>
        <p:spPr>
          <a:xfrm>
            <a:off x="8858250" y="14478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OK: 40 MHz 경계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314B531-643B-4EF8-A75B-14FBFCD0B6E3}"/>
              </a:ext>
            </a:extLst>
          </p:cNvPr>
          <p:cNvSpPr>
            <a:spLocks noGrp="1"/>
          </p:cNvSpPr>
          <p:nvPr/>
        </p:nvSpPr>
        <p:spPr>
          <a:xfrm>
            <a:off x="533400" y="272415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250 MHz 동일 설정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3705E13-6FF5-4D4D-AF69-0193E5D4205F}"/>
              </a:ext>
            </a:extLst>
          </p:cNvPr>
          <p:cNvSpPr>
            <a:spLocks noGrp="1"/>
          </p:cNvSpPr>
          <p:nvPr/>
        </p:nvSpPr>
        <p:spPr>
          <a:xfrm>
            <a:off x="533400" y="29337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T=4ns, div=1,ticks=5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9301CC8-3000-44E6-9798-92F2B078F691}"/>
              </a:ext>
            </a:extLst>
          </p:cNvPr>
          <p:cNvSpPr>
            <a:spLocks noGrp="1"/>
          </p:cNvSpPr>
          <p:nvPr/>
        </p:nvSpPr>
        <p:spPr>
          <a:xfrm>
            <a:off x="2714625" y="2895600"/>
            <a:ext cx="7858125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65C9167-C5B7-4C39-A932-C66D908ADB29}"/>
              </a:ext>
            </a:extLst>
          </p:cNvPr>
          <p:cNvSpPr>
            <a:spLocks noGrp="1"/>
          </p:cNvSpPr>
          <p:nvPr/>
        </p:nvSpPr>
        <p:spPr>
          <a:xfrm>
            <a:off x="2714625" y="2705100"/>
            <a:ext cx="20955" cy="4572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13B6FCF-E221-4A23-9AB2-1026ACEC9BE0}"/>
              </a:ext>
            </a:extLst>
          </p:cNvPr>
          <p:cNvSpPr>
            <a:spLocks noGrp="1"/>
          </p:cNvSpPr>
          <p:nvPr/>
        </p:nvSpPr>
        <p:spPr>
          <a:xfrm>
            <a:off x="2295525" y="32194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tick0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FDE6627-8BD9-4B05-9283-E0F35DD05D81}"/>
              </a:ext>
            </a:extLst>
          </p:cNvPr>
          <p:cNvSpPr>
            <a:spLocks noGrp="1"/>
          </p:cNvSpPr>
          <p:nvPr/>
        </p:nvSpPr>
        <p:spPr>
          <a:xfrm>
            <a:off x="3476625" y="2705100"/>
            <a:ext cx="20955" cy="4572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7BBA48C-4869-4E4C-B49F-3385EE4FA439}"/>
              </a:ext>
            </a:extLst>
          </p:cNvPr>
          <p:cNvSpPr>
            <a:spLocks noGrp="1"/>
          </p:cNvSpPr>
          <p:nvPr/>
        </p:nvSpPr>
        <p:spPr>
          <a:xfrm>
            <a:off x="3057525" y="32194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RDN↓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801464-81BD-4A73-A7D4-E79BD77CA2C2}"/>
              </a:ext>
            </a:extLst>
          </p:cNvPr>
          <p:cNvSpPr>
            <a:spLocks noGrp="1"/>
          </p:cNvSpPr>
          <p:nvPr/>
        </p:nvSpPr>
        <p:spPr>
          <a:xfrm>
            <a:off x="5762625" y="2705100"/>
            <a:ext cx="20955" cy="457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22F4CAA-0D2C-4703-8FF7-8BCD302A5D00}"/>
              </a:ext>
            </a:extLst>
          </p:cNvPr>
          <p:cNvSpPr>
            <a:spLocks noGrp="1"/>
          </p:cNvSpPr>
          <p:nvPr/>
        </p:nvSpPr>
        <p:spPr>
          <a:xfrm>
            <a:off x="5343525" y="32194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capture/RDN↑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A703643-AF2C-44FB-8B36-6A7BA39A3988}"/>
              </a:ext>
            </a:extLst>
          </p:cNvPr>
          <p:cNvSpPr>
            <a:spLocks noGrp="1"/>
          </p:cNvSpPr>
          <p:nvPr/>
        </p:nvSpPr>
        <p:spPr>
          <a:xfrm>
            <a:off x="7286625" y="2705100"/>
            <a:ext cx="20955" cy="4572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C91E3FA-AD5A-4F0B-B625-31B3910016E1}"/>
              </a:ext>
            </a:extLst>
          </p:cNvPr>
          <p:cNvSpPr>
            <a:spLocks noGrp="1"/>
          </p:cNvSpPr>
          <p:nvPr/>
        </p:nvSpPr>
        <p:spPr>
          <a:xfrm>
            <a:off x="6867525" y="32194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next RDN↓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BE86840-8A24-46C0-8ACE-196E70428CDD}"/>
              </a:ext>
            </a:extLst>
          </p:cNvPr>
          <p:cNvSpPr>
            <a:spLocks noGrp="1"/>
          </p:cNvSpPr>
          <p:nvPr/>
        </p:nvSpPr>
        <p:spPr>
          <a:xfrm>
            <a:off x="3476625" y="2828925"/>
            <a:ext cx="2286000" cy="1333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BDF20EF-69AD-4528-A2E3-390636B49F9A}"/>
              </a:ext>
            </a:extLst>
          </p:cNvPr>
          <p:cNvSpPr>
            <a:spLocks noGrp="1"/>
          </p:cNvSpPr>
          <p:nvPr/>
        </p:nvSpPr>
        <p:spPr>
          <a:xfrm>
            <a:off x="3533775" y="3448050"/>
            <a:ext cx="3695700" cy="209550"/>
          </a:xfrm>
          <a:prstGeom prst="rightArrow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78C44E-7DA9-430D-9944-F636C3CB6A62}"/>
              </a:ext>
            </a:extLst>
          </p:cNvPr>
          <p:cNvSpPr>
            <a:spLocks noGrp="1"/>
          </p:cNvSpPr>
          <p:nvPr/>
        </p:nvSpPr>
        <p:spPr>
          <a:xfrm>
            <a:off x="3629025" y="3514725"/>
            <a:ext cx="3429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69444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 ns / 50.0 MHz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897A9F5-DEE0-4F77-B59D-CCE9D1F63661}"/>
              </a:ext>
            </a:extLst>
          </p:cNvPr>
          <p:cNvSpPr>
            <a:spLocks noGrp="1"/>
          </p:cNvSpPr>
          <p:nvPr/>
        </p:nvSpPr>
        <p:spPr>
          <a:xfrm>
            <a:off x="8858250" y="26860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금지: 50 MHz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B009063-D60F-4A51-A3E5-8DACD1F6B02E}"/>
              </a:ext>
            </a:extLst>
          </p:cNvPr>
          <p:cNvSpPr>
            <a:spLocks noGrp="1"/>
          </p:cNvSpPr>
          <p:nvPr/>
        </p:nvSpPr>
        <p:spPr>
          <a:xfrm>
            <a:off x="533400" y="39624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250 MHz 정상 후보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F40DCC3-9336-4F70-9084-917C454417EE}"/>
              </a:ext>
            </a:extLst>
          </p:cNvPr>
          <p:cNvSpPr>
            <a:spLocks noGrp="1"/>
          </p:cNvSpPr>
          <p:nvPr/>
        </p:nvSpPr>
        <p:spPr>
          <a:xfrm>
            <a:off x="533400" y="41719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T=4ns, div=1,ticks=7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9972C2F-C2E7-4B3B-A925-63BF2C31FBBE}"/>
              </a:ext>
            </a:extLst>
          </p:cNvPr>
          <p:cNvSpPr>
            <a:spLocks noGrp="1"/>
          </p:cNvSpPr>
          <p:nvPr/>
        </p:nvSpPr>
        <p:spPr>
          <a:xfrm>
            <a:off x="2714625" y="4133850"/>
            <a:ext cx="7858125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91FAE46-4046-4DA9-BD6B-92A09D6E650D}"/>
              </a:ext>
            </a:extLst>
          </p:cNvPr>
          <p:cNvSpPr>
            <a:spLocks noGrp="1"/>
          </p:cNvSpPr>
          <p:nvPr/>
        </p:nvSpPr>
        <p:spPr>
          <a:xfrm>
            <a:off x="2714625" y="3943350"/>
            <a:ext cx="20955" cy="4572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36042D5-A26F-4053-9F2B-CA63E7BEDCAD}"/>
              </a:ext>
            </a:extLst>
          </p:cNvPr>
          <p:cNvSpPr>
            <a:spLocks noGrp="1"/>
          </p:cNvSpPr>
          <p:nvPr/>
        </p:nvSpPr>
        <p:spPr>
          <a:xfrm>
            <a:off x="2295525" y="44577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tick0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A8E5732-F848-4817-8CFD-AB2CA0A51491}"/>
              </a:ext>
            </a:extLst>
          </p:cNvPr>
          <p:cNvSpPr>
            <a:spLocks noGrp="1"/>
          </p:cNvSpPr>
          <p:nvPr/>
        </p:nvSpPr>
        <p:spPr>
          <a:xfrm>
            <a:off x="3476625" y="3943350"/>
            <a:ext cx="20955" cy="457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8C31CD9-4EB5-43AF-B7B9-7AF6011ED293}"/>
              </a:ext>
            </a:extLst>
          </p:cNvPr>
          <p:cNvSpPr>
            <a:spLocks noGrp="1"/>
          </p:cNvSpPr>
          <p:nvPr/>
        </p:nvSpPr>
        <p:spPr>
          <a:xfrm>
            <a:off x="3057525" y="44577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RDN↓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BB8AB55-A03E-4C84-9339-4DC2003184CC}"/>
              </a:ext>
            </a:extLst>
          </p:cNvPr>
          <p:cNvSpPr>
            <a:spLocks noGrp="1"/>
          </p:cNvSpPr>
          <p:nvPr/>
        </p:nvSpPr>
        <p:spPr>
          <a:xfrm>
            <a:off x="7286625" y="3943350"/>
            <a:ext cx="20955" cy="457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58BC23-5849-47A5-8179-81F6F7219E89}"/>
              </a:ext>
            </a:extLst>
          </p:cNvPr>
          <p:cNvSpPr>
            <a:spLocks noGrp="1"/>
          </p:cNvSpPr>
          <p:nvPr/>
        </p:nvSpPr>
        <p:spPr>
          <a:xfrm>
            <a:off x="6867525" y="44577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capture/RDN↑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5C2CE5B-59E0-42BA-9119-F68464CBF498}"/>
              </a:ext>
            </a:extLst>
          </p:cNvPr>
          <p:cNvSpPr>
            <a:spLocks noGrp="1"/>
          </p:cNvSpPr>
          <p:nvPr/>
        </p:nvSpPr>
        <p:spPr>
          <a:xfrm>
            <a:off x="8810625" y="3943350"/>
            <a:ext cx="20955" cy="457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6B5B77-DEA6-4A2A-A89D-4312C952652C}"/>
              </a:ext>
            </a:extLst>
          </p:cNvPr>
          <p:cNvSpPr>
            <a:spLocks noGrp="1"/>
          </p:cNvSpPr>
          <p:nvPr/>
        </p:nvSpPr>
        <p:spPr>
          <a:xfrm>
            <a:off x="8391525" y="44577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next RDN↓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F62EA63-BE50-47BE-9F60-0390E027D027}"/>
              </a:ext>
            </a:extLst>
          </p:cNvPr>
          <p:cNvSpPr>
            <a:spLocks noGrp="1"/>
          </p:cNvSpPr>
          <p:nvPr/>
        </p:nvSpPr>
        <p:spPr>
          <a:xfrm>
            <a:off x="3476625" y="4067175"/>
            <a:ext cx="3810000" cy="1333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CB5E3213-F038-436B-9764-9C848F27FF37}"/>
              </a:ext>
            </a:extLst>
          </p:cNvPr>
          <p:cNvSpPr>
            <a:spLocks noGrp="1"/>
          </p:cNvSpPr>
          <p:nvPr/>
        </p:nvSpPr>
        <p:spPr>
          <a:xfrm>
            <a:off x="3533775" y="4686300"/>
            <a:ext cx="5219700" cy="2095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9E3347C-8A69-4303-8A6C-600AEC7B0486}"/>
              </a:ext>
            </a:extLst>
          </p:cNvPr>
          <p:cNvSpPr>
            <a:spLocks noGrp="1"/>
          </p:cNvSpPr>
          <p:nvPr/>
        </p:nvSpPr>
        <p:spPr>
          <a:xfrm>
            <a:off x="3629025" y="4752975"/>
            <a:ext cx="4953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69444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28 ns / 35.7 MHz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023E5FA-0519-4A0C-95A3-A467C8292691}"/>
              </a:ext>
            </a:extLst>
          </p:cNvPr>
          <p:cNvSpPr>
            <a:spLocks noGrp="1"/>
          </p:cNvSpPr>
          <p:nvPr/>
        </p:nvSpPr>
        <p:spPr>
          <a:xfrm>
            <a:off x="8858250" y="39243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OK: 35.7 MHz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B4C9908-9C05-4074-98F6-4B97F125E203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2286000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573BEEC-ED39-4D31-BC24-DDE8AA301928}"/>
              </a:ext>
            </a:extLst>
          </p:cNvPr>
          <p:cNvSpPr>
            <a:spLocks noGrp="1"/>
          </p:cNvSpPr>
          <p:nvPr/>
        </p:nvSpPr>
        <p:spPr>
          <a:xfrm>
            <a:off x="933450" y="4924425"/>
            <a:ext cx="21336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34C40BD-510C-412C-89D9-E3B8BB787DE7}"/>
              </a:ext>
            </a:extLst>
          </p:cNvPr>
          <p:cNvSpPr>
            <a:spLocks noGrp="1"/>
          </p:cNvSpPr>
          <p:nvPr/>
        </p:nvSpPr>
        <p:spPr>
          <a:xfrm>
            <a:off x="3143250" y="4857750"/>
            <a:ext cx="2381250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15353D4-27D8-47FF-A138-3CAA899F02AF}"/>
              </a:ext>
            </a:extLst>
          </p:cNvPr>
          <p:cNvSpPr>
            <a:spLocks noGrp="1"/>
          </p:cNvSpPr>
          <p:nvPr/>
        </p:nvSpPr>
        <p:spPr>
          <a:xfrm>
            <a:off x="3219450" y="4924425"/>
            <a:ext cx="22288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200MHz 1/5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7C8435B-5BAF-4C63-8851-56A2C9456316}"/>
              </a:ext>
            </a:extLst>
          </p:cNvPr>
          <p:cNvSpPr>
            <a:spLocks noGrp="1"/>
          </p:cNvSpPr>
          <p:nvPr/>
        </p:nvSpPr>
        <p:spPr>
          <a:xfrm>
            <a:off x="5524500" y="4857750"/>
            <a:ext cx="2381250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F73ED55-9EAF-4D77-903A-1C204CB07FBC}"/>
              </a:ext>
            </a:extLst>
          </p:cNvPr>
          <p:cNvSpPr>
            <a:spLocks noGrp="1"/>
          </p:cNvSpPr>
          <p:nvPr/>
        </p:nvSpPr>
        <p:spPr>
          <a:xfrm>
            <a:off x="5600700" y="4924425"/>
            <a:ext cx="22288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250MHz 1/5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BEB741A-5C69-470E-82A5-F7C05FAAE0BE}"/>
              </a:ext>
            </a:extLst>
          </p:cNvPr>
          <p:cNvSpPr>
            <a:spLocks noGrp="1"/>
          </p:cNvSpPr>
          <p:nvPr/>
        </p:nvSpPr>
        <p:spPr>
          <a:xfrm>
            <a:off x="7905750" y="4857750"/>
            <a:ext cx="2381250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15E3E5D-9F79-4D3D-A462-290ED4C84B19}"/>
              </a:ext>
            </a:extLst>
          </p:cNvPr>
          <p:cNvSpPr>
            <a:spLocks noGrp="1"/>
          </p:cNvSpPr>
          <p:nvPr/>
        </p:nvSpPr>
        <p:spPr>
          <a:xfrm>
            <a:off x="7981950" y="4924425"/>
            <a:ext cx="22288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250MHz 1/7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2A10526-F44A-4BD3-B0B7-3E22630A14BD}"/>
              </a:ext>
            </a:extLst>
          </p:cNvPr>
          <p:cNvSpPr>
            <a:spLocks noGrp="1"/>
          </p:cNvSpPr>
          <p:nvPr/>
        </p:nvSpPr>
        <p:spPr>
          <a:xfrm>
            <a:off x="857250" y="5124450"/>
            <a:ext cx="2286000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07FD61F-1220-4D15-99FD-C35EF56F02E5}"/>
              </a:ext>
            </a:extLst>
          </p:cNvPr>
          <p:cNvSpPr>
            <a:spLocks noGrp="1"/>
          </p:cNvSpPr>
          <p:nvPr/>
        </p:nvSpPr>
        <p:spPr>
          <a:xfrm>
            <a:off x="933450" y="5181600"/>
            <a:ext cx="2133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low→capture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E9160CB-9DE9-43A0-A9FB-C1B0C37A7834}"/>
              </a:ext>
            </a:extLst>
          </p:cNvPr>
          <p:cNvSpPr>
            <a:spLocks noGrp="1"/>
          </p:cNvSpPr>
          <p:nvPr/>
        </p:nvSpPr>
        <p:spPr>
          <a:xfrm>
            <a:off x="3143250" y="5124450"/>
            <a:ext cx="2381250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3F7DDE2-FD12-4EFD-83B8-9C2FE4108C98}"/>
              </a:ext>
            </a:extLst>
          </p:cNvPr>
          <p:cNvSpPr>
            <a:spLocks noGrp="1"/>
          </p:cNvSpPr>
          <p:nvPr/>
        </p:nvSpPr>
        <p:spPr>
          <a:xfrm>
            <a:off x="3219450" y="51816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15 ns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C821746-BE58-484D-A4A8-45FDE5DB1391}"/>
              </a:ext>
            </a:extLst>
          </p:cNvPr>
          <p:cNvSpPr>
            <a:spLocks noGrp="1"/>
          </p:cNvSpPr>
          <p:nvPr/>
        </p:nvSpPr>
        <p:spPr>
          <a:xfrm>
            <a:off x="5524500" y="5124450"/>
            <a:ext cx="2381250" cy="228600"/>
          </a:xfrm>
          <a:prstGeom prst="rect">
            <a:avLst/>
          </a:prstGeom>
          <a:solidFill>
            <a:srgbClr val="FDECE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2A3212C-A9F6-4963-9A93-4638D6436BF1}"/>
              </a:ext>
            </a:extLst>
          </p:cNvPr>
          <p:cNvSpPr>
            <a:spLocks noGrp="1"/>
          </p:cNvSpPr>
          <p:nvPr/>
        </p:nvSpPr>
        <p:spPr>
          <a:xfrm>
            <a:off x="5600700" y="51816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12 ns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8C99877-0E24-4B0A-B9E3-CE5F567B8D12}"/>
              </a:ext>
            </a:extLst>
          </p:cNvPr>
          <p:cNvSpPr>
            <a:spLocks noGrp="1"/>
          </p:cNvSpPr>
          <p:nvPr/>
        </p:nvSpPr>
        <p:spPr>
          <a:xfrm>
            <a:off x="7905750" y="5124450"/>
            <a:ext cx="2381250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A8E03AD-691D-4EDF-BE36-6B77118C4C21}"/>
              </a:ext>
            </a:extLst>
          </p:cNvPr>
          <p:cNvSpPr>
            <a:spLocks noGrp="1"/>
          </p:cNvSpPr>
          <p:nvPr/>
        </p:nvSpPr>
        <p:spPr>
          <a:xfrm>
            <a:off x="7981950" y="51816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 ns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E2EF6A-1372-4E93-B1F3-8A8BA1BD2E54}"/>
              </a:ext>
            </a:extLst>
          </p:cNvPr>
          <p:cNvSpPr>
            <a:spLocks noGrp="1"/>
          </p:cNvSpPr>
          <p:nvPr/>
        </p:nvSpPr>
        <p:spPr>
          <a:xfrm>
            <a:off x="857250" y="5353050"/>
            <a:ext cx="228600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FF8DEAD-1B7B-4840-BAC8-B679E25BAB1B}"/>
              </a:ext>
            </a:extLst>
          </p:cNvPr>
          <p:cNvSpPr>
            <a:spLocks noGrp="1"/>
          </p:cNvSpPr>
          <p:nvPr/>
        </p:nvSpPr>
        <p:spPr>
          <a:xfrm>
            <a:off x="933450" y="5410200"/>
            <a:ext cx="2133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tick0→capture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7E79E535-289F-4B45-A4E2-086CF1FBA7E9}"/>
              </a:ext>
            </a:extLst>
          </p:cNvPr>
          <p:cNvSpPr>
            <a:spLocks noGrp="1"/>
          </p:cNvSpPr>
          <p:nvPr/>
        </p:nvSpPr>
        <p:spPr>
          <a:xfrm>
            <a:off x="3143250" y="5353050"/>
            <a:ext cx="238125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7F270E33-317B-4406-AD59-3F4DAE1250D7}"/>
              </a:ext>
            </a:extLst>
          </p:cNvPr>
          <p:cNvSpPr>
            <a:spLocks noGrp="1"/>
          </p:cNvSpPr>
          <p:nvPr/>
        </p:nvSpPr>
        <p:spPr>
          <a:xfrm>
            <a:off x="3219450" y="54102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 ns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5C9F5BA-1A32-49B0-B35C-D6444E9B1049}"/>
              </a:ext>
            </a:extLst>
          </p:cNvPr>
          <p:cNvSpPr>
            <a:spLocks noGrp="1"/>
          </p:cNvSpPr>
          <p:nvPr/>
        </p:nvSpPr>
        <p:spPr>
          <a:xfrm>
            <a:off x="5524500" y="5353050"/>
            <a:ext cx="2381250" cy="228600"/>
          </a:xfrm>
          <a:prstGeom prst="rect">
            <a:avLst/>
          </a:prstGeom>
          <a:solidFill>
            <a:srgbClr val="FDECE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5AA173C-D3D4-4D82-B19F-B3C091D620D0}"/>
              </a:ext>
            </a:extLst>
          </p:cNvPr>
          <p:cNvSpPr>
            <a:spLocks noGrp="1"/>
          </p:cNvSpPr>
          <p:nvPr/>
        </p:nvSpPr>
        <p:spPr>
          <a:xfrm>
            <a:off x="5600700" y="54102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16 ns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0EAF4DE-B991-4560-A522-2730D71B5520}"/>
              </a:ext>
            </a:extLst>
          </p:cNvPr>
          <p:cNvSpPr>
            <a:spLocks noGrp="1"/>
          </p:cNvSpPr>
          <p:nvPr/>
        </p:nvSpPr>
        <p:spPr>
          <a:xfrm>
            <a:off x="7905750" y="5353050"/>
            <a:ext cx="238125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66AB448-2419-4523-8A24-CDC87663A08C}"/>
              </a:ext>
            </a:extLst>
          </p:cNvPr>
          <p:cNvSpPr>
            <a:spLocks noGrp="1"/>
          </p:cNvSpPr>
          <p:nvPr/>
        </p:nvSpPr>
        <p:spPr>
          <a:xfrm>
            <a:off x="7981950" y="54102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24 ns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967B422-6BAD-4EAC-9FE8-D47C7C08293C}"/>
              </a:ext>
            </a:extLst>
          </p:cNvPr>
          <p:cNvSpPr>
            <a:spLocks noGrp="1"/>
          </p:cNvSpPr>
          <p:nvPr/>
        </p:nvSpPr>
        <p:spPr>
          <a:xfrm>
            <a:off x="857250" y="5581650"/>
            <a:ext cx="2286000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7CF3FAD-45C0-45BC-BDE3-A6C80636D5F9}"/>
              </a:ext>
            </a:extLst>
          </p:cNvPr>
          <p:cNvSpPr>
            <a:spLocks noGrp="1"/>
          </p:cNvSpPr>
          <p:nvPr/>
        </p:nvSpPr>
        <p:spPr>
          <a:xfrm>
            <a:off x="933450" y="5638800"/>
            <a:ext cx="2133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tPW-RL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48D66C2-ED45-4F7A-8D39-0BBD9B722306}"/>
              </a:ext>
            </a:extLst>
          </p:cNvPr>
          <p:cNvSpPr>
            <a:spLocks noGrp="1"/>
          </p:cNvSpPr>
          <p:nvPr/>
        </p:nvSpPr>
        <p:spPr>
          <a:xfrm>
            <a:off x="3143250" y="5581650"/>
            <a:ext cx="2381250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A88211B-11FB-4523-91CC-1E41C4DECB93}"/>
              </a:ext>
            </a:extLst>
          </p:cNvPr>
          <p:cNvSpPr>
            <a:spLocks noGrp="1"/>
          </p:cNvSpPr>
          <p:nvPr/>
        </p:nvSpPr>
        <p:spPr>
          <a:xfrm>
            <a:off x="3219450" y="56388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15 ns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306B3DF-CEB1-493A-8784-44709366D291}"/>
              </a:ext>
            </a:extLst>
          </p:cNvPr>
          <p:cNvSpPr>
            <a:spLocks noGrp="1"/>
          </p:cNvSpPr>
          <p:nvPr/>
        </p:nvSpPr>
        <p:spPr>
          <a:xfrm>
            <a:off x="5524500" y="5581650"/>
            <a:ext cx="2381250" cy="228600"/>
          </a:xfrm>
          <a:prstGeom prst="rect">
            <a:avLst/>
          </a:prstGeom>
          <a:solidFill>
            <a:srgbClr val="FDECE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57DEA34-5910-4B10-BAB4-1EEA3E099D12}"/>
              </a:ext>
            </a:extLst>
          </p:cNvPr>
          <p:cNvSpPr>
            <a:spLocks noGrp="1"/>
          </p:cNvSpPr>
          <p:nvPr/>
        </p:nvSpPr>
        <p:spPr>
          <a:xfrm>
            <a:off x="5600700" y="56388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12 ns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47AD755F-77ED-4CE0-B1BC-A14B9D2C8613}"/>
              </a:ext>
            </a:extLst>
          </p:cNvPr>
          <p:cNvSpPr>
            <a:spLocks noGrp="1"/>
          </p:cNvSpPr>
          <p:nvPr/>
        </p:nvSpPr>
        <p:spPr>
          <a:xfrm>
            <a:off x="7905750" y="5581650"/>
            <a:ext cx="2381250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777408E9-3AFC-4FC7-B3D1-17CFF5C3A869}"/>
              </a:ext>
            </a:extLst>
          </p:cNvPr>
          <p:cNvSpPr>
            <a:spLocks noGrp="1"/>
          </p:cNvSpPr>
          <p:nvPr/>
        </p:nvSpPr>
        <p:spPr>
          <a:xfrm>
            <a:off x="7981950" y="56388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 ns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ABA5C98-27A6-4721-B4B4-E26D721F06E4}"/>
              </a:ext>
            </a:extLst>
          </p:cNvPr>
          <p:cNvSpPr>
            <a:spLocks noGrp="1"/>
          </p:cNvSpPr>
          <p:nvPr/>
        </p:nvSpPr>
        <p:spPr>
          <a:xfrm>
            <a:off x="857250" y="5810250"/>
            <a:ext cx="228600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E71FFF3-B78A-48E6-ADF5-50084B08DDF8}"/>
              </a:ext>
            </a:extLst>
          </p:cNvPr>
          <p:cNvSpPr>
            <a:spLocks noGrp="1"/>
          </p:cNvSpPr>
          <p:nvPr/>
        </p:nvSpPr>
        <p:spPr>
          <a:xfrm>
            <a:off x="933450" y="5867400"/>
            <a:ext cx="2133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readout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B39D8A6-E484-41F9-8122-3B7A661685C4}"/>
              </a:ext>
            </a:extLst>
          </p:cNvPr>
          <p:cNvSpPr>
            <a:spLocks noGrp="1"/>
          </p:cNvSpPr>
          <p:nvPr/>
        </p:nvSpPr>
        <p:spPr>
          <a:xfrm>
            <a:off x="3143250" y="5810250"/>
            <a:ext cx="238125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D9A1BEF0-1AE0-4C2B-BEF4-7DF5312DBE4F}"/>
              </a:ext>
            </a:extLst>
          </p:cNvPr>
          <p:cNvSpPr>
            <a:spLocks noGrp="1"/>
          </p:cNvSpPr>
          <p:nvPr/>
        </p:nvSpPr>
        <p:spPr>
          <a:xfrm>
            <a:off x="3219450" y="58674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40 MHz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594C1779-F4E1-49D4-90A6-A4A2ED5F1817}"/>
              </a:ext>
            </a:extLst>
          </p:cNvPr>
          <p:cNvSpPr>
            <a:spLocks noGrp="1"/>
          </p:cNvSpPr>
          <p:nvPr/>
        </p:nvSpPr>
        <p:spPr>
          <a:xfrm>
            <a:off x="5524500" y="5810250"/>
            <a:ext cx="2381250" cy="228600"/>
          </a:xfrm>
          <a:prstGeom prst="rect">
            <a:avLst/>
          </a:prstGeom>
          <a:solidFill>
            <a:srgbClr val="FDECE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94D8870E-F87D-474C-B395-EFEF831F402A}"/>
              </a:ext>
            </a:extLst>
          </p:cNvPr>
          <p:cNvSpPr>
            <a:spLocks noGrp="1"/>
          </p:cNvSpPr>
          <p:nvPr/>
        </p:nvSpPr>
        <p:spPr>
          <a:xfrm>
            <a:off x="5600700" y="58674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50 MHz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CE92FB6C-B422-4266-9434-BBBC6622BFC0}"/>
              </a:ext>
            </a:extLst>
          </p:cNvPr>
          <p:cNvSpPr>
            <a:spLocks noGrp="1"/>
          </p:cNvSpPr>
          <p:nvPr/>
        </p:nvSpPr>
        <p:spPr>
          <a:xfrm>
            <a:off x="7905750" y="5810250"/>
            <a:ext cx="238125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CBD913D-8987-426E-A227-39012D488A6A}"/>
              </a:ext>
            </a:extLst>
          </p:cNvPr>
          <p:cNvSpPr>
            <a:spLocks noGrp="1"/>
          </p:cNvSpPr>
          <p:nvPr/>
        </p:nvSpPr>
        <p:spPr>
          <a:xfrm>
            <a:off x="7981950" y="58674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35.7 MHz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9F2EEF4E-A261-4786-83CF-5BA221E885C9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C01_GPX_Bus_Read_20260429_v006.md §6 / TDC-GPX-Datasheet.pdf p.7,p.27 / bus_phy:33-52,527-548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B0970CC-64B4-451E-8944-0FF0D9C506A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BEE9CDB-3E7C-4A19-8058-7DD5DF30AD47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v006 · 2026-04-29</a:t>
            </a:r>
          </a:p>
        </p:txBody>
      </p:sp>
    </p:spTree>
    <p:extLst>
      <p:ext uri="{BB962C8B-B14F-4D97-AF65-F5344CB8AC3E}">
        <p14:creationId xmlns:p14="http://schemas.microsoft.com/office/powerpoint/2010/main" val="323703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0B171EF0-217C-47BD-8459-EA1C41561C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474CEAD-A69F-4592-9172-701850382EE7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D21FE0-F31C-44EE-90A2-6DF6D7429ECE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67FFF2-D5F4-445F-94F7-1D737E374BB2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 timing과 OEN 조건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97C35F-E2B6-432D-AD09-1CC0268C7508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04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EE7BE36-51BB-4562-974F-B533153D2FAE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05B6E1-2E6E-4824-8597-5FAD878AA9B2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66675" cy="1428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4424CB-BDA3-4E8F-956D-9519EB6F3B78}"/>
              </a:ext>
            </a:extLst>
          </p:cNvPr>
          <p:cNvSpPr>
            <a:spLocks noGrp="1"/>
          </p:cNvSpPr>
          <p:nvPr/>
        </p:nvSpPr>
        <p:spPr>
          <a:xfrm>
            <a:off x="10287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 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8C431B-2835-4DE6-9D60-EB11CA359DC0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ADR + DATA setup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CSN low, 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drives D-bus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1C937559-71F3-4EE1-8B97-B239F47E5343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43000" cy="34290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ED66AA-35AA-4673-8DF6-50EC4162A0B9}"/>
              </a:ext>
            </a:extLst>
          </p:cNvPr>
          <p:cNvSpPr>
            <a:spLocks noGrp="1"/>
          </p:cNvSpPr>
          <p:nvPr/>
        </p:nvSpPr>
        <p:spPr>
          <a:xfrm>
            <a:off x="38100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L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F5D6F3C-9E25-4F94-B846-407008EDD381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64BFE7-3689-449F-9D4E-F265464F50D4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091006-E720-45AA-9637-58E51015F947}"/>
              </a:ext>
            </a:extLst>
          </p:cNvPr>
          <p:cNvSpPr>
            <a:spLocks noGrp="1"/>
          </p:cNvSpPr>
          <p:nvPr/>
        </p:nvSpPr>
        <p:spPr>
          <a:xfrm>
            <a:off x="52578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tick 1..N-2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1DD109E-BF1D-4C21-80DC-11F62F3C8E56}"/>
              </a:ext>
            </a:extLst>
          </p:cNvPr>
          <p:cNvSpPr>
            <a:spLocks noGrp="1"/>
          </p:cNvSpPr>
          <p:nvPr/>
        </p:nvSpPr>
        <p:spPr>
          <a:xfrm>
            <a:off x="52578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pulse width 확보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22F072FF-CC44-4362-9B25-4E9203B08501}"/>
              </a:ext>
            </a:extLst>
          </p:cNvPr>
          <p:cNvSpPr>
            <a:spLocks noGrp="1"/>
          </p:cNvSpPr>
          <p:nvPr/>
        </p:nvSpPr>
        <p:spPr>
          <a:xfrm>
            <a:off x="7943850" y="2000250"/>
            <a:ext cx="1143000" cy="34290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106AAE-064C-48D1-9379-F3910A1608F1}"/>
              </a:ext>
            </a:extLst>
          </p:cNvPr>
          <p:cNvSpPr>
            <a:spLocks noGrp="1"/>
          </p:cNvSpPr>
          <p:nvPr/>
        </p:nvSpPr>
        <p:spPr>
          <a:xfrm>
            <a:off x="80391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H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A5E5F5F-B0C2-4809-AE85-9B7D6DF923F2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8A4C7F1-8D96-4408-B5E7-773AA463A36B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B09973-EDFA-4F02-8196-88545F30C2A1}"/>
              </a:ext>
            </a:extLst>
          </p:cNvPr>
          <p:cNvSpPr>
            <a:spLocks noGrp="1"/>
          </p:cNvSpPr>
          <p:nvPr/>
        </p:nvSpPr>
        <p:spPr>
          <a:xfrm>
            <a:off x="9486900" y="16192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65E730-D6E7-40A2-953C-A582C029EC24}"/>
              </a:ext>
            </a:extLst>
          </p:cNvPr>
          <p:cNvSpPr>
            <a:spLocks noGrp="1"/>
          </p:cNvSpPr>
          <p:nvPr/>
        </p:nvSpPr>
        <p:spPr>
          <a:xfrm>
            <a:off x="9486900" y="1943100"/>
            <a:ext cx="17716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release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AFD27C7-2886-41DD-8B80-2774A4206831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71D5D8F-B666-4C76-A4B4-26E15C8C0444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66675" cy="1219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78CB6E-7353-48EC-A734-58E4EFE41901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58313A7-18BC-4248-918C-5E306F64489B}"/>
              </a:ext>
            </a:extLst>
          </p:cNvPr>
          <p:cNvSpPr>
            <a:spLocks noGrp="1"/>
          </p:cNvSpPr>
          <p:nvPr/>
        </p:nvSpPr>
        <p:spPr>
          <a:xfrm>
            <a:off x="10096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tS-DW ≥ 5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tH-DW ≥ 4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tPW-WL/WH ≥ 6 ns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97C7D71-D49E-4629-9C03-53BA3C46F868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CE3CB52-AC12-49D0-AC86-F7A0D0AF1BD1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66675" cy="12192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FE7116-F9FE-42E9-92E3-03F7FAB5C7E4}"/>
              </a:ext>
            </a:extLst>
          </p:cNvPr>
          <p:cNvSpPr>
            <a:spLocks noGrp="1"/>
          </p:cNvSpPr>
          <p:nvPr/>
        </p:nvSpPr>
        <p:spPr>
          <a:xfrm>
            <a:off x="37528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EAAD5E0-F0AA-45D5-A04B-FDB6D82A7C82}"/>
              </a:ext>
            </a:extLst>
          </p:cNvPr>
          <p:cNvSpPr>
            <a:spLocks noGrp="1"/>
          </p:cNvSpPr>
          <p:nvPr/>
        </p:nvSpPr>
        <p:spPr>
          <a:xfrm>
            <a:off x="37528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중 GPX OEN은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반드시 HIGH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9FDE042-E2BD-4F76-B62C-AC83A397E958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70DD366-4E34-4614-9510-1C0AC14FD993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66675" cy="1219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7B6B6C9-693F-47D5-B273-A8FCBEEA699A}"/>
              </a:ext>
            </a:extLst>
          </p:cNvPr>
          <p:cNvSpPr>
            <a:spLocks noGrp="1"/>
          </p:cNvSpPr>
          <p:nvPr/>
        </p:nvSpPr>
        <p:spPr>
          <a:xfrm>
            <a:off x="64960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방향 전환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B046099-6E0F-483A-A844-DF26FF974463}"/>
              </a:ext>
            </a:extLst>
          </p:cNvPr>
          <p:cNvSpPr>
            <a:spLocks noGrp="1"/>
          </p:cNvSpPr>
          <p:nvPr/>
        </p:nvSpPr>
        <p:spPr>
          <a:xfrm>
            <a:off x="64960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이후 WRITE는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ST_TURNAROUND 경유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D2AAAF2-1FCF-4646-95C0-374D875025D9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CB892F0-534F-4419-A02B-EB78A7A9B8D4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66675" cy="12192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77417D8-F7B0-4166-8BB9-1CC651439371}"/>
              </a:ext>
            </a:extLst>
          </p:cNvPr>
          <p:cNvSpPr>
            <a:spLocks noGrp="1"/>
          </p:cNvSpPr>
          <p:nvPr/>
        </p:nvSpPr>
        <p:spPr>
          <a:xfrm>
            <a:off x="92392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응답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6219210-EF12-4AD4-9151-FC8611F0D5B8}"/>
              </a:ext>
            </a:extLst>
          </p:cNvPr>
          <p:cNvSpPr>
            <a:spLocks noGrp="1"/>
          </p:cNvSpPr>
          <p:nvPr/>
        </p:nvSpPr>
        <p:spPr>
          <a:xfrm>
            <a:off x="92392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`tdata=0`, `tuser[0]=1`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1656172-01DD-44F5-AAA3-A69942418AB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p.7-8 / bus_phy:418-435, 608-630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3BC6B93-4568-4CFC-A0F7-3E8E6393D8D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D0D7FDA-8909-4079-8430-97F94F53D40A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v006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51581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682279DA-1D79-480F-B02E-8679E563CA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D6B66BE-3134-4D2B-A063-20C7F65B1B73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3F7107-6FEB-40E7-9A21-CC486A1C4D83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C0E232-826D-4A27-BFC9-D2B5A1EB1542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FSM과 bus contention 방지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607CF1-96D8-4645-A034-55DC9DD7F759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05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CDA6AA7-34CD-4BA5-9D5D-2419AAC8DA8D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9707C6-6C0B-45B9-BC88-90A41171B970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66675" cy="12573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5FC6F7-92C3-47A5-B3BB-5ACA8E4BE59B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ST_IDLE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1B1C23C-3E89-4723-BFDF-8D2892FC23D8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request 대기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strobes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85E7644-B726-46EA-8559-DB09463DFF3C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6BD916-B9BB-436B-860B-791A52C343E7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66675" cy="12573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008F67-7B7C-454F-90BE-3A133BA02480}"/>
              </a:ext>
            </a:extLst>
          </p:cNvPr>
          <p:cNvSpPr>
            <a:spLocks noGrp="1"/>
          </p:cNvSpPr>
          <p:nvPr/>
        </p:nvSpPr>
        <p:spPr>
          <a:xfrm>
            <a:off x="37719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113C7F-C6EE-4300-98E2-E33AE9563122}"/>
              </a:ext>
            </a:extLst>
          </p:cNvPr>
          <p:cNvSpPr>
            <a:spLocks noGrp="1"/>
          </p:cNvSpPr>
          <p:nvPr/>
        </p:nvSpPr>
        <p:spPr>
          <a:xfrm>
            <a:off x="37719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방향 전환 1 tick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A17B247-DC72-4EA8-8C5E-DC0859EF0934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AFCCF06-8E30-43F1-9616-53B175E0B805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66675" cy="1257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24B2BC-FEBA-40A6-9F51-3113DFF78DFF}"/>
              </a:ext>
            </a:extLst>
          </p:cNvPr>
          <p:cNvSpPr>
            <a:spLocks noGrp="1"/>
          </p:cNvSpPr>
          <p:nvPr/>
        </p:nvSpPr>
        <p:spPr>
          <a:xfrm>
            <a:off x="65532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ST_READ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E2D7DD2-A6B2-44C9-B09C-C0DA9DBC8D20}"/>
              </a:ext>
            </a:extLst>
          </p:cNvPr>
          <p:cNvSpPr>
            <a:spLocks noGrp="1"/>
          </p:cNvSpPr>
          <p:nvPr/>
        </p:nvSpPr>
        <p:spPr>
          <a:xfrm>
            <a:off x="65532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sample_en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response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E7A6DC6-400F-4031-8F51-67A18E05F985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4BC65E8-A3BD-4F84-8BE6-44B05BE20E6D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66675" cy="12573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63441A1-1F1F-4609-8DF2-896B1CE3AF24}"/>
              </a:ext>
            </a:extLst>
          </p:cNvPr>
          <p:cNvSpPr>
            <a:spLocks noGrp="1"/>
          </p:cNvSpPr>
          <p:nvPr/>
        </p:nvSpPr>
        <p:spPr>
          <a:xfrm>
            <a:off x="93345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ST_WRITE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A521360-EE1C-4B06-8B58-9C77EE441EA9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BAC2C397-4576-445B-B09C-1C23E26CC2A3}"/>
              </a:ext>
            </a:extLst>
          </p:cNvPr>
          <p:cNvSpPr>
            <a:spLocks noGrp="1"/>
          </p:cNvSpPr>
          <p:nvPr/>
        </p:nvSpPr>
        <p:spPr>
          <a:xfrm>
            <a:off x="22860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4EF7841-F387-4047-A80D-39847251B7BB}"/>
              </a:ext>
            </a:extLst>
          </p:cNvPr>
          <p:cNvSpPr>
            <a:spLocks noGrp="1"/>
          </p:cNvSpPr>
          <p:nvPr/>
        </p:nvSpPr>
        <p:spPr>
          <a:xfrm>
            <a:off x="23812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READ→WRITE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54AEAC6-5B29-40A1-975B-DA2BEF7C5FB1}"/>
              </a:ext>
            </a:extLst>
          </p:cNvPr>
          <p:cNvSpPr>
            <a:spLocks noGrp="1"/>
          </p:cNvSpPr>
          <p:nvPr/>
        </p:nvSpPr>
        <p:spPr>
          <a:xfrm>
            <a:off x="4686300" y="3429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EFD4110B-F69A-4F82-80DC-1A7C47CEAC82}"/>
              </a:ext>
            </a:extLst>
          </p:cNvPr>
          <p:cNvSpPr>
            <a:spLocks noGrp="1"/>
          </p:cNvSpPr>
          <p:nvPr/>
        </p:nvSpPr>
        <p:spPr>
          <a:xfrm>
            <a:off x="68961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92185BA-B341-4222-90F6-6B6E32B55E43}"/>
              </a:ext>
            </a:extLst>
          </p:cNvPr>
          <p:cNvSpPr>
            <a:spLocks noGrp="1"/>
          </p:cNvSpPr>
          <p:nvPr/>
        </p:nvSpPr>
        <p:spPr>
          <a:xfrm>
            <a:off x="69913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WRITE→READ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AE2B83A-C86E-4356-8B43-FDC62EA143BC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BBE2025-3BEC-4D0E-ADE0-68B72D13D338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66675" cy="10668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7A26433-62BE-4E94-B0EC-301D1ED8E4E3}"/>
              </a:ext>
            </a:extLst>
          </p:cNvPr>
          <p:cNvSpPr>
            <a:spLocks noGrp="1"/>
          </p:cNvSpPr>
          <p:nvPr/>
        </p:nvSpPr>
        <p:spPr>
          <a:xfrm>
            <a:off x="12954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invariant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079853C-FC69-4E30-8C58-5718D6FAC898}"/>
              </a:ext>
            </a:extLst>
          </p:cNvPr>
          <p:cNvSpPr>
            <a:spLocks noGrp="1"/>
          </p:cNvSpPr>
          <p:nvPr/>
        </p:nvSpPr>
        <p:spPr>
          <a:xfrm>
            <a:off x="12954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Hi-Z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IC가 data drive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485E0FD-152C-4945-B945-B1387BA41C30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FD32037-D87D-4038-A905-212175261562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66675" cy="10668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D1AD99C-0787-4FF4-AEF2-F518C0DB91C3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invariant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11E6BD4-AF2D-4970-A1CE-CBE9FC06220D}"/>
              </a:ext>
            </a:extLst>
          </p:cNvPr>
          <p:cNvSpPr>
            <a:spLocks noGrp="1"/>
          </p:cNvSpPr>
          <p:nvPr/>
        </p:nvSpPr>
        <p:spPr>
          <a:xfrm>
            <a:off x="485775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OEN HIGH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2562D08-428A-43F5-9622-7E17CB6C2996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0290D1-1BB0-4067-8F3E-45FD46426502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66675" cy="10668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9A6EB96-FCF0-47B7-9415-78522F9CBB67}"/>
              </a:ext>
            </a:extLst>
          </p:cNvPr>
          <p:cNvSpPr>
            <a:spLocks noGrp="1"/>
          </p:cNvSpPr>
          <p:nvPr/>
        </p:nvSpPr>
        <p:spPr>
          <a:xfrm>
            <a:off x="84201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 low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38A2E6E-1806-4DF4-B8ED-E1898D601C4D}"/>
              </a:ext>
            </a:extLst>
          </p:cNvPr>
          <p:cNvSpPr>
            <a:spLocks noGrp="1"/>
          </p:cNvSpPr>
          <p:nvPr/>
        </p:nvSpPr>
        <p:spPr>
          <a:xfrm>
            <a:off x="84201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drain burst 전용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GPX가 계속 drive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8497A9B-145D-4180-B254-2E734B207F98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p.8 / bus_phy:151-156, 359-512, 54-60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BC515FD-60DF-464A-9391-E0D0A7FF4F1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B7F3A64-03B5-4418-80EB-A65ED8141CDB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v006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120651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7C9613-4AC0-4C05-AE87-B21026C989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5D28861-8DA0-44EB-856B-A82F4CD9C243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B19D66-B5F0-48DD-BE15-DBA06005A3F6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064F77-C527-4EFC-8F7D-379A6F111AEE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AXI-Stream response 계약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8734D7-F4D0-42EA-A4CC-6E2DFA587745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06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3A5EA7B-CAE9-485A-8544-C662A9E50E46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1C0262-7267-498F-BB23-5EE52879A072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66675" cy="16764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A6EB11-CB92-486D-B02C-A803F65A2324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response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E50574-DE2F-49E7-B817-A7B00A75A017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tdata[27:0]=read data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tdata[31:28]=0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EDD9934-DB2B-417C-981A-7373348ACA95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6C1D9D-EC5D-468B-9AA0-587195A2CD55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66675" cy="16764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B3F988-2480-4010-8020-D7AF50F63A65}"/>
              </a:ext>
            </a:extLst>
          </p:cNvPr>
          <p:cNvSpPr>
            <a:spLocks noGrp="1"/>
          </p:cNvSpPr>
          <p:nvPr/>
        </p:nvSpPr>
        <p:spPr>
          <a:xfrm>
            <a:off x="483870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ack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602BE7-1F14-495A-90AF-49C31E7B45C1}"/>
              </a:ext>
            </a:extLst>
          </p:cNvPr>
          <p:cNvSpPr>
            <a:spLocks noGrp="1"/>
          </p:cNvSpPr>
          <p:nvPr/>
        </p:nvSpPr>
        <p:spPr>
          <a:xfrm>
            <a:off x="483870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tuser[0]=1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tkeep=1111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7045981-BE43-4F90-BD42-D1F9960FEDA8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8B297A-B0CA-485A-ABE9-F4D177AC6281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66675" cy="16764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168D9C-A242-437F-B2C2-8FA316AF1D70}"/>
              </a:ext>
            </a:extLst>
          </p:cNvPr>
          <p:cNvSpPr>
            <a:spLocks noGrp="1"/>
          </p:cNvSpPr>
          <p:nvPr/>
        </p:nvSpPr>
        <p:spPr>
          <a:xfrm>
            <a:off x="85534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hold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C1613C-42FA-4E64-BF13-3FBE29F02D4F}"/>
              </a:ext>
            </a:extLst>
          </p:cNvPr>
          <p:cNvSpPr>
            <a:spLocks noGrp="1"/>
          </p:cNvSpPr>
          <p:nvPr/>
        </p:nvSpPr>
        <p:spPr>
          <a:xfrm>
            <a:off x="85534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tvalid는 tready까지 유지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남은 response가 있으면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새 request accept 금지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1D13E7-547D-4B2C-8790-BE8670CC792B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chip_ctrl 소비 규칙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3ECD2F-5D7B-4662-A4BC-B9B4B4EC6309}"/>
              </a:ext>
            </a:extLst>
          </p:cNvPr>
          <p:cNvSpPr>
            <a:spLocks noGrp="1"/>
          </p:cNvSpPr>
          <p:nvPr/>
        </p:nvSpPr>
        <p:spPr>
          <a:xfrm>
            <a:off x="1104900" y="4343400"/>
            <a:ext cx="8191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tvalid가 아니라 `tvalid AND tready`인 fire pulse를 사용합니다. tready가 0이면 같은 beat를 중복 소비하지 않고, pending 신호로 watchdog을 freeze합니다.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D165F70-5758-4288-832F-E9B7312B3756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0AAAC4-105E-4F73-8D18-0D908CDB2652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66675" cy="9144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74EA814-E6F4-416C-AE8C-08FF655CDE73}"/>
              </a:ext>
            </a:extLst>
          </p:cNvPr>
          <p:cNvSpPr>
            <a:spLocks noGrp="1"/>
          </p:cNvSpPr>
          <p:nvPr/>
        </p:nvSpPr>
        <p:spPr>
          <a:xfrm>
            <a:off x="9601200" y="42481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pending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0D48A39-2EBD-40AB-9C4D-E28642443E19}"/>
              </a:ext>
            </a:extLst>
          </p:cNvPr>
          <p:cNvSpPr>
            <a:spLocks noGrp="1"/>
          </p:cNvSpPr>
          <p:nvPr/>
        </p:nvSpPr>
        <p:spPr>
          <a:xfrm>
            <a:off x="9601200" y="4572000"/>
            <a:ext cx="1390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internal deferred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or AXIS hold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AD88A18-0A6E-495C-9D6B-990ED9A96EC3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bus_phy:327-350, 654-660 / chip_ctrl:592-614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4AC1E16-C272-434B-94E8-15A41D36E07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3C12867-1F6D-48DA-8681-5E045374D83F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v006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34450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92ED7D86-73E4-4852-97EA-6214D818B8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96F7C7-4406-4C12-AC83-9F45BF6C57D1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CCE193-AC6E-4B58-A4CE-3304A70076B6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4B22FC-D8B4-4ECA-82EC-E7EF63B5F89E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Burst READ와 IFIFO drain 의미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2E1B8D-6F55-47D3-B374-54185D7911D3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07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8A9F016-E97B-4CAE-904F-9D452BBC3D7D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C1B303-51FC-4E76-A9A8-877963626CDD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66675" cy="13716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FF512B-48E7-4D13-A96E-2F0D4945E68D}"/>
              </a:ext>
            </a:extLst>
          </p:cNvPr>
          <p:cNvSpPr>
            <a:spLocks noGrp="1"/>
          </p:cNvSpPr>
          <p:nvPr/>
        </p:nvSpPr>
        <p:spPr>
          <a:xfrm>
            <a:off x="10477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731A09-8841-4321-9F16-B2B119EEDE4B}"/>
              </a:ext>
            </a:extLst>
          </p:cNvPr>
          <p:cNvSpPr>
            <a:spLocks noGrp="1"/>
          </p:cNvSpPr>
          <p:nvPr/>
        </p:nvSpPr>
        <p:spPr>
          <a:xfrm>
            <a:off x="10477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IFIFO drain 중 back-to-back READ를 수행해 bus overhead를 줄입니다.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D6F084E-184F-4A6B-8CCF-4DDDD9598CF5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0BD7B3-7421-4739-97E8-C5EADA9736FD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66675" cy="13716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E9A356-7943-43F0-8E36-0A4E6EA5F56D}"/>
              </a:ext>
            </a:extLst>
          </p:cNvPr>
          <p:cNvSpPr>
            <a:spLocks noGrp="1"/>
          </p:cNvSpPr>
          <p:nvPr/>
        </p:nvSpPr>
        <p:spPr>
          <a:xfrm>
            <a:off x="472440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latched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1E9AEF-5607-443E-8634-EDFB38546F11}"/>
              </a:ext>
            </a:extLst>
          </p:cNvPr>
          <p:cNvSpPr>
            <a:spLocks noGrp="1"/>
          </p:cNvSpPr>
          <p:nvPr/>
        </p:nvSpPr>
        <p:spPr>
          <a:xfrm>
            <a:off x="472440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`s_oen_perm_r`는 burst 시작 시 latch되어 중간 흔들림을 막습니다.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1956C92-B74B-4179-BC22-3D32BCCEB390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FB76E6-045A-44E6-B17A-27DC6475DF1F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66675" cy="13716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6C74DCD-B1C8-4B80-9262-447F616ABA8F}"/>
              </a:ext>
            </a:extLst>
          </p:cNvPr>
          <p:cNvSpPr>
            <a:spLocks noGrp="1"/>
          </p:cNvSpPr>
          <p:nvPr/>
        </p:nvSpPr>
        <p:spPr>
          <a:xfrm>
            <a:off x="84010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6728F13-9172-4969-B9C0-58FFFD12C756}"/>
              </a:ext>
            </a:extLst>
          </p:cNvPr>
          <p:cNvSpPr>
            <a:spLocks noGrp="1"/>
          </p:cNvSpPr>
          <p:nvPr/>
        </p:nvSpPr>
        <p:spPr>
          <a:xfrm>
            <a:off x="84010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empty FIFO read 금지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 active HIGH 기준은 C02에서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3010D6-418B-44F8-989C-C81243E0937B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FC513E8-4DFD-4F3A-BC90-886CE755B350}"/>
              </a:ext>
            </a:extLst>
          </p:cNvPr>
          <p:cNvSpPr>
            <a:spLocks noGrp="1"/>
          </p:cNvSpPr>
          <p:nvPr/>
        </p:nvSpPr>
        <p:spPr>
          <a:xfrm>
            <a:off x="1333500" y="39052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2C93CE-7E58-4115-ACE8-DC2692EDFD2E}"/>
              </a:ext>
            </a:extLst>
          </p:cNvPr>
          <p:cNvSpPr>
            <a:spLocks noGrp="1"/>
          </p:cNvSpPr>
          <p:nvPr/>
        </p:nvSpPr>
        <p:spPr>
          <a:xfrm>
            <a:off x="2838450" y="3752850"/>
            <a:ext cx="10668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78618C-7776-4DBD-8D84-483B53358905}"/>
              </a:ext>
            </a:extLst>
          </p:cNvPr>
          <p:cNvSpPr>
            <a:spLocks noGrp="1"/>
          </p:cNvSpPr>
          <p:nvPr/>
        </p:nvSpPr>
        <p:spPr>
          <a:xfrm>
            <a:off x="2933700" y="38481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744"/>
          </a:bodyPr>
          <a:lstStyle/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 ticks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8999510-8608-4E4D-B2AA-D3679FDC9A0C}"/>
              </a:ext>
            </a:extLst>
          </p:cNvPr>
          <p:cNvSpPr>
            <a:spLocks noGrp="1"/>
          </p:cNvSpPr>
          <p:nvPr/>
        </p:nvSpPr>
        <p:spPr>
          <a:xfrm>
            <a:off x="39052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5A2F290-32E3-456C-B68C-21FDCEDBBD3E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n+1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3978940-DCB1-475F-ACF7-802553E86706}"/>
              </a:ext>
            </a:extLst>
          </p:cNvPr>
          <p:cNvSpPr>
            <a:spLocks noGrp="1"/>
          </p:cNvSpPr>
          <p:nvPr/>
        </p:nvSpPr>
        <p:spPr>
          <a:xfrm>
            <a:off x="6076950" y="3810000"/>
            <a:ext cx="1809750" cy="4000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84E19C3-B4C8-463C-AC99-899FE739BAA9}"/>
              </a:ext>
            </a:extLst>
          </p:cNvPr>
          <p:cNvSpPr>
            <a:spLocks noGrp="1"/>
          </p:cNvSpPr>
          <p:nvPr/>
        </p:nvSpPr>
        <p:spPr>
          <a:xfrm>
            <a:off x="6172200" y="3876675"/>
            <a:ext cx="1543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 consumed?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E924157-A947-48DA-8261-AA4AF29064C4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2667000" cy="1047750"/>
          </a:xfrm>
          <a:prstGeom prst="roundRect">
            <a:avLst>
              <a:gd name="adj" fmla="val 727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5626F69-0DBE-41D6-9A92-E243905D8745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66675" cy="10477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9D5FFFC-96BC-48C7-A0AB-8ECB26777AF7}"/>
              </a:ext>
            </a:extLst>
          </p:cNvPr>
          <p:cNvSpPr>
            <a:spLocks noGrp="1"/>
          </p:cNvSpPr>
          <p:nvPr/>
        </p:nvSpPr>
        <p:spPr>
          <a:xfrm>
            <a:off x="8362950" y="36766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backpressure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01E88C8-CF32-40DB-AD0A-B2E634965851}"/>
              </a:ext>
            </a:extLst>
          </p:cNvPr>
          <p:cNvSpPr>
            <a:spLocks noGrp="1"/>
          </p:cNvSpPr>
          <p:nvPr/>
        </p:nvSpPr>
        <p:spPr>
          <a:xfrm>
            <a:off x="8362950" y="4000500"/>
            <a:ext cx="2343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response가 소비되지 않으면 다음 burst read로 진행하지 않습니다.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319E28B-BF22-4218-9223-354894F9F312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p.7,p.11-12 / bus_phy:552-576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E85F60-7F06-4A58-9F65-6EA0AB4A770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6223655-6C18-4533-8B51-3027F9F2FA22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v006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323741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2206BD39-9287-4999-B61D-14EB725A0D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7B2E79-1596-4EFF-9D84-B94FBD3A8099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676C5FF-2499-4531-88A8-9BA6CCA12014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08E3B8-D6E9-4756-A296-05ED780D3315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Status pin synchronizer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2A30A2-4724-4839-9FC6-BE762031EF60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08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75538CC-6D7B-4934-B8AB-EE372B597B0B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C1F26A-91BA-4260-935E-30BE12E97EA1}"/>
              </a:ext>
            </a:extLst>
          </p:cNvPr>
          <p:cNvSpPr>
            <a:spLocks noGrp="1"/>
          </p:cNvSpPr>
          <p:nvPr/>
        </p:nvSpPr>
        <p:spPr>
          <a:xfrm>
            <a:off x="933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EF1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8F02ABE4-FB90-407B-9A71-BDB66F1EA4C1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88A737-C389-4179-812C-463324345C9F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9A1DBF-13B2-424F-AD39-2391269D9BD2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926BAE-ED45-4A4A-87FF-E9CC7E36B340}"/>
              </a:ext>
            </a:extLst>
          </p:cNvPr>
          <p:cNvSpPr>
            <a:spLocks noGrp="1"/>
          </p:cNvSpPr>
          <p:nvPr/>
        </p:nvSpPr>
        <p:spPr>
          <a:xfrm>
            <a:off x="1314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8D6613-EDCE-4026-A786-8BEF2BAB1F72}"/>
              </a:ext>
            </a:extLst>
          </p:cNvPr>
          <p:cNvSpPr>
            <a:spLocks noGrp="1"/>
          </p:cNvSpPr>
          <p:nvPr/>
        </p:nvSpPr>
        <p:spPr>
          <a:xfrm>
            <a:off x="1352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7F9034E1-A31B-42E2-94A4-3D5ACEE949C1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F6EEDF6-A605-43DC-BC4F-0976AF95E7A2}"/>
              </a:ext>
            </a:extLst>
          </p:cNvPr>
          <p:cNvSpPr>
            <a:spLocks noGrp="1"/>
          </p:cNvSpPr>
          <p:nvPr/>
        </p:nvSpPr>
        <p:spPr>
          <a:xfrm>
            <a:off x="2476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FF66CBE-29EF-4B44-A7AB-149CB2FB64A9}"/>
              </a:ext>
            </a:extLst>
          </p:cNvPr>
          <p:cNvSpPr>
            <a:spLocks noGrp="1"/>
          </p:cNvSpPr>
          <p:nvPr/>
        </p:nvSpPr>
        <p:spPr>
          <a:xfrm>
            <a:off x="2647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EF2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496A9152-0E12-4B87-9228-76303578D130}"/>
              </a:ext>
            </a:extLst>
          </p:cNvPr>
          <p:cNvSpPr>
            <a:spLocks noGrp="1"/>
          </p:cNvSpPr>
          <p:nvPr/>
        </p:nvSpPr>
        <p:spPr>
          <a:xfrm>
            <a:off x="2667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8BF8B3-0263-495D-B4EE-F1464793B819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E5D826-580F-4BA3-A718-8E8D50E005EB}"/>
              </a:ext>
            </a:extLst>
          </p:cNvPr>
          <p:cNvSpPr>
            <a:spLocks noGrp="1"/>
          </p:cNvSpPr>
          <p:nvPr/>
        </p:nvSpPr>
        <p:spPr>
          <a:xfrm>
            <a:off x="2590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F3979F1-CE4B-4EE8-B3E5-6E98E6A82D5F}"/>
              </a:ext>
            </a:extLst>
          </p:cNvPr>
          <p:cNvSpPr>
            <a:spLocks noGrp="1"/>
          </p:cNvSpPr>
          <p:nvPr/>
        </p:nvSpPr>
        <p:spPr>
          <a:xfrm>
            <a:off x="3028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F68E9F-1976-433F-84CD-37195A8061FF}"/>
              </a:ext>
            </a:extLst>
          </p:cNvPr>
          <p:cNvSpPr>
            <a:spLocks noGrp="1"/>
          </p:cNvSpPr>
          <p:nvPr/>
        </p:nvSpPr>
        <p:spPr>
          <a:xfrm>
            <a:off x="3067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33790951-E1F8-47EF-AD96-3E9A11F5E939}"/>
              </a:ext>
            </a:extLst>
          </p:cNvPr>
          <p:cNvSpPr>
            <a:spLocks noGrp="1"/>
          </p:cNvSpPr>
          <p:nvPr/>
        </p:nvSpPr>
        <p:spPr>
          <a:xfrm>
            <a:off x="2667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B61CFC6-CDD4-43B8-AC73-4B0D27FCDF35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2160044-B412-42AB-A0A2-A43F647D6D18}"/>
              </a:ext>
            </a:extLst>
          </p:cNvPr>
          <p:cNvSpPr>
            <a:spLocks noGrp="1"/>
          </p:cNvSpPr>
          <p:nvPr/>
        </p:nvSpPr>
        <p:spPr>
          <a:xfrm>
            <a:off x="4362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607323B5-4B43-444A-B32E-7FD26DCA9259}"/>
              </a:ext>
            </a:extLst>
          </p:cNvPr>
          <p:cNvSpPr>
            <a:spLocks noGrp="1"/>
          </p:cNvSpPr>
          <p:nvPr/>
        </p:nvSpPr>
        <p:spPr>
          <a:xfrm>
            <a:off x="4381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1A98E06-A162-415E-A108-0D750EA1C89D}"/>
              </a:ext>
            </a:extLst>
          </p:cNvPr>
          <p:cNvSpPr>
            <a:spLocks noGrp="1"/>
          </p:cNvSpPr>
          <p:nvPr/>
        </p:nvSpPr>
        <p:spPr>
          <a:xfrm>
            <a:off x="4267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E427947-D9B4-4492-8D64-0A00C3D200ED}"/>
              </a:ext>
            </a:extLst>
          </p:cNvPr>
          <p:cNvSpPr>
            <a:spLocks noGrp="1"/>
          </p:cNvSpPr>
          <p:nvPr/>
        </p:nvSpPr>
        <p:spPr>
          <a:xfrm>
            <a:off x="4305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44CB5C7-1C7F-4DCE-B9FC-F2346003DA43}"/>
              </a:ext>
            </a:extLst>
          </p:cNvPr>
          <p:cNvSpPr>
            <a:spLocks noGrp="1"/>
          </p:cNvSpPr>
          <p:nvPr/>
        </p:nvSpPr>
        <p:spPr>
          <a:xfrm>
            <a:off x="4743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C5CA037-FA22-42B9-BEC0-C376ED5954F2}"/>
              </a:ext>
            </a:extLst>
          </p:cNvPr>
          <p:cNvSpPr>
            <a:spLocks noGrp="1"/>
          </p:cNvSpPr>
          <p:nvPr/>
        </p:nvSpPr>
        <p:spPr>
          <a:xfrm>
            <a:off x="4781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4811AA2A-6657-4594-904B-C5286E9540E7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BDD8DD5-DBB7-496F-9962-35AA8E72DB65}"/>
              </a:ext>
            </a:extLst>
          </p:cNvPr>
          <p:cNvSpPr>
            <a:spLocks noGrp="1"/>
          </p:cNvSpPr>
          <p:nvPr/>
        </p:nvSpPr>
        <p:spPr>
          <a:xfrm>
            <a:off x="5905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4BDEE7F-211C-4B77-83E2-F5514839C744}"/>
              </a:ext>
            </a:extLst>
          </p:cNvPr>
          <p:cNvSpPr>
            <a:spLocks noGrp="1"/>
          </p:cNvSpPr>
          <p:nvPr/>
        </p:nvSpPr>
        <p:spPr>
          <a:xfrm>
            <a:off x="6076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LF2</a:t>
            </a: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1728E6F0-9082-4ACB-9D5E-3BC2CEAFB074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6996EA-C99E-4139-AB17-944B21B15643}"/>
              </a:ext>
            </a:extLst>
          </p:cNvPr>
          <p:cNvSpPr>
            <a:spLocks noGrp="1"/>
          </p:cNvSpPr>
          <p:nvPr/>
        </p:nvSpPr>
        <p:spPr>
          <a:xfrm>
            <a:off x="5981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C52E93C-FAD8-4D0C-B6A2-CD26BF4316D7}"/>
              </a:ext>
            </a:extLst>
          </p:cNvPr>
          <p:cNvSpPr>
            <a:spLocks noGrp="1"/>
          </p:cNvSpPr>
          <p:nvPr/>
        </p:nvSpPr>
        <p:spPr>
          <a:xfrm>
            <a:off x="6019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A017A88-835F-4034-9085-733BDF8ACEAD}"/>
              </a:ext>
            </a:extLst>
          </p:cNvPr>
          <p:cNvSpPr>
            <a:spLocks noGrp="1"/>
          </p:cNvSpPr>
          <p:nvPr/>
        </p:nvSpPr>
        <p:spPr>
          <a:xfrm>
            <a:off x="6457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F3366CC-326E-4DE2-BE44-51B418143D26}"/>
              </a:ext>
            </a:extLst>
          </p:cNvPr>
          <p:cNvSpPr>
            <a:spLocks noGrp="1"/>
          </p:cNvSpPr>
          <p:nvPr/>
        </p:nvSpPr>
        <p:spPr>
          <a:xfrm>
            <a:off x="6496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9F7D677B-C7AC-4123-9D8B-FA58E1832D00}"/>
              </a:ext>
            </a:extLst>
          </p:cNvPr>
          <p:cNvSpPr>
            <a:spLocks noGrp="1"/>
          </p:cNvSpPr>
          <p:nvPr/>
        </p:nvSpPr>
        <p:spPr>
          <a:xfrm>
            <a:off x="6096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791974E-552F-4454-A31D-571CF3E61C90}"/>
              </a:ext>
            </a:extLst>
          </p:cNvPr>
          <p:cNvSpPr>
            <a:spLocks noGrp="1"/>
          </p:cNvSpPr>
          <p:nvPr/>
        </p:nvSpPr>
        <p:spPr>
          <a:xfrm>
            <a:off x="7620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DE08B30-BD1F-4344-A0F0-AB6E1B66A1D5}"/>
              </a:ext>
            </a:extLst>
          </p:cNvPr>
          <p:cNvSpPr>
            <a:spLocks noGrp="1"/>
          </p:cNvSpPr>
          <p:nvPr/>
        </p:nvSpPr>
        <p:spPr>
          <a:xfrm>
            <a:off x="7791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IrFlag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C74EC00B-8729-45DA-B513-80D7E1270B73}"/>
              </a:ext>
            </a:extLst>
          </p:cNvPr>
          <p:cNvSpPr>
            <a:spLocks noGrp="1"/>
          </p:cNvSpPr>
          <p:nvPr/>
        </p:nvSpPr>
        <p:spPr>
          <a:xfrm>
            <a:off x="7810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B843D2E-DF2E-454F-B1DB-0AD7F39579C6}"/>
              </a:ext>
            </a:extLst>
          </p:cNvPr>
          <p:cNvSpPr>
            <a:spLocks noGrp="1"/>
          </p:cNvSpPr>
          <p:nvPr/>
        </p:nvSpPr>
        <p:spPr>
          <a:xfrm>
            <a:off x="7696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9520ADF-B000-4508-AAEE-DAAC60192F27}"/>
              </a:ext>
            </a:extLst>
          </p:cNvPr>
          <p:cNvSpPr>
            <a:spLocks noGrp="1"/>
          </p:cNvSpPr>
          <p:nvPr/>
        </p:nvSpPr>
        <p:spPr>
          <a:xfrm>
            <a:off x="7734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3A31446-40CF-40F8-8F1B-47E6BD0AFF14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E23F546-3AE0-4B72-9221-18616C93614B}"/>
              </a:ext>
            </a:extLst>
          </p:cNvPr>
          <p:cNvSpPr>
            <a:spLocks noGrp="1"/>
          </p:cNvSpPr>
          <p:nvPr/>
        </p:nvSpPr>
        <p:spPr>
          <a:xfrm>
            <a:off x="8210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6AF3DA53-D1D8-4A94-B944-9397A88D20C4}"/>
              </a:ext>
            </a:extLst>
          </p:cNvPr>
          <p:cNvSpPr>
            <a:spLocks noGrp="1"/>
          </p:cNvSpPr>
          <p:nvPr/>
        </p:nvSpPr>
        <p:spPr>
          <a:xfrm>
            <a:off x="7810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9883204-342D-4882-8105-651D76F8F1A9}"/>
              </a:ext>
            </a:extLst>
          </p:cNvPr>
          <p:cNvSpPr>
            <a:spLocks noGrp="1"/>
          </p:cNvSpPr>
          <p:nvPr/>
        </p:nvSpPr>
        <p:spPr>
          <a:xfrm>
            <a:off x="9334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626F949-FBBB-47EC-9DB3-42CE6CB99FCF}"/>
              </a:ext>
            </a:extLst>
          </p:cNvPr>
          <p:cNvSpPr>
            <a:spLocks noGrp="1"/>
          </p:cNvSpPr>
          <p:nvPr/>
        </p:nvSpPr>
        <p:spPr>
          <a:xfrm>
            <a:off x="9505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ErrFlag</a:t>
            </a:r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C351ECB0-35B7-4FB2-8653-4E1FAAD112BA}"/>
              </a:ext>
            </a:extLst>
          </p:cNvPr>
          <p:cNvSpPr>
            <a:spLocks noGrp="1"/>
          </p:cNvSpPr>
          <p:nvPr/>
        </p:nvSpPr>
        <p:spPr>
          <a:xfrm>
            <a:off x="9525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38C6A66-32A2-4E90-A1FE-E7A08AAB43D9}"/>
              </a:ext>
            </a:extLst>
          </p:cNvPr>
          <p:cNvSpPr>
            <a:spLocks noGrp="1"/>
          </p:cNvSpPr>
          <p:nvPr/>
        </p:nvSpPr>
        <p:spPr>
          <a:xfrm>
            <a:off x="9410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187279E-B757-4098-978D-6FD8510266ED}"/>
              </a:ext>
            </a:extLst>
          </p:cNvPr>
          <p:cNvSpPr>
            <a:spLocks noGrp="1"/>
          </p:cNvSpPr>
          <p:nvPr/>
        </p:nvSpPr>
        <p:spPr>
          <a:xfrm>
            <a:off x="9448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F6EB084-32BE-460D-AF53-176B94745BFD}"/>
              </a:ext>
            </a:extLst>
          </p:cNvPr>
          <p:cNvSpPr>
            <a:spLocks noGrp="1"/>
          </p:cNvSpPr>
          <p:nvPr/>
        </p:nvSpPr>
        <p:spPr>
          <a:xfrm>
            <a:off x="9886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8874EE5-36F8-41D3-A9A7-7BA3A0B947E8}"/>
              </a:ext>
            </a:extLst>
          </p:cNvPr>
          <p:cNvSpPr>
            <a:spLocks noGrp="1"/>
          </p:cNvSpPr>
          <p:nvPr/>
        </p:nvSpPr>
        <p:spPr>
          <a:xfrm>
            <a:off x="9925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4310C24D-7E9A-44C3-8108-EF370359D997}"/>
              </a:ext>
            </a:extLst>
          </p:cNvPr>
          <p:cNvSpPr>
            <a:spLocks noGrp="1"/>
          </p:cNvSpPr>
          <p:nvPr/>
        </p:nvSpPr>
        <p:spPr>
          <a:xfrm>
            <a:off x="9525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7A4BD81-A076-48F1-AA4F-F2EE577EAC62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85233ED-B914-4D35-A93F-69711866A8A8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66675" cy="10858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948140B-A4D3-441C-9F63-9BCDBBE85F99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polarity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43C4150-5499-4074-A3DD-B1E457C3B5F8}"/>
              </a:ext>
            </a:extLst>
          </p:cNvPr>
          <p:cNvSpPr>
            <a:spLocks noGrp="1"/>
          </p:cNvSpPr>
          <p:nvPr/>
        </p:nvSpPr>
        <p:spPr>
          <a:xfrm>
            <a:off x="133350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EF1/EF2: empty flag active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LF1/LF2: load flag active HIGH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B52BFAD-543B-4413-81C1-FB0445CB0F15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D03E728-54BB-4998-8869-F128C09C6702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66675" cy="10858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CB94996-DD57-453D-BC12-93EBE4AAF83F}"/>
              </a:ext>
            </a:extLst>
          </p:cNvPr>
          <p:cNvSpPr>
            <a:spLocks noGrp="1"/>
          </p:cNvSpPr>
          <p:nvPr/>
        </p:nvSpPr>
        <p:spPr>
          <a:xfrm>
            <a:off x="4810125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tS-EF guard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6571D06-3FE4-4CA8-B2DC-B3D8CBD10156}"/>
              </a:ext>
            </a:extLst>
          </p:cNvPr>
          <p:cNvSpPr>
            <a:spLocks noGrp="1"/>
          </p:cNvSpPr>
          <p:nvPr/>
        </p:nvSpPr>
        <p:spPr>
          <a:xfrm>
            <a:off x="4810125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200 MHz raw pin: 3clk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EF_sync: 4clk 이상으로 관측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D3FE8DD-00A9-4131-9F53-2511AC641D21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D1CE290-09A3-4A0E-8DBC-E2BD0A3705D8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66675" cy="10858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0EF4014-79A3-4A02-9E42-88EE8963DB39}"/>
              </a:ext>
            </a:extLst>
          </p:cNvPr>
          <p:cNvSpPr>
            <a:spLocks noGrp="1"/>
          </p:cNvSpPr>
          <p:nvPr/>
        </p:nvSpPr>
        <p:spPr>
          <a:xfrm>
            <a:off x="828675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250 MHz 주의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91CDF0B-AE67-4C88-997C-7FF0D6107000}"/>
              </a:ext>
            </a:extLst>
          </p:cNvPr>
          <p:cNvSpPr>
            <a:spLocks noGrp="1"/>
          </p:cNvSpPr>
          <p:nvPr/>
        </p:nvSpPr>
        <p:spPr>
          <a:xfrm>
            <a:off x="828675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3clk=12ns는 margin 0.2ns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readout은 ticks*div&gt;=7 필요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5649A13-7A14-4EE9-9582-35D409A6DA8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p.11-12 / bus_phy:234-246, 665-705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867E6CF-9CEF-41C3-8796-A72D10F8506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2181704A-6F9D-4A1F-95CE-3BE97753D92F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v006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136902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>
            <a:extLst>
              <a:ext uri="{FF2B5EF4-FFF2-40B4-BE49-F238E27FC236}">
                <a16:creationId xmlns:a16="http://schemas.microsoft.com/office/drawing/2014/main" id="{FB3613B7-2A08-4F2F-A288-D4A97EFFF3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EFD00B-852D-4B22-B830-B29E61F645AB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CF7E8A-F849-4969-9D0C-2E8ECBD6EE61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D2E351-8DFA-4629-B3DC-EB93E03D4A65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코드 리뷰 findings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4C222D-85B0-4487-80AB-FA4F1774F13C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09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9B60F5-9131-455B-8BEC-068B4D4E700F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6667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CF6E7B-1EF0-4E74-ABAD-A1ECDC6905B7}"/>
              </a:ext>
            </a:extLst>
          </p:cNvPr>
          <p:cNvSpPr>
            <a:spLocks noGrp="1"/>
          </p:cNvSpPr>
          <p:nvPr/>
        </p:nvSpPr>
        <p:spPr>
          <a:xfrm>
            <a:off x="742950" y="1447800"/>
            <a:ext cx="514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57F6B2-1A03-4779-8CB6-BADE213B6585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247650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DACB40-9D63-4E70-AE21-0BDE7CE07583}"/>
              </a:ext>
            </a:extLst>
          </p:cNvPr>
          <p:cNvSpPr>
            <a:spLocks noGrp="1"/>
          </p:cNvSpPr>
          <p:nvPr/>
        </p:nvSpPr>
        <p:spPr>
          <a:xfrm>
            <a:off x="1409700" y="1447800"/>
            <a:ext cx="2324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D70E629-B26A-4F19-A665-AF811BE42335}"/>
              </a:ext>
            </a:extLst>
          </p:cNvPr>
          <p:cNvSpPr>
            <a:spLocks noGrp="1"/>
          </p:cNvSpPr>
          <p:nvPr/>
        </p:nvSpPr>
        <p:spPr>
          <a:xfrm>
            <a:off x="3810000" y="1333500"/>
            <a:ext cx="77152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CD637A-6944-4FF7-8E8A-21A85495941D}"/>
              </a:ext>
            </a:extLst>
          </p:cNvPr>
          <p:cNvSpPr>
            <a:spLocks noGrp="1"/>
          </p:cNvSpPr>
          <p:nvPr/>
        </p:nvSpPr>
        <p:spPr>
          <a:xfrm>
            <a:off x="3886200" y="1447800"/>
            <a:ext cx="7562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77BE4B-71F3-4037-8461-4B377CD97619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2C1173-C0AE-407A-9486-4F3D235FABCD}"/>
              </a:ext>
            </a:extLst>
          </p:cNvPr>
          <p:cNvSpPr>
            <a:spLocks noGrp="1"/>
          </p:cNvSpPr>
          <p:nvPr/>
        </p:nvSpPr>
        <p:spPr>
          <a:xfrm>
            <a:off x="762000" y="18002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2C0182-A0D8-4B55-8817-1C2450C4812B}"/>
              </a:ext>
            </a:extLst>
          </p:cNvPr>
          <p:cNvSpPr>
            <a:spLocks noGrp="1"/>
          </p:cNvSpPr>
          <p:nvPr/>
        </p:nvSpPr>
        <p:spPr>
          <a:xfrm>
            <a:off x="1333500" y="17145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BCD725-5503-4CDF-B01A-DEB5FC01E5A9}"/>
              </a:ext>
            </a:extLst>
          </p:cNvPr>
          <p:cNvSpPr>
            <a:spLocks noGrp="1"/>
          </p:cNvSpPr>
          <p:nvPr/>
        </p:nvSpPr>
        <p:spPr>
          <a:xfrm>
            <a:off x="1428750" y="18002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2AB428D-608D-4E80-B52E-00D1657A59BC}"/>
              </a:ext>
            </a:extLst>
          </p:cNvPr>
          <p:cNvSpPr>
            <a:spLocks noGrp="1"/>
          </p:cNvSpPr>
          <p:nvPr/>
        </p:nvSpPr>
        <p:spPr>
          <a:xfrm>
            <a:off x="3810000" y="17145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34DE9A8-6580-45DB-87D2-B51712894F89}"/>
              </a:ext>
            </a:extLst>
          </p:cNvPr>
          <p:cNvSpPr>
            <a:spLocks noGrp="1"/>
          </p:cNvSpPr>
          <p:nvPr/>
        </p:nvSpPr>
        <p:spPr>
          <a:xfrm>
            <a:off x="3905250" y="18002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c_BUS_CLK_DIV_MIN=1 전환 목표. div=1은 ticks&gt;=5를 Bus_Phy/upstream에서 강제해야 함.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501DE20-D1BD-44B8-B69C-54799BE55FE8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1DD50C0-EF03-4CAC-85A0-B679B8CB35E8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5842E6-AF49-43CB-8422-4108AF0AD91A}"/>
              </a:ext>
            </a:extLst>
          </p:cNvPr>
          <p:cNvSpPr>
            <a:spLocks noGrp="1"/>
          </p:cNvSpPr>
          <p:nvPr/>
        </p:nvSpPr>
        <p:spPr>
          <a:xfrm>
            <a:off x="1333500" y="22669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1F82AE3-44BA-41C7-AEC5-34C473AE9054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DFC6D6D-09FF-4657-BEBC-D51BDECF5391}"/>
              </a:ext>
            </a:extLst>
          </p:cNvPr>
          <p:cNvSpPr>
            <a:spLocks noGrp="1"/>
          </p:cNvSpPr>
          <p:nvPr/>
        </p:nvSpPr>
        <p:spPr>
          <a:xfrm>
            <a:off x="3810000" y="22669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1043F-C19F-4AB6-B55D-D6E5FE0113BA}"/>
              </a:ext>
            </a:extLst>
          </p:cNvPr>
          <p:cNvSpPr>
            <a:spLocks noGrp="1"/>
          </p:cNvSpPr>
          <p:nvPr/>
        </p:nvSpPr>
        <p:spPr>
          <a:xfrm>
            <a:off x="3905250" y="23526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Stream out clock port 필요. SYNC는 기존 구조 유사, ASYNC는 final AXI async FIFO 필요.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587ACFC-C69D-4522-B9C3-3210095150BF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1952299-CB57-4F67-86DC-ABD45FBBC8D3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D3CDEFE-39A3-496B-906F-00883AABF5F8}"/>
              </a:ext>
            </a:extLst>
          </p:cNvPr>
          <p:cNvSpPr>
            <a:spLocks noGrp="1"/>
          </p:cNvSpPr>
          <p:nvPr/>
        </p:nvSpPr>
        <p:spPr>
          <a:xfrm>
            <a:off x="1333500" y="28194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76234D2-7A7C-4011-A618-669C711FD5CA}"/>
              </a:ext>
            </a:extLst>
          </p:cNvPr>
          <p:cNvSpPr>
            <a:spLocks noGrp="1"/>
          </p:cNvSpPr>
          <p:nvPr/>
        </p:nvSpPr>
        <p:spPr>
          <a:xfrm>
            <a:off x="1428750" y="29051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F-C01-07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A601272-98C3-4DE4-B494-C1FADC511501}"/>
              </a:ext>
            </a:extLst>
          </p:cNvPr>
          <p:cNvSpPr>
            <a:spLocks noGrp="1"/>
          </p:cNvSpPr>
          <p:nvPr/>
        </p:nvSpPr>
        <p:spPr>
          <a:xfrm>
            <a:off x="3810000" y="28194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6847FD7-9CFF-4CCC-B2B8-FAE821BF0E2C}"/>
              </a:ext>
            </a:extLst>
          </p:cNvPr>
          <p:cNvSpPr>
            <a:spLocks noGrp="1"/>
          </p:cNvSpPr>
          <p:nvPr/>
        </p:nvSpPr>
        <p:spPr>
          <a:xfrm>
            <a:off x="3905250" y="29051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OEN은 dynamic 연결 또는 pull-up/미연결 두 모드. Low 고정은 회로적으로 금지.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AE51CC-1376-4758-869A-227FDEA5521F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A1C21E-3DDE-4A0B-9A8E-98637FC207E7}"/>
              </a:ext>
            </a:extLst>
          </p:cNvPr>
          <p:cNvSpPr>
            <a:spLocks noGrp="1"/>
          </p:cNvSpPr>
          <p:nvPr/>
        </p:nvSpPr>
        <p:spPr>
          <a:xfrm>
            <a:off x="762000" y="34575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C8BD544-6615-441C-AD18-8AA33CDC2773}"/>
              </a:ext>
            </a:extLst>
          </p:cNvPr>
          <p:cNvSpPr>
            <a:spLocks noGrp="1"/>
          </p:cNvSpPr>
          <p:nvPr/>
        </p:nvSpPr>
        <p:spPr>
          <a:xfrm>
            <a:off x="1333500" y="33718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6554F6E-F8C1-4BFE-85E4-77609344138F}"/>
              </a:ext>
            </a:extLst>
          </p:cNvPr>
          <p:cNvSpPr>
            <a:spLocks noGrp="1"/>
          </p:cNvSpPr>
          <p:nvPr/>
        </p:nvSpPr>
        <p:spPr>
          <a:xfrm>
            <a:off x="1428750" y="34575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F-C01-09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98C4030-B189-4729-8CBA-580149AE8FD9}"/>
              </a:ext>
            </a:extLst>
          </p:cNvPr>
          <p:cNvSpPr>
            <a:spLocks noGrp="1"/>
          </p:cNvSpPr>
          <p:nvPr/>
        </p:nvSpPr>
        <p:spPr>
          <a:xfrm>
            <a:off x="3810000" y="33718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F333E4-78BB-4DD1-96BA-6A5E8FDF9260}"/>
              </a:ext>
            </a:extLst>
          </p:cNvPr>
          <p:cNvSpPr>
            <a:spLocks noGrp="1"/>
          </p:cNvSpPr>
          <p:nvPr/>
        </p:nvSpPr>
        <p:spPr>
          <a:xfrm>
            <a:off x="3905250" y="34575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정상 READ sequence 기준 200/250MHz 비교 필요. 250MHz div=1,ticks=5는 50MHz라 금지.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FD08D2D-30DA-46DC-9FE2-9AEE32737708}"/>
              </a:ext>
            </a:extLst>
          </p:cNvPr>
          <p:cNvSpPr>
            <a:spLocks noGrp="1"/>
          </p:cNvSpPr>
          <p:nvPr/>
        </p:nvSpPr>
        <p:spPr>
          <a:xfrm>
            <a:off x="666750" y="39243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73298B0-9972-43B9-9AF7-F93CBFC2132C}"/>
              </a:ext>
            </a:extLst>
          </p:cNvPr>
          <p:cNvSpPr>
            <a:spLocks noGrp="1"/>
          </p:cNvSpPr>
          <p:nvPr/>
        </p:nvSpPr>
        <p:spPr>
          <a:xfrm>
            <a:off x="762000" y="40100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1994DD4-835B-42C2-A068-0363E9D4F8A8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379CE62-E6C5-4235-80EC-FD7F5582AC69}"/>
              </a:ext>
            </a:extLst>
          </p:cNvPr>
          <p:cNvSpPr>
            <a:spLocks noGrp="1"/>
          </p:cNvSpPr>
          <p:nvPr/>
        </p:nvSpPr>
        <p:spPr>
          <a:xfrm>
            <a:off x="1428750" y="40100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F-C01-08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4330FC9-164B-4EDD-9B67-7A0266974291}"/>
              </a:ext>
            </a:extLst>
          </p:cNvPr>
          <p:cNvSpPr>
            <a:spLocks noGrp="1"/>
          </p:cNvSpPr>
          <p:nvPr/>
        </p:nvSpPr>
        <p:spPr>
          <a:xfrm>
            <a:off x="3810000" y="39243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D294FA0-A9B5-4038-96DB-F72A1D9DF5D2}"/>
              </a:ext>
            </a:extLst>
          </p:cNvPr>
          <p:cNvSpPr>
            <a:spLocks noGrp="1"/>
          </p:cNvSpPr>
          <p:nvPr/>
        </p:nvSpPr>
        <p:spPr>
          <a:xfrm>
            <a:off x="3905250" y="40100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o_rsp_pending_r 등록화는 1clk 지연 발생. chip_ctrl 영향성은 C02에서 점검.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BDF5032-8B01-4083-8827-086A1CE01ECF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FF21F2F-D9C3-424B-88A8-D976AE0AF384}"/>
              </a:ext>
            </a:extLst>
          </p:cNvPr>
          <p:cNvSpPr>
            <a:spLocks noGrp="1"/>
          </p:cNvSpPr>
          <p:nvPr/>
        </p:nvSpPr>
        <p:spPr>
          <a:xfrm>
            <a:off x="762000" y="45624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8837E41-0ACC-4239-A396-72AFF48F9C11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FE8B49D-E770-4F16-A3E8-70169E8E36DC}"/>
              </a:ext>
            </a:extLst>
          </p:cNvPr>
          <p:cNvSpPr>
            <a:spLocks noGrp="1"/>
          </p:cNvSpPr>
          <p:nvPr/>
        </p:nvSpPr>
        <p:spPr>
          <a:xfrm>
            <a:off x="1428750" y="45624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F-C01-03~06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EF0E0EB-AE6B-4EFD-BC81-8FB5FF7B8672}"/>
              </a:ext>
            </a:extLst>
          </p:cNvPr>
          <p:cNvSpPr>
            <a:spLocks noGrp="1"/>
          </p:cNvSpPr>
          <p:nvPr/>
        </p:nvSpPr>
        <p:spPr>
          <a:xfrm>
            <a:off x="3810000" y="44767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0D16457-4889-4194-ABAB-15661A7F80BB}"/>
              </a:ext>
            </a:extLst>
          </p:cNvPr>
          <p:cNvSpPr>
            <a:spLocks noGrp="1"/>
          </p:cNvSpPr>
          <p:nvPr/>
        </p:nvSpPr>
        <p:spPr>
          <a:xfrm>
            <a:off x="3905250" y="45624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사용자 동의로 판단 유지. C02 인계 조건으로 관리.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A3E57CF-5B58-40A0-903D-1ABEE80B74E4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확정 기능 결함이라기보다, C01 경계에서 다음 단계 검증과 운용 문서화가 필요한 항목입니다.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B70C3D2-F7AB-4F86-97C4-E31D71153388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C01_GPX_Bus_Read_20260429_v006.md §6,§13 / TDC-GPX-Datasheet.pdf p.7-8,p.27,p.51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ED7539A-CFEF-4D21-9A5E-D21FC376960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54AE04A-1724-4132-A740-2CCE845A863A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v006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669085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213260FE-03F4-41F1-9557-20DA80D919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ED4DDA5-5C89-4149-BA82-591A9F9659FE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7EB1B9-5887-4E15-824E-6EFE17BC456A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91237D-8B8B-41C4-AAB8-42FE0CD4B561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종료 조건과 다음 Cluster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3B96F2-CF28-4CB8-AB8F-845145AA14B3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10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C4E558C-2EE9-4125-B5E3-D2DA8FB139F7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981009-7844-4EC5-AA8F-F569242A8457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B23D40-B1B0-47FF-A497-5F780492D1EE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C01에서 닫을 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D1C348-9FDE-40FE-B4BC-AC1F4B5A9811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정상 READ 200/250MHz 비교, 40 MHz readout, OEN mode, status sync 의미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D0B6280-E1F8-4A99-B90E-6D46A53EF66B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BAD60B0-F129-4200-A313-08B353267E48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66675" cy="14287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22C80B-BECA-422C-9FA1-02B7D07B45F4}"/>
              </a:ext>
            </a:extLst>
          </p:cNvPr>
          <p:cNvSpPr>
            <a:spLocks noGrp="1"/>
          </p:cNvSpPr>
          <p:nvPr/>
        </p:nvSpPr>
        <p:spPr>
          <a:xfrm>
            <a:off x="470535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운영 규칙 반영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D50558-D442-4051-BD7C-A872FE49D1B1}"/>
              </a:ext>
            </a:extLst>
          </p:cNvPr>
          <p:cNvSpPr>
            <a:spLocks noGrp="1"/>
          </p:cNvSpPr>
          <p:nvPr/>
        </p:nvSpPr>
        <p:spPr>
          <a:xfrm>
            <a:off x="470535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PPT Timing Diagram 필수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version lineage 유지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FF266F8-52FE-4325-91A9-6F2FD78FEEA6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D8F3AB-7E4C-4B26-AFC0-4C24E5D968C5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44E1E6-0FE5-4814-918B-51E9960F2331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C02로 넘길 것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C83209-DEA5-4DD6-8D72-BD6139CF5B1D}"/>
              </a:ext>
            </a:extLst>
          </p:cNvPr>
          <p:cNvSpPr>
            <a:spLocks noGrp="1"/>
          </p:cNvSpPr>
          <p:nvPr/>
        </p:nvSpPr>
        <p:spPr>
          <a:xfrm>
            <a:off x="84582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div=1 영향성, Stream CDC, o_rsp_pending 지연, EF drain stop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D502B58-C421-4327-83B0-4EDE3C467602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다음 Cluster로 넘길 핵심 계약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48F026-F5FE-4ADC-9557-FBA0C0F427B8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82867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정상 READ sequence 비교는 tick0-&gt;RDN low, RDN low-&gt;capture, tick0-&gt;capture, tPW-RL, period/rate로 수행합니다.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200MHz div=1,ticks=5는 40MHz 경계 정상안입니다.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250MHz에 같은 div=1,ticks=5를 쓰면 50MHz라 금지입니다.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 250MHz 정상 후보는 div=1,ticks=7, 보수 후보는 div=2,ticks=5입니다.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 Stream out은 i_m_axis_aclk와 g_STREAM_CLK_MODE(SYNC/ASYNC) 계약이 필요합니다.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6. C02는 expected count/guard 기반 drain stop을 확인해야 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502A3AA-81B6-4058-8BB5-50E386D7351C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FC7584A-FB9D-4384-B992-63B445993C64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66675" cy="11049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49C3E3C-9541-4EDF-BA56-78F14ED9E792}"/>
              </a:ext>
            </a:extLst>
          </p:cNvPr>
          <p:cNvSpPr>
            <a:spLocks noGrp="1"/>
          </p:cNvSpPr>
          <p:nvPr/>
        </p:nvSpPr>
        <p:spPr>
          <a:xfrm>
            <a:off x="9201150" y="39433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C02 시작점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D03E23D-A807-4117-A065-E05BD3978E52}"/>
              </a:ext>
            </a:extLst>
          </p:cNvPr>
          <p:cNvSpPr>
            <a:spLocks noGrp="1"/>
          </p:cNvSpPr>
          <p:nvPr/>
        </p:nvSpPr>
        <p:spPr>
          <a:xfrm>
            <a:off x="9201150" y="4267200"/>
            <a:ext cx="1771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`chip_ctrl/chip_run`의 tick, drain, pending, EF stop 영향성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42E848-05B8-4CC9-9EFC-7BE5E8EBF068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다음 파일: tdc_gpx_chip_ctrl.vhd, tdc_gpx_chip_run.vhd, tdc_gpx_chip_init.vhd, tdc_gpx_chip_reg.vhd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1D79B81-3812-4538-A49E-B3CE318F82F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9B32E43-89BB-47A1-BDC3-F996016E4F23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v006 · 2026-04-29</a:t>
            </a:r>
          </a:p>
        </p:txBody>
      </p:sp>
    </p:spTree>
    <p:extLst>
      <p:ext uri="{BB962C8B-B14F-4D97-AF65-F5344CB8AC3E}">
        <p14:creationId xmlns:p14="http://schemas.microsoft.com/office/powerpoint/2010/main" val="3559265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1597</Words>
  <Application>Microsoft Office PowerPoint</Application>
  <DocSecurity>0</DocSecurity>
  <PresentationFormat>와이드스크린</PresentationFormat>
  <Paragraphs>282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Aptos Mono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하늘 정</cp:lastModifiedBy>
  <cp:revision>1</cp:revision>
  <dcterms:created xsi:type="dcterms:W3CDTF">2026-04-29T04:01:53Z</dcterms:created>
  <dcterms:modified xsi:type="dcterms:W3CDTF">2026-04-29T04:03:04Z</dcterms:modified>
</cp:coreProperties>
</file>