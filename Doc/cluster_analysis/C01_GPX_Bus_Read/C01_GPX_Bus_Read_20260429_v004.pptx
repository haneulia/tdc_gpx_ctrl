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8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v002는 TDC-GPX datasheet를 기준 문서로 삼고, Bus_Phy timing clock을 200 MHz로 고정한다.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D06A62-0CEE-4A6C-8A9F-3C4139CF14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DC8EE0-924B-4676-9AC0-9F5832F77C09}"/>
              </a:ext>
            </a:extLst>
          </p:cNvPr>
          <p:cNvSpPr>
            <a:spLocks noGrp="1"/>
          </p:cNvSpPr>
          <p:nvPr/>
        </p:nvSpPr>
        <p:spPr>
          <a:xfrm>
            <a:off x="552450" y="9906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A7F3D0"/>
                </a:solidFill>
                <a:latin typeface="Aptos Mono"/>
                <a:ea typeface="Aptos Mono"/>
                <a:cs typeface="Aptos Mono"/>
              </a:rPr>
              <a:t>Cluster Analysis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552B54-377B-481E-B34D-28056AB4E9D9}"/>
              </a:ext>
            </a:extLst>
          </p:cNvPr>
          <p:cNvSpPr>
            <a:spLocks noGrp="1"/>
          </p:cNvSpPr>
          <p:nvPr/>
        </p:nvSpPr>
        <p:spPr>
          <a:xfrm>
            <a:off x="533400" y="1428750"/>
            <a:ext cx="857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33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C01_GPX_Bus_Read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77363D-C32C-48E6-BF56-3BCF45F7208D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8763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rPr>
              <a:t>데이터시트 기준으로 GPX IC에서 값을 읽어 오는 물리 bus primitive를 먼저 닫고, 다음 Cluster가 의존할 timing/response/status 계약을 정의합니다.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3E3096A-1860-4256-8F3E-EC243035D48D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FC5B16-E8D6-4025-8A3E-EAB03CEF4A30}"/>
              </a:ext>
            </a:extLst>
          </p:cNvPr>
          <p:cNvSpPr>
            <a:spLocks noGrp="1"/>
          </p:cNvSpPr>
          <p:nvPr/>
        </p:nvSpPr>
        <p:spPr>
          <a:xfrm>
            <a:off x="666750" y="4171950"/>
            <a:ext cx="66675" cy="1143000"/>
          </a:xfrm>
          <a:prstGeom prst="rect">
            <a:avLst/>
          </a:prstGeom>
          <a:solidFill>
            <a:srgbClr val="2CA6A4"/>
          </a:solidFill>
          <a:ln w="0">
            <a:solidFill>
              <a:srgbClr val="2CA6A4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A22CC00-1637-4622-8E56-84CABBD82B17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rPr>
              <a:t>기준 문서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B69FA31-621A-49A2-82DF-7B0E7F83C9B1}"/>
              </a:ext>
            </a:extLst>
          </p:cNvPr>
          <p:cNvSpPr>
            <a:spLocks noGrp="1"/>
          </p:cNvSpPr>
          <p:nvPr/>
        </p:nvSpPr>
        <p:spPr>
          <a:xfrm>
            <a:off x="85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Doc/TDC-GPX-Datasheet.pdf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p.7~8 bus timing / OEN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898B1CD-608B-46B6-B8CD-B8EB48C6F8DF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67AD33-D663-480C-A978-7B967649060B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092851-E2C5-46FC-9F94-1184E6E843BD}"/>
              </a:ext>
            </a:extLst>
          </p:cNvPr>
          <p:cNvSpPr>
            <a:spLocks noGrp="1"/>
          </p:cNvSpPr>
          <p:nvPr/>
        </p:nvSpPr>
        <p:spPr>
          <a:xfrm>
            <a:off x="466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Clock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351BBA0-EB3A-49D6-9682-137B2EE03530}"/>
              </a:ext>
            </a:extLst>
          </p:cNvPr>
          <p:cNvSpPr>
            <a:spLocks noGrp="1"/>
          </p:cNvSpPr>
          <p:nvPr/>
        </p:nvSpPr>
        <p:spPr>
          <a:xfrm>
            <a:off x="466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sampling clock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200 MHz, Tclk=5 ns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7870FAD-04A5-4919-AA90-0DB11EFC8B79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8CFF71-E0AA-4501-A75D-6488CE958334}"/>
              </a:ext>
            </a:extLst>
          </p:cNvPr>
          <p:cNvSpPr>
            <a:spLocks noGrp="1"/>
          </p:cNvSpPr>
          <p:nvPr/>
        </p:nvSpPr>
        <p:spPr>
          <a:xfrm>
            <a:off x="8286750" y="417195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9C0E823-7F24-4D97-BD2C-1AA5E36EF91B}"/>
              </a:ext>
            </a:extLst>
          </p:cNvPr>
          <p:cNvSpPr>
            <a:spLocks noGrp="1"/>
          </p:cNvSpPr>
          <p:nvPr/>
        </p:nvSpPr>
        <p:spPr>
          <a:xfrm>
            <a:off x="8477250" y="432435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다음 단계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A7E3169-FEE5-4997-B81F-D5451CB6A424}"/>
              </a:ext>
            </a:extLst>
          </p:cNvPr>
          <p:cNvSpPr>
            <a:spLocks noGrp="1"/>
          </p:cNvSpPr>
          <p:nvPr/>
        </p:nvSpPr>
        <p:spPr>
          <a:xfrm>
            <a:off x="8477250" y="4648200"/>
            <a:ext cx="2819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C02에서 chip_ctrl/chip_run이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 primitive를 쓰는 방식 분석</a:t>
            </a:r>
          </a:p>
        </p:txBody>
      </p:sp>
    </p:spTree>
    <p:extLst>
      <p:ext uri="{BB962C8B-B14F-4D97-AF65-F5344CB8AC3E}">
        <p14:creationId xmlns:p14="http://schemas.microsoft.com/office/powerpoint/2010/main" val="206516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0E8A1D0F-E1A3-48B6-A24C-D975912779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213B8F7-BE99-4DE6-8301-29D03165EBE2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2D98BF4-DB64-4344-B7CF-9D0A29A4F580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F65B330-92BE-4EFA-8123-740E753AB41A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Cluster 경계와 상위 연결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871B30-EEC3-48FF-886E-F46D40C28223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02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5C1B589-2869-4A7C-8EE7-443320D3F082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54D4C4-BF89-4CDB-BE7D-02D3D438FE36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66675" cy="11430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A93F62-1881-47E4-9CAB-87FE4B63A163}"/>
              </a:ext>
            </a:extLst>
          </p:cNvPr>
          <p:cNvSpPr>
            <a:spLocks noGrp="1"/>
          </p:cNvSpPr>
          <p:nvPr/>
        </p:nvSpPr>
        <p:spPr>
          <a:xfrm>
            <a:off x="781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chip_ctrl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9750AF-18BB-4021-A39C-006CE0275555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init/run/reg sub-FSM이 bus request를 만든다.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E95BC567-A04C-4749-AD79-5EB462F37305}"/>
              </a:ext>
            </a:extLst>
          </p:cNvPr>
          <p:cNvSpPr>
            <a:spLocks noGrp="1"/>
          </p:cNvSpPr>
          <p:nvPr/>
        </p:nvSpPr>
        <p:spPr>
          <a:xfrm>
            <a:off x="3238500" y="1638300"/>
            <a:ext cx="1143000" cy="36195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C5198E-0E32-40DA-BEA3-A673FCC439A4}"/>
              </a:ext>
            </a:extLst>
          </p:cNvPr>
          <p:cNvSpPr>
            <a:spLocks noGrp="1"/>
          </p:cNvSpPr>
          <p:nvPr/>
        </p:nvSpPr>
        <p:spPr>
          <a:xfrm>
            <a:off x="33337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request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3594505-8751-45A5-B553-12DC4AD7A50C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C1D6BB-35B9-4A89-92F2-259E02BB205A}"/>
              </a:ext>
            </a:extLst>
          </p:cNvPr>
          <p:cNvSpPr>
            <a:spLocks noGrp="1"/>
          </p:cNvSpPr>
          <p:nvPr/>
        </p:nvSpPr>
        <p:spPr>
          <a:xfrm>
            <a:off x="4591050" y="1238250"/>
            <a:ext cx="66675" cy="11430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4BED2A0-A3EB-4E26-A90A-52B90B44A3B6}"/>
              </a:ext>
            </a:extLst>
          </p:cNvPr>
          <p:cNvSpPr>
            <a:spLocks noGrp="1"/>
          </p:cNvSpPr>
          <p:nvPr/>
        </p:nvSpPr>
        <p:spPr>
          <a:xfrm>
            <a:off x="47815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bus_phy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DA16592-29D2-4E7A-927B-09A08132EBA3}"/>
              </a:ext>
            </a:extLst>
          </p:cNvPr>
          <p:cNvSpPr>
            <a:spLocks noGrp="1"/>
          </p:cNvSpPr>
          <p:nvPr/>
        </p:nvSpPr>
        <p:spPr>
          <a:xfrm>
            <a:off x="47815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tick-phase FSM, IOBUF, status sync, AXIS response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EC65AA5-ABFB-4F1F-A6FC-4E27F381ABC6}"/>
              </a:ext>
            </a:extLst>
          </p:cNvPr>
          <p:cNvSpPr>
            <a:spLocks noGrp="1"/>
          </p:cNvSpPr>
          <p:nvPr/>
        </p:nvSpPr>
        <p:spPr>
          <a:xfrm>
            <a:off x="7239000" y="1638300"/>
            <a:ext cx="1143000" cy="36195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C97810-0BA2-446D-9C26-0CFBCEDD0293}"/>
              </a:ext>
            </a:extLst>
          </p:cNvPr>
          <p:cNvSpPr>
            <a:spLocks noGrp="1"/>
          </p:cNvSpPr>
          <p:nvPr/>
        </p:nvSpPr>
        <p:spPr>
          <a:xfrm>
            <a:off x="7334250" y="170497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pins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1ED1659-0ABB-409C-B05C-CFCB5D64A3C5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B4F8650-F407-4BA1-817A-5BFADC68E784}"/>
              </a:ext>
            </a:extLst>
          </p:cNvPr>
          <p:cNvSpPr>
            <a:spLocks noGrp="1"/>
          </p:cNvSpPr>
          <p:nvPr/>
        </p:nvSpPr>
        <p:spPr>
          <a:xfrm>
            <a:off x="8591550" y="123825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C9BA2B0-9397-461A-AA6C-0599B53B44DE}"/>
              </a:ext>
            </a:extLst>
          </p:cNvPr>
          <p:cNvSpPr>
            <a:spLocks noGrp="1"/>
          </p:cNvSpPr>
          <p:nvPr/>
        </p:nvSpPr>
        <p:spPr>
          <a:xfrm>
            <a:off x="8782050" y="139065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TDC-GPX IC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CD7708D-C9F5-4896-89CE-9F08C0C9B35A}"/>
              </a:ext>
            </a:extLst>
          </p:cNvPr>
          <p:cNvSpPr>
            <a:spLocks noGrp="1"/>
          </p:cNvSpPr>
          <p:nvPr/>
        </p:nvSpPr>
        <p:spPr>
          <a:xfrm>
            <a:off x="8782050" y="171450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28-bit async parallel bus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EF/LF active HIGH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85526C30-36CB-4C1E-BA00-E09B68A3EB38}"/>
              </a:ext>
            </a:extLst>
          </p:cNvPr>
          <p:cNvSpPr>
            <a:spLocks noGrp="1"/>
          </p:cNvSpPr>
          <p:nvPr/>
        </p:nvSpPr>
        <p:spPr>
          <a:xfrm>
            <a:off x="8591550" y="3028950"/>
            <a:ext cx="0" cy="3619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3340AD2-1DAD-40D6-BBAE-042242C15503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D723B0C-4294-4B55-A765-81E518B0ECB1}"/>
              </a:ext>
            </a:extLst>
          </p:cNvPr>
          <p:cNvSpPr>
            <a:spLocks noGrp="1"/>
          </p:cNvSpPr>
          <p:nvPr/>
        </p:nvSpPr>
        <p:spPr>
          <a:xfrm>
            <a:off x="4591050" y="2857500"/>
            <a:ext cx="66675" cy="11430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D10AC4F-43E3-46D2-9D6A-F0A43789578D}"/>
              </a:ext>
            </a:extLst>
          </p:cNvPr>
          <p:cNvSpPr>
            <a:spLocks noGrp="1"/>
          </p:cNvSpPr>
          <p:nvPr/>
        </p:nvSpPr>
        <p:spPr>
          <a:xfrm>
            <a:off x="47815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response skid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A2FC602-2677-4CF2-BC19-8352A8A542EF}"/>
              </a:ext>
            </a:extLst>
          </p:cNvPr>
          <p:cNvSpPr>
            <a:spLocks noGrp="1"/>
          </p:cNvSpPr>
          <p:nvPr/>
        </p:nvSpPr>
        <p:spPr>
          <a:xfrm>
            <a:off x="47815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response를 40b skid로 받아 chip_ctrl에 전달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409E1C31-2F92-4454-940C-7411B5A90B55}"/>
              </a:ext>
            </a:extLst>
          </p:cNvPr>
          <p:cNvSpPr>
            <a:spLocks noGrp="1"/>
          </p:cNvSpPr>
          <p:nvPr/>
        </p:nvSpPr>
        <p:spPr>
          <a:xfrm>
            <a:off x="3238500" y="3257550"/>
            <a:ext cx="1143000" cy="361950"/>
          </a:xfrm>
          <a:prstGeom prst="rightArrow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17CB621-EAD4-40FA-B578-94909283AE0E}"/>
              </a:ext>
            </a:extLst>
          </p:cNvPr>
          <p:cNvSpPr>
            <a:spLocks noGrp="1"/>
          </p:cNvSpPr>
          <p:nvPr/>
        </p:nvSpPr>
        <p:spPr>
          <a:xfrm>
            <a:off x="3333750" y="3324225"/>
            <a:ext cx="87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response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6E9C87A-3EA1-4275-A2B2-9A07636573A5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41403A-BCC0-487C-9830-DD6AF9CC6BC5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66675" cy="11430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F8ABF83-7459-4DC6-BCDE-E26D43A0E408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2152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chip_ctrl consume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622DC7B-737E-4E88-A772-DC5118DEEC24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1526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valid AND ready fire pulse만 소비하고 pending으로 watchdog을 freeze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0FA80A7-BFCE-4E4A-B3F9-1FA738600D21}"/>
              </a:ext>
            </a:extLst>
          </p:cNvPr>
          <p:cNvSpPr>
            <a:spLocks noGrp="1"/>
          </p:cNvSpPr>
          <p:nvPr/>
        </p:nvSpPr>
        <p:spPr>
          <a:xfrm>
            <a:off x="838200" y="4810125"/>
            <a:ext cx="971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이번 Cluster는 datasheet p.7~8 기준을 bus_phy와 연결 계약에 매핑합니다.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B1940BF-3D5F-482B-9717-D25AB6355305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p.3,p.7,p.11-12 / config_ctrl:1445-1503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8C8D1B8-9152-4387-A93C-FB99E746FAA0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1625B6C-2D85-424D-BBB9-2FC9183E352D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v004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76986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3EB65B4F-8ED0-495C-9153-3E9E662B6D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15FB6B-D3CD-4B52-A4D0-77FB56B842AE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1A6127-1E2E-45CA-BFA2-DC38449B397D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FF794E-A62D-4662-B06E-149BBAAD92BE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READ/EF Timing Diagram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93EB50-803A-4C47-B4D4-D2A07DBC8DC8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03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F9B501-41BD-40FB-BC8A-CA847A47AFED}"/>
              </a:ext>
            </a:extLst>
          </p:cNvPr>
          <p:cNvSpPr>
            <a:spLocks noGrp="1"/>
          </p:cNvSpPr>
          <p:nvPr/>
        </p:nvSpPr>
        <p:spPr>
          <a:xfrm>
            <a:off x="1619250" y="1181100"/>
            <a:ext cx="23813" cy="43243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3D3DEF-EB6A-4404-B615-669B384E9038}"/>
              </a:ext>
            </a:extLst>
          </p:cNvPr>
          <p:cNvSpPr>
            <a:spLocks noGrp="1"/>
          </p:cNvSpPr>
          <p:nvPr/>
        </p:nvSpPr>
        <p:spPr>
          <a:xfrm>
            <a:off x="1276350" y="990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tick0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B10687-8344-45FD-9782-9B719DAFF02C}"/>
              </a:ext>
            </a:extLst>
          </p:cNvPr>
          <p:cNvSpPr>
            <a:spLocks noGrp="1"/>
          </p:cNvSpPr>
          <p:nvPr/>
        </p:nvSpPr>
        <p:spPr>
          <a:xfrm>
            <a:off x="3219450" y="1181100"/>
            <a:ext cx="11430" cy="43243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093E767-9BCF-4937-B54F-186A0410E5C5}"/>
              </a:ext>
            </a:extLst>
          </p:cNvPr>
          <p:cNvSpPr>
            <a:spLocks noGrp="1"/>
          </p:cNvSpPr>
          <p:nvPr/>
        </p:nvSpPr>
        <p:spPr>
          <a:xfrm>
            <a:off x="2876550" y="990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tick1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390BA9F-C7C6-42E9-9AFB-202D2B2D0F87}"/>
              </a:ext>
            </a:extLst>
          </p:cNvPr>
          <p:cNvSpPr>
            <a:spLocks noGrp="1"/>
          </p:cNvSpPr>
          <p:nvPr/>
        </p:nvSpPr>
        <p:spPr>
          <a:xfrm>
            <a:off x="4819650" y="1181100"/>
            <a:ext cx="11430" cy="43243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DCFFEBF-A99D-4551-AE36-A7D694681ACA}"/>
              </a:ext>
            </a:extLst>
          </p:cNvPr>
          <p:cNvSpPr>
            <a:spLocks noGrp="1"/>
          </p:cNvSpPr>
          <p:nvPr/>
        </p:nvSpPr>
        <p:spPr>
          <a:xfrm>
            <a:off x="4476750" y="990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tick N-2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36245A-FE4A-4CB0-B834-3F49C33E3EA7}"/>
              </a:ext>
            </a:extLst>
          </p:cNvPr>
          <p:cNvSpPr>
            <a:spLocks noGrp="1"/>
          </p:cNvSpPr>
          <p:nvPr/>
        </p:nvSpPr>
        <p:spPr>
          <a:xfrm>
            <a:off x="6419850" y="1181100"/>
            <a:ext cx="11430" cy="43243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2BB01D7-F16B-4DBE-9909-3161ADCB350B}"/>
              </a:ext>
            </a:extLst>
          </p:cNvPr>
          <p:cNvSpPr>
            <a:spLocks noGrp="1"/>
          </p:cNvSpPr>
          <p:nvPr/>
        </p:nvSpPr>
        <p:spPr>
          <a:xfrm>
            <a:off x="6076950" y="990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tick N-1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070A15-05BC-436D-8548-7A205B591887}"/>
              </a:ext>
            </a:extLst>
          </p:cNvPr>
          <p:cNvSpPr>
            <a:spLocks noGrp="1"/>
          </p:cNvSpPr>
          <p:nvPr/>
        </p:nvSpPr>
        <p:spPr>
          <a:xfrm>
            <a:off x="8020050" y="1181100"/>
            <a:ext cx="11430" cy="43243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2BA297-8DF5-483D-BF25-9D5C16D223AA}"/>
              </a:ext>
            </a:extLst>
          </p:cNvPr>
          <p:cNvSpPr>
            <a:spLocks noGrp="1"/>
          </p:cNvSpPr>
          <p:nvPr/>
        </p:nvSpPr>
        <p:spPr>
          <a:xfrm>
            <a:off x="7677150" y="990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tick 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FEB70B-B715-477F-8E47-D0C3951C2F4E}"/>
              </a:ext>
            </a:extLst>
          </p:cNvPr>
          <p:cNvSpPr>
            <a:spLocks noGrp="1"/>
          </p:cNvSpPr>
          <p:nvPr/>
        </p:nvSpPr>
        <p:spPr>
          <a:xfrm>
            <a:off x="9620250" y="1181100"/>
            <a:ext cx="11430" cy="4324350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977E4F9-463D-4477-B833-04ABD20B1294}"/>
              </a:ext>
            </a:extLst>
          </p:cNvPr>
          <p:cNvSpPr>
            <a:spLocks noGrp="1"/>
          </p:cNvSpPr>
          <p:nvPr/>
        </p:nvSpPr>
        <p:spPr>
          <a:xfrm>
            <a:off x="9277350" y="9906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next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A03086E-32E7-4E6D-A5C2-1CAE79FEFFEE}"/>
              </a:ext>
            </a:extLst>
          </p:cNvPr>
          <p:cNvSpPr>
            <a:spLocks noGrp="1"/>
          </p:cNvSpPr>
          <p:nvPr/>
        </p:nvSpPr>
        <p:spPr>
          <a:xfrm>
            <a:off x="514350" y="13335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tdc_clk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FBDA870-5464-48D9-B567-30E5DCFE47CC}"/>
              </a:ext>
            </a:extLst>
          </p:cNvPr>
          <p:cNvSpPr>
            <a:spLocks noGrp="1"/>
          </p:cNvSpPr>
          <p:nvPr/>
        </p:nvSpPr>
        <p:spPr>
          <a:xfrm>
            <a:off x="1504950" y="14287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3B71875-FFC5-4717-BD4D-CC914CF8744C}"/>
              </a:ext>
            </a:extLst>
          </p:cNvPr>
          <p:cNvSpPr>
            <a:spLocks noGrp="1"/>
          </p:cNvSpPr>
          <p:nvPr/>
        </p:nvSpPr>
        <p:spPr>
          <a:xfrm>
            <a:off x="16192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4B9472B-E179-4805-A0DD-DA6B0630DCA4}"/>
              </a:ext>
            </a:extLst>
          </p:cNvPr>
          <p:cNvSpPr>
            <a:spLocks noGrp="1"/>
          </p:cNvSpPr>
          <p:nvPr/>
        </p:nvSpPr>
        <p:spPr>
          <a:xfrm>
            <a:off x="18192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3A9E51E-D1D4-4209-9163-A8812DE7FA76}"/>
              </a:ext>
            </a:extLst>
          </p:cNvPr>
          <p:cNvSpPr>
            <a:spLocks noGrp="1"/>
          </p:cNvSpPr>
          <p:nvPr/>
        </p:nvSpPr>
        <p:spPr>
          <a:xfrm>
            <a:off x="18192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926575-99D8-44EF-87DC-F3009CE2B668}"/>
              </a:ext>
            </a:extLst>
          </p:cNvPr>
          <p:cNvSpPr>
            <a:spLocks noGrp="1"/>
          </p:cNvSpPr>
          <p:nvPr/>
        </p:nvSpPr>
        <p:spPr>
          <a:xfrm>
            <a:off x="20193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A2F6E7D-0C2B-42B0-9B4A-A9CC1C74B516}"/>
              </a:ext>
            </a:extLst>
          </p:cNvPr>
          <p:cNvSpPr>
            <a:spLocks noGrp="1"/>
          </p:cNvSpPr>
          <p:nvPr/>
        </p:nvSpPr>
        <p:spPr>
          <a:xfrm>
            <a:off x="22193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013BCB9-9E05-4D78-BBD0-388F5B9DD642}"/>
              </a:ext>
            </a:extLst>
          </p:cNvPr>
          <p:cNvSpPr>
            <a:spLocks noGrp="1"/>
          </p:cNvSpPr>
          <p:nvPr/>
        </p:nvSpPr>
        <p:spPr>
          <a:xfrm>
            <a:off x="22193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418BC9D-A13E-435F-8504-154C2F336059}"/>
              </a:ext>
            </a:extLst>
          </p:cNvPr>
          <p:cNvSpPr>
            <a:spLocks noGrp="1"/>
          </p:cNvSpPr>
          <p:nvPr/>
        </p:nvSpPr>
        <p:spPr>
          <a:xfrm>
            <a:off x="24193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D84C800-31DD-48E4-92C1-65ED007AA92E}"/>
              </a:ext>
            </a:extLst>
          </p:cNvPr>
          <p:cNvSpPr>
            <a:spLocks noGrp="1"/>
          </p:cNvSpPr>
          <p:nvPr/>
        </p:nvSpPr>
        <p:spPr>
          <a:xfrm>
            <a:off x="26193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6364D4-4BC4-44F4-8871-5EFD7E67FE82}"/>
              </a:ext>
            </a:extLst>
          </p:cNvPr>
          <p:cNvSpPr>
            <a:spLocks noGrp="1"/>
          </p:cNvSpPr>
          <p:nvPr/>
        </p:nvSpPr>
        <p:spPr>
          <a:xfrm>
            <a:off x="26193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90D97F4-6C9B-43BC-B6B2-C85503C9171F}"/>
              </a:ext>
            </a:extLst>
          </p:cNvPr>
          <p:cNvSpPr>
            <a:spLocks noGrp="1"/>
          </p:cNvSpPr>
          <p:nvPr/>
        </p:nvSpPr>
        <p:spPr>
          <a:xfrm>
            <a:off x="28194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AD9AE24-111E-4937-8C98-34DB322E7BDC}"/>
              </a:ext>
            </a:extLst>
          </p:cNvPr>
          <p:cNvSpPr>
            <a:spLocks noGrp="1"/>
          </p:cNvSpPr>
          <p:nvPr/>
        </p:nvSpPr>
        <p:spPr>
          <a:xfrm>
            <a:off x="30194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48E4084-802F-44F7-A65B-566756ADCB0B}"/>
              </a:ext>
            </a:extLst>
          </p:cNvPr>
          <p:cNvSpPr>
            <a:spLocks noGrp="1"/>
          </p:cNvSpPr>
          <p:nvPr/>
        </p:nvSpPr>
        <p:spPr>
          <a:xfrm>
            <a:off x="30194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D8D26DD-67A1-49A7-951C-B231E22A0C22}"/>
              </a:ext>
            </a:extLst>
          </p:cNvPr>
          <p:cNvSpPr>
            <a:spLocks noGrp="1"/>
          </p:cNvSpPr>
          <p:nvPr/>
        </p:nvSpPr>
        <p:spPr>
          <a:xfrm>
            <a:off x="32194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8463753-B9AA-4E95-A6D6-4549AB33B602}"/>
              </a:ext>
            </a:extLst>
          </p:cNvPr>
          <p:cNvSpPr>
            <a:spLocks noGrp="1"/>
          </p:cNvSpPr>
          <p:nvPr/>
        </p:nvSpPr>
        <p:spPr>
          <a:xfrm>
            <a:off x="34194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06A1DBF-0AAD-464B-BEE7-C9D4A57D6536}"/>
              </a:ext>
            </a:extLst>
          </p:cNvPr>
          <p:cNvSpPr>
            <a:spLocks noGrp="1"/>
          </p:cNvSpPr>
          <p:nvPr/>
        </p:nvSpPr>
        <p:spPr>
          <a:xfrm>
            <a:off x="34194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C33574E-B8DD-4EFC-A176-72F7332EAE42}"/>
              </a:ext>
            </a:extLst>
          </p:cNvPr>
          <p:cNvSpPr>
            <a:spLocks noGrp="1"/>
          </p:cNvSpPr>
          <p:nvPr/>
        </p:nvSpPr>
        <p:spPr>
          <a:xfrm>
            <a:off x="36195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F326345-86F8-4957-A25F-F694D95C93DE}"/>
              </a:ext>
            </a:extLst>
          </p:cNvPr>
          <p:cNvSpPr>
            <a:spLocks noGrp="1"/>
          </p:cNvSpPr>
          <p:nvPr/>
        </p:nvSpPr>
        <p:spPr>
          <a:xfrm>
            <a:off x="38195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46158B5-AD4C-4EC8-9DAA-1646ECF11D05}"/>
              </a:ext>
            </a:extLst>
          </p:cNvPr>
          <p:cNvSpPr>
            <a:spLocks noGrp="1"/>
          </p:cNvSpPr>
          <p:nvPr/>
        </p:nvSpPr>
        <p:spPr>
          <a:xfrm>
            <a:off x="38195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6F400AD-57FF-4B05-8680-71DDC2F2107A}"/>
              </a:ext>
            </a:extLst>
          </p:cNvPr>
          <p:cNvSpPr>
            <a:spLocks noGrp="1"/>
          </p:cNvSpPr>
          <p:nvPr/>
        </p:nvSpPr>
        <p:spPr>
          <a:xfrm>
            <a:off x="40195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3FF6D9D-D2DC-46EB-A383-2A563505C2FC}"/>
              </a:ext>
            </a:extLst>
          </p:cNvPr>
          <p:cNvSpPr>
            <a:spLocks noGrp="1"/>
          </p:cNvSpPr>
          <p:nvPr/>
        </p:nvSpPr>
        <p:spPr>
          <a:xfrm>
            <a:off x="42195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6E0CBCA-DDA0-4A12-82F8-DA47C72795FA}"/>
              </a:ext>
            </a:extLst>
          </p:cNvPr>
          <p:cNvSpPr>
            <a:spLocks noGrp="1"/>
          </p:cNvSpPr>
          <p:nvPr/>
        </p:nvSpPr>
        <p:spPr>
          <a:xfrm>
            <a:off x="42195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87A5295-E6B4-4F0E-9C52-851B6DBAA4F3}"/>
              </a:ext>
            </a:extLst>
          </p:cNvPr>
          <p:cNvSpPr>
            <a:spLocks noGrp="1"/>
          </p:cNvSpPr>
          <p:nvPr/>
        </p:nvSpPr>
        <p:spPr>
          <a:xfrm>
            <a:off x="44196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AFD41ED-8EAA-4508-B1DF-87E499F84418}"/>
              </a:ext>
            </a:extLst>
          </p:cNvPr>
          <p:cNvSpPr>
            <a:spLocks noGrp="1"/>
          </p:cNvSpPr>
          <p:nvPr/>
        </p:nvSpPr>
        <p:spPr>
          <a:xfrm>
            <a:off x="46196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FA13122-B0DB-4496-AFDB-963C7C2F7CF7}"/>
              </a:ext>
            </a:extLst>
          </p:cNvPr>
          <p:cNvSpPr>
            <a:spLocks noGrp="1"/>
          </p:cNvSpPr>
          <p:nvPr/>
        </p:nvSpPr>
        <p:spPr>
          <a:xfrm>
            <a:off x="46196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3C95EC6-8733-4506-8239-7F0940F013BE}"/>
              </a:ext>
            </a:extLst>
          </p:cNvPr>
          <p:cNvSpPr>
            <a:spLocks noGrp="1"/>
          </p:cNvSpPr>
          <p:nvPr/>
        </p:nvSpPr>
        <p:spPr>
          <a:xfrm>
            <a:off x="48196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128326B-3239-4858-B63E-092C80C486D0}"/>
              </a:ext>
            </a:extLst>
          </p:cNvPr>
          <p:cNvSpPr>
            <a:spLocks noGrp="1"/>
          </p:cNvSpPr>
          <p:nvPr/>
        </p:nvSpPr>
        <p:spPr>
          <a:xfrm>
            <a:off x="50196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FD0AF1E-D20C-48AB-AF91-DE75BD8352E1}"/>
              </a:ext>
            </a:extLst>
          </p:cNvPr>
          <p:cNvSpPr>
            <a:spLocks noGrp="1"/>
          </p:cNvSpPr>
          <p:nvPr/>
        </p:nvSpPr>
        <p:spPr>
          <a:xfrm>
            <a:off x="50196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4F586AF-4EF1-488E-8A3D-E11BC539D8B6}"/>
              </a:ext>
            </a:extLst>
          </p:cNvPr>
          <p:cNvSpPr>
            <a:spLocks noGrp="1"/>
          </p:cNvSpPr>
          <p:nvPr/>
        </p:nvSpPr>
        <p:spPr>
          <a:xfrm>
            <a:off x="52197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61CE980-B888-45F3-B7F4-E1B6A2CAEDAF}"/>
              </a:ext>
            </a:extLst>
          </p:cNvPr>
          <p:cNvSpPr>
            <a:spLocks noGrp="1"/>
          </p:cNvSpPr>
          <p:nvPr/>
        </p:nvSpPr>
        <p:spPr>
          <a:xfrm>
            <a:off x="54197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2CC0450-F6F8-4785-9FCC-3B8596DD2135}"/>
              </a:ext>
            </a:extLst>
          </p:cNvPr>
          <p:cNvSpPr>
            <a:spLocks noGrp="1"/>
          </p:cNvSpPr>
          <p:nvPr/>
        </p:nvSpPr>
        <p:spPr>
          <a:xfrm>
            <a:off x="54197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78EE52B-6C51-4013-880A-46347AEA1D0A}"/>
              </a:ext>
            </a:extLst>
          </p:cNvPr>
          <p:cNvSpPr>
            <a:spLocks noGrp="1"/>
          </p:cNvSpPr>
          <p:nvPr/>
        </p:nvSpPr>
        <p:spPr>
          <a:xfrm>
            <a:off x="56197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B408A8A-760B-45B4-9F95-B9D0C0CBFF19}"/>
              </a:ext>
            </a:extLst>
          </p:cNvPr>
          <p:cNvSpPr>
            <a:spLocks noGrp="1"/>
          </p:cNvSpPr>
          <p:nvPr/>
        </p:nvSpPr>
        <p:spPr>
          <a:xfrm>
            <a:off x="58197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34958EC-0806-4514-84C5-6E3049ACAC6D}"/>
              </a:ext>
            </a:extLst>
          </p:cNvPr>
          <p:cNvSpPr>
            <a:spLocks noGrp="1"/>
          </p:cNvSpPr>
          <p:nvPr/>
        </p:nvSpPr>
        <p:spPr>
          <a:xfrm>
            <a:off x="58197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D3FD541-AF43-4738-8F5A-0D2D97EE2A83}"/>
              </a:ext>
            </a:extLst>
          </p:cNvPr>
          <p:cNvSpPr>
            <a:spLocks noGrp="1"/>
          </p:cNvSpPr>
          <p:nvPr/>
        </p:nvSpPr>
        <p:spPr>
          <a:xfrm>
            <a:off x="60198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BF5BD3D-4698-4D92-A562-E79C43127508}"/>
              </a:ext>
            </a:extLst>
          </p:cNvPr>
          <p:cNvSpPr>
            <a:spLocks noGrp="1"/>
          </p:cNvSpPr>
          <p:nvPr/>
        </p:nvSpPr>
        <p:spPr>
          <a:xfrm>
            <a:off x="62198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E0B7CA9-EA74-4508-851E-64DBF20E4966}"/>
              </a:ext>
            </a:extLst>
          </p:cNvPr>
          <p:cNvSpPr>
            <a:spLocks noGrp="1"/>
          </p:cNvSpPr>
          <p:nvPr/>
        </p:nvSpPr>
        <p:spPr>
          <a:xfrm>
            <a:off x="62198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EA1CAE6-6C36-4803-A3BE-C42E377B819A}"/>
              </a:ext>
            </a:extLst>
          </p:cNvPr>
          <p:cNvSpPr>
            <a:spLocks noGrp="1"/>
          </p:cNvSpPr>
          <p:nvPr/>
        </p:nvSpPr>
        <p:spPr>
          <a:xfrm>
            <a:off x="64198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340EAC0-40B0-49C8-A7CB-046EB6A4FBE8}"/>
              </a:ext>
            </a:extLst>
          </p:cNvPr>
          <p:cNvSpPr>
            <a:spLocks noGrp="1"/>
          </p:cNvSpPr>
          <p:nvPr/>
        </p:nvSpPr>
        <p:spPr>
          <a:xfrm>
            <a:off x="66198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55252A6-3F61-4EFD-AE89-542E001BFA25}"/>
              </a:ext>
            </a:extLst>
          </p:cNvPr>
          <p:cNvSpPr>
            <a:spLocks noGrp="1"/>
          </p:cNvSpPr>
          <p:nvPr/>
        </p:nvSpPr>
        <p:spPr>
          <a:xfrm>
            <a:off x="66198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E607F74-13C3-480F-BA42-7CC3D23F6662}"/>
              </a:ext>
            </a:extLst>
          </p:cNvPr>
          <p:cNvSpPr>
            <a:spLocks noGrp="1"/>
          </p:cNvSpPr>
          <p:nvPr/>
        </p:nvSpPr>
        <p:spPr>
          <a:xfrm>
            <a:off x="68199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79759C7-0C65-4B3B-82DD-9004DC8482B4}"/>
              </a:ext>
            </a:extLst>
          </p:cNvPr>
          <p:cNvSpPr>
            <a:spLocks noGrp="1"/>
          </p:cNvSpPr>
          <p:nvPr/>
        </p:nvSpPr>
        <p:spPr>
          <a:xfrm>
            <a:off x="70199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50B06B6-FAA8-4D46-A185-BE2BEA25DA51}"/>
              </a:ext>
            </a:extLst>
          </p:cNvPr>
          <p:cNvSpPr>
            <a:spLocks noGrp="1"/>
          </p:cNvSpPr>
          <p:nvPr/>
        </p:nvSpPr>
        <p:spPr>
          <a:xfrm>
            <a:off x="70199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A4CB84B-F470-4E61-BC9B-A595300F2569}"/>
              </a:ext>
            </a:extLst>
          </p:cNvPr>
          <p:cNvSpPr>
            <a:spLocks noGrp="1"/>
          </p:cNvSpPr>
          <p:nvPr/>
        </p:nvSpPr>
        <p:spPr>
          <a:xfrm>
            <a:off x="72199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43EAE1A-7966-4A84-804F-ADF377EBE9CD}"/>
              </a:ext>
            </a:extLst>
          </p:cNvPr>
          <p:cNvSpPr>
            <a:spLocks noGrp="1"/>
          </p:cNvSpPr>
          <p:nvPr/>
        </p:nvSpPr>
        <p:spPr>
          <a:xfrm>
            <a:off x="74199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D822900-07C6-4240-AB18-3041C15FED61}"/>
              </a:ext>
            </a:extLst>
          </p:cNvPr>
          <p:cNvSpPr>
            <a:spLocks noGrp="1"/>
          </p:cNvSpPr>
          <p:nvPr/>
        </p:nvSpPr>
        <p:spPr>
          <a:xfrm>
            <a:off x="74199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61780B2-7618-4597-ABD5-DAC38C7233F9}"/>
              </a:ext>
            </a:extLst>
          </p:cNvPr>
          <p:cNvSpPr>
            <a:spLocks noGrp="1"/>
          </p:cNvSpPr>
          <p:nvPr/>
        </p:nvSpPr>
        <p:spPr>
          <a:xfrm>
            <a:off x="76200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AE557D4-8F8D-4393-B342-39E1A70FBEA2}"/>
              </a:ext>
            </a:extLst>
          </p:cNvPr>
          <p:cNvSpPr>
            <a:spLocks noGrp="1"/>
          </p:cNvSpPr>
          <p:nvPr/>
        </p:nvSpPr>
        <p:spPr>
          <a:xfrm>
            <a:off x="78200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073BD9F2-C71E-4458-B3FA-C02D57D91A56}"/>
              </a:ext>
            </a:extLst>
          </p:cNvPr>
          <p:cNvSpPr>
            <a:spLocks noGrp="1"/>
          </p:cNvSpPr>
          <p:nvPr/>
        </p:nvSpPr>
        <p:spPr>
          <a:xfrm>
            <a:off x="78200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6A5D393-0E22-4AE2-AD9C-C85BDCE37F1A}"/>
              </a:ext>
            </a:extLst>
          </p:cNvPr>
          <p:cNvSpPr>
            <a:spLocks noGrp="1"/>
          </p:cNvSpPr>
          <p:nvPr/>
        </p:nvSpPr>
        <p:spPr>
          <a:xfrm>
            <a:off x="80200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2733B4E-5258-4444-B592-05F21275885F}"/>
              </a:ext>
            </a:extLst>
          </p:cNvPr>
          <p:cNvSpPr>
            <a:spLocks noGrp="1"/>
          </p:cNvSpPr>
          <p:nvPr/>
        </p:nvSpPr>
        <p:spPr>
          <a:xfrm>
            <a:off x="82200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B6A2749-C7E0-401B-BC3F-11B51AF49731}"/>
              </a:ext>
            </a:extLst>
          </p:cNvPr>
          <p:cNvSpPr>
            <a:spLocks noGrp="1"/>
          </p:cNvSpPr>
          <p:nvPr/>
        </p:nvSpPr>
        <p:spPr>
          <a:xfrm>
            <a:off x="82200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C6D5145-4099-4DF2-87F2-5FE06C7FF447}"/>
              </a:ext>
            </a:extLst>
          </p:cNvPr>
          <p:cNvSpPr>
            <a:spLocks noGrp="1"/>
          </p:cNvSpPr>
          <p:nvPr/>
        </p:nvSpPr>
        <p:spPr>
          <a:xfrm>
            <a:off x="84201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0EDA612-C36F-4343-AFD9-09F0E86E298D}"/>
              </a:ext>
            </a:extLst>
          </p:cNvPr>
          <p:cNvSpPr>
            <a:spLocks noGrp="1"/>
          </p:cNvSpPr>
          <p:nvPr/>
        </p:nvSpPr>
        <p:spPr>
          <a:xfrm>
            <a:off x="86201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80C1598-61D6-4BDB-8225-4811D579A8BE}"/>
              </a:ext>
            </a:extLst>
          </p:cNvPr>
          <p:cNvSpPr>
            <a:spLocks noGrp="1"/>
          </p:cNvSpPr>
          <p:nvPr/>
        </p:nvSpPr>
        <p:spPr>
          <a:xfrm>
            <a:off x="86201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621C755-73E6-4417-B415-E9D50FB7BAB5}"/>
              </a:ext>
            </a:extLst>
          </p:cNvPr>
          <p:cNvSpPr>
            <a:spLocks noGrp="1"/>
          </p:cNvSpPr>
          <p:nvPr/>
        </p:nvSpPr>
        <p:spPr>
          <a:xfrm>
            <a:off x="88201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F482FEA-8B6F-4C98-92D3-4573EB8A2756}"/>
              </a:ext>
            </a:extLst>
          </p:cNvPr>
          <p:cNvSpPr>
            <a:spLocks noGrp="1"/>
          </p:cNvSpPr>
          <p:nvPr/>
        </p:nvSpPr>
        <p:spPr>
          <a:xfrm>
            <a:off x="90201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A5E8218-F219-47F8-A887-6774E4BBC08B}"/>
              </a:ext>
            </a:extLst>
          </p:cNvPr>
          <p:cNvSpPr>
            <a:spLocks noGrp="1"/>
          </p:cNvSpPr>
          <p:nvPr/>
        </p:nvSpPr>
        <p:spPr>
          <a:xfrm>
            <a:off x="90201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3E4A09D-EA9A-4C5C-8AA9-2BC7B72FFB3C}"/>
              </a:ext>
            </a:extLst>
          </p:cNvPr>
          <p:cNvSpPr>
            <a:spLocks noGrp="1"/>
          </p:cNvSpPr>
          <p:nvPr/>
        </p:nvSpPr>
        <p:spPr>
          <a:xfrm>
            <a:off x="922020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DCE70805-9E31-48D7-80DC-B5A31B164FCC}"/>
              </a:ext>
            </a:extLst>
          </p:cNvPr>
          <p:cNvSpPr>
            <a:spLocks noGrp="1"/>
          </p:cNvSpPr>
          <p:nvPr/>
        </p:nvSpPr>
        <p:spPr>
          <a:xfrm>
            <a:off x="942022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2DE16F5-5C77-4828-96ED-781E737449FC}"/>
              </a:ext>
            </a:extLst>
          </p:cNvPr>
          <p:cNvSpPr>
            <a:spLocks noGrp="1"/>
          </p:cNvSpPr>
          <p:nvPr/>
        </p:nvSpPr>
        <p:spPr>
          <a:xfrm>
            <a:off x="942022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02F1FA6-78B6-4966-B115-59AE1639FFF4}"/>
              </a:ext>
            </a:extLst>
          </p:cNvPr>
          <p:cNvSpPr>
            <a:spLocks noGrp="1"/>
          </p:cNvSpPr>
          <p:nvPr/>
        </p:nvSpPr>
        <p:spPr>
          <a:xfrm>
            <a:off x="9620250" y="13525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92CA5B2-D096-4EFC-B924-2199D3E7B7E7}"/>
              </a:ext>
            </a:extLst>
          </p:cNvPr>
          <p:cNvSpPr>
            <a:spLocks noGrp="1"/>
          </p:cNvSpPr>
          <p:nvPr/>
        </p:nvSpPr>
        <p:spPr>
          <a:xfrm>
            <a:off x="9820275" y="1504950"/>
            <a:ext cx="200025" cy="190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BBC12C5-B589-4F46-90F2-C0C92B4458F2}"/>
              </a:ext>
            </a:extLst>
          </p:cNvPr>
          <p:cNvSpPr>
            <a:spLocks noGrp="1"/>
          </p:cNvSpPr>
          <p:nvPr/>
        </p:nvSpPr>
        <p:spPr>
          <a:xfrm>
            <a:off x="9820275" y="1352550"/>
            <a:ext cx="14288" cy="1524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D2E0113-36BB-42F2-8E35-ABCC92FCF356}"/>
              </a:ext>
            </a:extLst>
          </p:cNvPr>
          <p:cNvSpPr>
            <a:spLocks noGrp="1"/>
          </p:cNvSpPr>
          <p:nvPr/>
        </p:nvSpPr>
        <p:spPr>
          <a:xfrm>
            <a:off x="514350" y="18669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tick_en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44737A9-8195-4B09-9D15-CD5AC6E449BF}"/>
              </a:ext>
            </a:extLst>
          </p:cNvPr>
          <p:cNvSpPr>
            <a:spLocks noGrp="1"/>
          </p:cNvSpPr>
          <p:nvPr/>
        </p:nvSpPr>
        <p:spPr>
          <a:xfrm>
            <a:off x="1504950" y="19621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A0E273CE-3E26-40CF-AB0E-C81822997640}"/>
              </a:ext>
            </a:extLst>
          </p:cNvPr>
          <p:cNvSpPr>
            <a:spLocks noGrp="1"/>
          </p:cNvSpPr>
          <p:nvPr/>
        </p:nvSpPr>
        <p:spPr>
          <a:xfrm>
            <a:off x="1543050" y="1790700"/>
            <a:ext cx="152400" cy="285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07FED08-015C-4325-8691-8BB59EABAC10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152400" cy="285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D108C6F-EF6E-4A6A-AABE-0F94D1F5CB8A}"/>
              </a:ext>
            </a:extLst>
          </p:cNvPr>
          <p:cNvSpPr>
            <a:spLocks noGrp="1"/>
          </p:cNvSpPr>
          <p:nvPr/>
        </p:nvSpPr>
        <p:spPr>
          <a:xfrm>
            <a:off x="4743450" y="1790700"/>
            <a:ext cx="152400" cy="285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95A27EE-D6CE-433C-BFDF-F1E09F9D06F1}"/>
              </a:ext>
            </a:extLst>
          </p:cNvPr>
          <p:cNvSpPr>
            <a:spLocks noGrp="1"/>
          </p:cNvSpPr>
          <p:nvPr/>
        </p:nvSpPr>
        <p:spPr>
          <a:xfrm>
            <a:off x="6343650" y="1790700"/>
            <a:ext cx="152400" cy="285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5DF9F9B-24FF-4941-9316-2EB9CAAF9BCC}"/>
              </a:ext>
            </a:extLst>
          </p:cNvPr>
          <p:cNvSpPr>
            <a:spLocks noGrp="1"/>
          </p:cNvSpPr>
          <p:nvPr/>
        </p:nvSpPr>
        <p:spPr>
          <a:xfrm>
            <a:off x="7943850" y="1790700"/>
            <a:ext cx="152400" cy="285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7DB044C-52AD-4AFF-BC85-6099B26AA841}"/>
              </a:ext>
            </a:extLst>
          </p:cNvPr>
          <p:cNvSpPr>
            <a:spLocks noGrp="1"/>
          </p:cNvSpPr>
          <p:nvPr/>
        </p:nvSpPr>
        <p:spPr>
          <a:xfrm>
            <a:off x="514350" y="24003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CSN_n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1C090736-18AC-4913-9F40-47A7387DAC31}"/>
              </a:ext>
            </a:extLst>
          </p:cNvPr>
          <p:cNvSpPr>
            <a:spLocks noGrp="1"/>
          </p:cNvSpPr>
          <p:nvPr/>
        </p:nvSpPr>
        <p:spPr>
          <a:xfrm>
            <a:off x="1504950" y="24955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46B1D704-7EB4-4737-BF28-2E3180F0D49A}"/>
              </a:ext>
            </a:extLst>
          </p:cNvPr>
          <p:cNvSpPr>
            <a:spLocks noGrp="1"/>
          </p:cNvSpPr>
          <p:nvPr/>
        </p:nvSpPr>
        <p:spPr>
          <a:xfrm>
            <a:off x="1504950" y="2266950"/>
            <a:ext cx="114300" cy="28575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813D6548-BA57-4AC0-99B0-A879560699D4}"/>
              </a:ext>
            </a:extLst>
          </p:cNvPr>
          <p:cNvSpPr>
            <a:spLocks noGrp="1"/>
          </p:cNvSpPr>
          <p:nvPr/>
        </p:nvSpPr>
        <p:spPr>
          <a:xfrm>
            <a:off x="1619250" y="2266950"/>
            <a:ext cx="28575" cy="2476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F3AB62B-B5D5-49D5-A80E-1CB440C1F8AC}"/>
              </a:ext>
            </a:extLst>
          </p:cNvPr>
          <p:cNvSpPr>
            <a:spLocks noGrp="1"/>
          </p:cNvSpPr>
          <p:nvPr/>
        </p:nvSpPr>
        <p:spPr>
          <a:xfrm>
            <a:off x="1619250" y="2514600"/>
            <a:ext cx="4800600" cy="28575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7BB0BFC6-1207-4D96-B6F1-5BB5187AA1C1}"/>
              </a:ext>
            </a:extLst>
          </p:cNvPr>
          <p:cNvSpPr>
            <a:spLocks noGrp="1"/>
          </p:cNvSpPr>
          <p:nvPr/>
        </p:nvSpPr>
        <p:spPr>
          <a:xfrm>
            <a:off x="6419850" y="2266950"/>
            <a:ext cx="28575" cy="24765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81F3EDE0-257A-4F54-92F3-640149AF7DAE}"/>
              </a:ext>
            </a:extLst>
          </p:cNvPr>
          <p:cNvSpPr>
            <a:spLocks noGrp="1"/>
          </p:cNvSpPr>
          <p:nvPr/>
        </p:nvSpPr>
        <p:spPr>
          <a:xfrm>
            <a:off x="6419850" y="2266950"/>
            <a:ext cx="4343400" cy="28575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B9AC683D-BD30-4DE4-8983-43DDCA490AA6}"/>
              </a:ext>
            </a:extLst>
          </p:cNvPr>
          <p:cNvSpPr>
            <a:spLocks noGrp="1"/>
          </p:cNvSpPr>
          <p:nvPr/>
        </p:nvSpPr>
        <p:spPr>
          <a:xfrm>
            <a:off x="514350" y="29337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RDN_n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0B8B587-4740-4A33-A75D-DBB88D970624}"/>
              </a:ext>
            </a:extLst>
          </p:cNvPr>
          <p:cNvSpPr>
            <a:spLocks noGrp="1"/>
          </p:cNvSpPr>
          <p:nvPr/>
        </p:nvSpPr>
        <p:spPr>
          <a:xfrm>
            <a:off x="1504950" y="30289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399E1F09-A1AA-4E42-8842-4B32E8ED08F5}"/>
              </a:ext>
            </a:extLst>
          </p:cNvPr>
          <p:cNvSpPr>
            <a:spLocks noGrp="1"/>
          </p:cNvSpPr>
          <p:nvPr/>
        </p:nvSpPr>
        <p:spPr>
          <a:xfrm>
            <a:off x="1504950" y="2800350"/>
            <a:ext cx="1714500" cy="28575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C981B228-B6CE-4974-83AC-6B5B0FB06827}"/>
              </a:ext>
            </a:extLst>
          </p:cNvPr>
          <p:cNvSpPr>
            <a:spLocks noGrp="1"/>
          </p:cNvSpPr>
          <p:nvPr/>
        </p:nvSpPr>
        <p:spPr>
          <a:xfrm>
            <a:off x="3219450" y="2800350"/>
            <a:ext cx="28575" cy="2476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C60D57DC-C4FD-4F58-A7FA-CFC67861DB6F}"/>
              </a:ext>
            </a:extLst>
          </p:cNvPr>
          <p:cNvSpPr>
            <a:spLocks noGrp="1"/>
          </p:cNvSpPr>
          <p:nvPr/>
        </p:nvSpPr>
        <p:spPr>
          <a:xfrm>
            <a:off x="3219450" y="3048000"/>
            <a:ext cx="3200400" cy="47625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5217C378-7DB5-446C-B34B-1256115DE19B}"/>
              </a:ext>
            </a:extLst>
          </p:cNvPr>
          <p:cNvSpPr>
            <a:spLocks noGrp="1"/>
          </p:cNvSpPr>
          <p:nvPr/>
        </p:nvSpPr>
        <p:spPr>
          <a:xfrm>
            <a:off x="6419850" y="2800350"/>
            <a:ext cx="28575" cy="2476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46DD918-C081-40B1-96D4-F360DFCB8273}"/>
              </a:ext>
            </a:extLst>
          </p:cNvPr>
          <p:cNvSpPr>
            <a:spLocks noGrp="1"/>
          </p:cNvSpPr>
          <p:nvPr/>
        </p:nvSpPr>
        <p:spPr>
          <a:xfrm>
            <a:off x="6419850" y="2800350"/>
            <a:ext cx="4343400" cy="28575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04" name="화살표: 오른쪽 103">
            <a:extLst>
              <a:ext uri="{FF2B5EF4-FFF2-40B4-BE49-F238E27FC236}">
                <a16:creationId xmlns:a16="http://schemas.microsoft.com/office/drawing/2014/main" id="{023078B9-845F-46AA-9384-1F9A509F3484}"/>
              </a:ext>
            </a:extLst>
          </p:cNvPr>
          <p:cNvSpPr>
            <a:spLocks noGrp="1"/>
          </p:cNvSpPr>
          <p:nvPr/>
        </p:nvSpPr>
        <p:spPr>
          <a:xfrm>
            <a:off x="3429000" y="3171825"/>
            <a:ext cx="1924050" cy="20955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AACEBBF-ADF9-4EE9-AF25-C66C904046E8}"/>
              </a:ext>
            </a:extLst>
          </p:cNvPr>
          <p:cNvSpPr>
            <a:spLocks noGrp="1"/>
          </p:cNvSpPr>
          <p:nvPr/>
        </p:nvSpPr>
        <p:spPr>
          <a:xfrm>
            <a:off x="3524250" y="3238500"/>
            <a:ext cx="16573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69444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tV-DR window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E5F32609-4C63-436D-B90C-022B88AF37A5}"/>
              </a:ext>
            </a:extLst>
          </p:cNvPr>
          <p:cNvSpPr>
            <a:spLocks noGrp="1"/>
          </p:cNvSpPr>
          <p:nvPr/>
        </p:nvSpPr>
        <p:spPr>
          <a:xfrm>
            <a:off x="514350" y="34671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DATA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C12F0A5B-DAED-4998-9AD9-BFCB1CD8C8C8}"/>
              </a:ext>
            </a:extLst>
          </p:cNvPr>
          <p:cNvSpPr>
            <a:spLocks noGrp="1"/>
          </p:cNvSpPr>
          <p:nvPr/>
        </p:nvSpPr>
        <p:spPr>
          <a:xfrm>
            <a:off x="1504950" y="35623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5AF1AF76-2388-4590-8CC2-70420F185676}"/>
              </a:ext>
            </a:extLst>
          </p:cNvPr>
          <p:cNvSpPr>
            <a:spLocks noGrp="1"/>
          </p:cNvSpPr>
          <p:nvPr/>
        </p:nvSpPr>
        <p:spPr>
          <a:xfrm>
            <a:off x="3733800" y="3352800"/>
            <a:ext cx="2476500" cy="361950"/>
          </a:xfrm>
          <a:prstGeom prst="rect">
            <a:avLst/>
          </a:prstGeom>
          <a:solidFill>
            <a:srgbClr val="EAF7EF"/>
          </a:solidFill>
          <a:ln w="13335">
            <a:solidFill>
              <a:srgbClr val="2F855A"/>
            </a:solidFill>
            <a:prstDash val="solid"/>
          </a:ln>
        </p:spPr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F331D712-BF0A-4BA1-AAC0-1CE7EDCE96A6}"/>
              </a:ext>
            </a:extLst>
          </p:cNvPr>
          <p:cNvSpPr>
            <a:spLocks noGrp="1"/>
          </p:cNvSpPr>
          <p:nvPr/>
        </p:nvSpPr>
        <p:spPr>
          <a:xfrm>
            <a:off x="4038600" y="3448050"/>
            <a:ext cx="2190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valid read data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E6A0919-0EB8-4832-9822-CD3402F43D70}"/>
              </a:ext>
            </a:extLst>
          </p:cNvPr>
          <p:cNvSpPr>
            <a:spLocks noGrp="1"/>
          </p:cNvSpPr>
          <p:nvPr/>
        </p:nvSpPr>
        <p:spPr>
          <a:xfrm>
            <a:off x="1562100" y="3448050"/>
            <a:ext cx="762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Hi-Z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767844EA-201A-4473-BBEF-12D3BB35BC3F}"/>
              </a:ext>
            </a:extLst>
          </p:cNvPr>
          <p:cNvSpPr>
            <a:spLocks noGrp="1"/>
          </p:cNvSpPr>
          <p:nvPr/>
        </p:nvSpPr>
        <p:spPr>
          <a:xfrm>
            <a:off x="6496050" y="3448050"/>
            <a:ext cx="857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0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hold tH-DR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5F539106-C14C-4B08-B17E-461E27697C3E}"/>
              </a:ext>
            </a:extLst>
          </p:cNvPr>
          <p:cNvSpPr>
            <a:spLocks noGrp="1"/>
          </p:cNvSpPr>
          <p:nvPr/>
        </p:nvSpPr>
        <p:spPr>
          <a:xfrm>
            <a:off x="514350" y="40005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sample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683BAB7-94B3-481F-A520-342824C2A14C}"/>
              </a:ext>
            </a:extLst>
          </p:cNvPr>
          <p:cNvSpPr>
            <a:spLocks noGrp="1"/>
          </p:cNvSpPr>
          <p:nvPr/>
        </p:nvSpPr>
        <p:spPr>
          <a:xfrm>
            <a:off x="1504950" y="40957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CAF0A40C-E322-4C4A-B3D9-EAD7505FF09B}"/>
              </a:ext>
            </a:extLst>
          </p:cNvPr>
          <p:cNvSpPr>
            <a:spLocks noGrp="1"/>
          </p:cNvSpPr>
          <p:nvPr/>
        </p:nvSpPr>
        <p:spPr>
          <a:xfrm>
            <a:off x="6343650" y="3905250"/>
            <a:ext cx="152400" cy="2857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A6731BE1-9CB5-400A-8857-E57368ED4321}"/>
              </a:ext>
            </a:extLst>
          </p:cNvPr>
          <p:cNvSpPr>
            <a:spLocks noGrp="1"/>
          </p:cNvSpPr>
          <p:nvPr/>
        </p:nvSpPr>
        <p:spPr>
          <a:xfrm>
            <a:off x="5867400" y="4248150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IOB capture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B9FEF66F-4F09-4B7D-93A9-2D7595C5577E}"/>
              </a:ext>
            </a:extLst>
          </p:cNvPr>
          <p:cNvSpPr>
            <a:spLocks noGrp="1"/>
          </p:cNvSpPr>
          <p:nvPr/>
        </p:nvSpPr>
        <p:spPr>
          <a:xfrm>
            <a:off x="514350" y="45339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EF_pin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BFC6C1E4-EB00-411A-9C4B-66F528A3BA9D}"/>
              </a:ext>
            </a:extLst>
          </p:cNvPr>
          <p:cNvSpPr>
            <a:spLocks noGrp="1"/>
          </p:cNvSpPr>
          <p:nvPr/>
        </p:nvSpPr>
        <p:spPr>
          <a:xfrm>
            <a:off x="1504950" y="46291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F366E916-8321-448C-990B-55B8DE6DE900}"/>
              </a:ext>
            </a:extLst>
          </p:cNvPr>
          <p:cNvSpPr>
            <a:spLocks noGrp="1"/>
          </p:cNvSpPr>
          <p:nvPr/>
        </p:nvSpPr>
        <p:spPr>
          <a:xfrm>
            <a:off x="1504950" y="4648200"/>
            <a:ext cx="5581650" cy="28575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586C6F3F-C40E-4115-BB85-84BD7A631D25}"/>
              </a:ext>
            </a:extLst>
          </p:cNvPr>
          <p:cNvSpPr>
            <a:spLocks noGrp="1"/>
          </p:cNvSpPr>
          <p:nvPr/>
        </p:nvSpPr>
        <p:spPr>
          <a:xfrm>
            <a:off x="7086600" y="4400550"/>
            <a:ext cx="28575" cy="2476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3C9C1381-FA1C-491F-B964-E16BAEB606D0}"/>
              </a:ext>
            </a:extLst>
          </p:cNvPr>
          <p:cNvSpPr>
            <a:spLocks noGrp="1"/>
          </p:cNvSpPr>
          <p:nvPr/>
        </p:nvSpPr>
        <p:spPr>
          <a:xfrm>
            <a:off x="7086600" y="4400550"/>
            <a:ext cx="3676650" cy="28575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121" name="화살표: 오른쪽 120">
            <a:extLst>
              <a:ext uri="{FF2B5EF4-FFF2-40B4-BE49-F238E27FC236}">
                <a16:creationId xmlns:a16="http://schemas.microsoft.com/office/drawing/2014/main" id="{EADB0B16-438D-4F7A-A447-01835FBF7C73}"/>
              </a:ext>
            </a:extLst>
          </p:cNvPr>
          <p:cNvSpPr>
            <a:spLocks noGrp="1"/>
          </p:cNvSpPr>
          <p:nvPr/>
        </p:nvSpPr>
        <p:spPr>
          <a:xfrm>
            <a:off x="6534150" y="4743450"/>
            <a:ext cx="1428750" cy="209550"/>
          </a:xfrm>
          <a:prstGeom prst="rightArrow">
            <a:avLst/>
          </a:prstGeom>
          <a:solidFill>
            <a:srgbClr val="C2410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D1A3FEB3-E57C-4B89-82A5-48257896F068}"/>
              </a:ext>
            </a:extLst>
          </p:cNvPr>
          <p:cNvSpPr>
            <a:spLocks noGrp="1"/>
          </p:cNvSpPr>
          <p:nvPr/>
        </p:nvSpPr>
        <p:spPr>
          <a:xfrm>
            <a:off x="6629400" y="4810125"/>
            <a:ext cx="116205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fontScale="69444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tS-EF max 11.8 ns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55F6B091-AFBD-4105-AA78-D3DAE9D6284D}"/>
              </a:ext>
            </a:extLst>
          </p:cNvPr>
          <p:cNvSpPr>
            <a:spLocks noGrp="1"/>
          </p:cNvSpPr>
          <p:nvPr/>
        </p:nvSpPr>
        <p:spPr>
          <a:xfrm>
            <a:off x="514350" y="506730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EF_sync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D0CEEB57-63BF-46FF-8253-81865C282B55}"/>
              </a:ext>
            </a:extLst>
          </p:cNvPr>
          <p:cNvSpPr>
            <a:spLocks noGrp="1"/>
          </p:cNvSpPr>
          <p:nvPr/>
        </p:nvSpPr>
        <p:spPr>
          <a:xfrm>
            <a:off x="1504950" y="5162550"/>
            <a:ext cx="92583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8862E3E0-8178-485D-9D94-3E72CB1CB2DD}"/>
              </a:ext>
            </a:extLst>
          </p:cNvPr>
          <p:cNvSpPr>
            <a:spLocks noGrp="1"/>
          </p:cNvSpPr>
          <p:nvPr/>
        </p:nvSpPr>
        <p:spPr>
          <a:xfrm>
            <a:off x="1504950" y="5181600"/>
            <a:ext cx="7181850" cy="28575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2BDFBC4A-5506-4327-B651-DC5C65F23648}"/>
              </a:ext>
            </a:extLst>
          </p:cNvPr>
          <p:cNvSpPr>
            <a:spLocks noGrp="1"/>
          </p:cNvSpPr>
          <p:nvPr/>
        </p:nvSpPr>
        <p:spPr>
          <a:xfrm>
            <a:off x="8686800" y="4933950"/>
            <a:ext cx="28575" cy="2476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C83CE144-FDEC-492A-A641-A09F95B57FC0}"/>
              </a:ext>
            </a:extLst>
          </p:cNvPr>
          <p:cNvSpPr>
            <a:spLocks noGrp="1"/>
          </p:cNvSpPr>
          <p:nvPr/>
        </p:nvSpPr>
        <p:spPr>
          <a:xfrm>
            <a:off x="8686800" y="4933950"/>
            <a:ext cx="2076450" cy="28575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FE0AF2B9-0700-472B-84DC-DA9139F283CB}"/>
              </a:ext>
            </a:extLst>
          </p:cNvPr>
          <p:cNvSpPr>
            <a:spLocks noGrp="1"/>
          </p:cNvSpPr>
          <p:nvPr/>
        </p:nvSpPr>
        <p:spPr>
          <a:xfrm>
            <a:off x="7258050" y="527685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2-FF sync latency: chip_ctrl sees empty later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C7297CC2-BC2E-4442-ADA7-EAA7D74BB454}"/>
              </a:ext>
            </a:extLst>
          </p:cNvPr>
          <p:cNvSpPr>
            <a:spLocks noGrp="1"/>
          </p:cNvSpPr>
          <p:nvPr/>
        </p:nvSpPr>
        <p:spPr>
          <a:xfrm>
            <a:off x="571500" y="5581650"/>
            <a:ext cx="3143250" cy="457200"/>
          </a:xfrm>
          <a:prstGeom prst="roundRect">
            <a:avLst>
              <a:gd name="adj" fmla="val 16667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396A70DA-4901-4454-8CB8-9780A0897874}"/>
              </a:ext>
            </a:extLst>
          </p:cNvPr>
          <p:cNvSpPr>
            <a:spLocks noGrp="1"/>
          </p:cNvSpPr>
          <p:nvPr/>
        </p:nvSpPr>
        <p:spPr>
          <a:xfrm>
            <a:off x="742950" y="5715000"/>
            <a:ext cx="2800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5335"/>
          </a:bodyPr>
          <a:lstStyle/>
          <a:p>
            <a:pPr algn="ctr">
              <a:defRPr sz="863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div=1,ticks=5: RDN→capture 15 ns / tick0→capture 20 ns / beat 25 ns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09E54480-D91E-4BDF-A8BE-88A7FAAF1A40}"/>
              </a:ext>
            </a:extLst>
          </p:cNvPr>
          <p:cNvSpPr>
            <a:spLocks noGrp="1"/>
          </p:cNvSpPr>
          <p:nvPr/>
        </p:nvSpPr>
        <p:spPr>
          <a:xfrm>
            <a:off x="4095750" y="5581650"/>
            <a:ext cx="3143250" cy="457200"/>
          </a:xfrm>
          <a:prstGeom prst="roundRect">
            <a:avLst>
              <a:gd name="adj" fmla="val 16667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0FF0029-EB11-468B-82A8-875F6764E6CD}"/>
              </a:ext>
            </a:extLst>
          </p:cNvPr>
          <p:cNvSpPr>
            <a:spLocks noGrp="1"/>
          </p:cNvSpPr>
          <p:nvPr/>
        </p:nvSpPr>
        <p:spPr>
          <a:xfrm>
            <a:off x="4267200" y="5715000"/>
            <a:ext cx="2800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817"/>
          </a:bodyPr>
          <a:lstStyle/>
          <a:p>
            <a:pPr algn="ctr">
              <a:defRPr sz="863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C02 검증: EF만으로 빠른 burst stop을 걸면 늦을 수 있음</a:t>
            </a: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EB3231D9-E963-409D-B8F7-D9B52B42A54D}"/>
              </a:ext>
            </a:extLst>
          </p:cNvPr>
          <p:cNvSpPr>
            <a:spLocks noGrp="1"/>
          </p:cNvSpPr>
          <p:nvPr/>
        </p:nvSpPr>
        <p:spPr>
          <a:xfrm>
            <a:off x="7620000" y="5581650"/>
            <a:ext cx="3143250" cy="457200"/>
          </a:xfrm>
          <a:prstGeom prst="roundRect">
            <a:avLst>
              <a:gd name="adj" fmla="val 16667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383238D7-8A63-4727-98CE-4C80D2C0B253}"/>
              </a:ext>
            </a:extLst>
          </p:cNvPr>
          <p:cNvSpPr>
            <a:spLocks noGrp="1"/>
          </p:cNvSpPr>
          <p:nvPr/>
        </p:nvSpPr>
        <p:spPr>
          <a:xfrm>
            <a:off x="7791450" y="5715000"/>
            <a:ext cx="2800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100"/>
          </a:bodyPr>
          <a:lstStyle/>
          <a:p>
            <a:pPr algn="ctr">
              <a:defRPr sz="863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계약: 40 MHz 초과 readout 금지, expected count/guard 필요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EF3BDC34-2B5C-4975-8146-4BA8A94735DE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p.7,p.27 / bus_phy:527-548,665-705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E82CAB64-A8D8-467A-ACC1-E42182C65EBA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AC3DA221-2AE2-498C-A4DA-FB40C1765EE4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v004 · 2026-04-29</a:t>
            </a:r>
          </a:p>
        </p:txBody>
      </p:sp>
    </p:spTree>
    <p:extLst>
      <p:ext uri="{BB962C8B-B14F-4D97-AF65-F5344CB8AC3E}">
        <p14:creationId xmlns:p14="http://schemas.microsoft.com/office/powerpoint/2010/main" val="492982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10147A9E-6928-4793-90AA-805CF15C96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34CFE4-98E2-48B1-9E3F-B745DDA723B7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79CE31-0A99-42C2-B93F-EF8EE3CCE53F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3794F5-4EF4-4869-A7A0-D2BDE64AF511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 timing과 OEN 조건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209930-0068-4908-AA25-FA3A1AC50389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04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969FE82-6968-4DDA-9D8C-7F63344093FB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E24F434-FCA4-49E6-90C1-0258EB0E4BFC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66675" cy="142875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2B7CE8-03D2-4B35-8A5C-68E1DA07685D}"/>
              </a:ext>
            </a:extLst>
          </p:cNvPr>
          <p:cNvSpPr>
            <a:spLocks noGrp="1"/>
          </p:cNvSpPr>
          <p:nvPr/>
        </p:nvSpPr>
        <p:spPr>
          <a:xfrm>
            <a:off x="10287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tick 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55251F-33B1-4078-9AC9-0A6C79BA37C1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ADR + DATA setup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CSN low, 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drives D-bus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D3B454EB-DFFC-4B6E-BEDC-22FD03FA8302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43000" cy="342900"/>
          </a:xfrm>
          <a:prstGeom prst="rightArrow">
            <a:avLst/>
          </a:prstGeom>
          <a:solidFill>
            <a:srgbClr val="5B5B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07E9C7-B6DB-4894-8AEF-BDA982FD0E89}"/>
              </a:ext>
            </a:extLst>
          </p:cNvPr>
          <p:cNvSpPr>
            <a:spLocks noGrp="1"/>
          </p:cNvSpPr>
          <p:nvPr/>
        </p:nvSpPr>
        <p:spPr>
          <a:xfrm>
            <a:off x="38100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L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A8FEE16-A2B7-4A4C-B4AF-D22FAE945283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266700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CF8ECE-D17E-4E02-8EA9-B093C1E6837A}"/>
              </a:ext>
            </a:extLst>
          </p:cNvPr>
          <p:cNvSpPr>
            <a:spLocks noGrp="1"/>
          </p:cNvSpPr>
          <p:nvPr/>
        </p:nvSpPr>
        <p:spPr>
          <a:xfrm>
            <a:off x="5067300" y="146685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025D04-DC13-4266-AE33-40031DDAF4EA}"/>
              </a:ext>
            </a:extLst>
          </p:cNvPr>
          <p:cNvSpPr>
            <a:spLocks noGrp="1"/>
          </p:cNvSpPr>
          <p:nvPr/>
        </p:nvSpPr>
        <p:spPr>
          <a:xfrm>
            <a:off x="5257800" y="16192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tick 1..N-2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D71AD90-21DC-4895-8A6A-F98DE0F353AD}"/>
              </a:ext>
            </a:extLst>
          </p:cNvPr>
          <p:cNvSpPr>
            <a:spLocks noGrp="1"/>
          </p:cNvSpPr>
          <p:nvPr/>
        </p:nvSpPr>
        <p:spPr>
          <a:xfrm>
            <a:off x="5257800" y="1943100"/>
            <a:ext cx="23431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low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pulse width 확보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A14B84B5-7324-4CA7-A146-07933E282D10}"/>
              </a:ext>
            </a:extLst>
          </p:cNvPr>
          <p:cNvSpPr>
            <a:spLocks noGrp="1"/>
          </p:cNvSpPr>
          <p:nvPr/>
        </p:nvSpPr>
        <p:spPr>
          <a:xfrm>
            <a:off x="7943850" y="2000250"/>
            <a:ext cx="1143000" cy="342900"/>
          </a:xfrm>
          <a:prstGeom prst="rightArrow">
            <a:avLst/>
          </a:prstGeom>
          <a:solidFill>
            <a:srgbClr val="0B728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3F68F8C-3D3E-48C1-A364-A3BB754E508A}"/>
              </a:ext>
            </a:extLst>
          </p:cNvPr>
          <p:cNvSpPr>
            <a:spLocks noGrp="1"/>
          </p:cNvSpPr>
          <p:nvPr/>
        </p:nvSpPr>
        <p:spPr>
          <a:xfrm>
            <a:off x="8039100" y="2066925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phase H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6002B81-B13D-4EBE-9C62-69EB2996E2D9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209550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44B5ADC-3853-47E8-9B61-5D71CE7FEA97}"/>
              </a:ext>
            </a:extLst>
          </p:cNvPr>
          <p:cNvSpPr>
            <a:spLocks noGrp="1"/>
          </p:cNvSpPr>
          <p:nvPr/>
        </p:nvSpPr>
        <p:spPr>
          <a:xfrm>
            <a:off x="9296400" y="146685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87F748-B9E9-4348-85CE-1AF268649026}"/>
              </a:ext>
            </a:extLst>
          </p:cNvPr>
          <p:cNvSpPr>
            <a:spLocks noGrp="1"/>
          </p:cNvSpPr>
          <p:nvPr/>
        </p:nvSpPr>
        <p:spPr>
          <a:xfrm>
            <a:off x="9486900" y="16192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tick N-1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4C614A1-AC41-4A7B-8F10-63065C452A5C}"/>
              </a:ext>
            </a:extLst>
          </p:cNvPr>
          <p:cNvSpPr>
            <a:spLocks noGrp="1"/>
          </p:cNvSpPr>
          <p:nvPr/>
        </p:nvSpPr>
        <p:spPr>
          <a:xfrm>
            <a:off x="9486900" y="1943100"/>
            <a:ext cx="177165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release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E2AB8D1-A6F2-449A-94F1-08973AF92001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57759AF-FCA9-49CA-807C-990BCA2E6E41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66675" cy="12192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C57C36A-9FB8-4EF2-92B6-3EE83B938C89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96B71CC-B937-4ACD-99CA-63EEB57BB532}"/>
              </a:ext>
            </a:extLst>
          </p:cNvPr>
          <p:cNvSpPr>
            <a:spLocks noGrp="1"/>
          </p:cNvSpPr>
          <p:nvPr/>
        </p:nvSpPr>
        <p:spPr>
          <a:xfrm>
            <a:off x="10096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tS-DW ≥ 5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tH-DW ≥ 4 ns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tPW-WL/WH ≥ 6 ns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B1AFBAF-90CC-4341-B68D-7BBA415D8EBF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E2F1682-1B82-456E-A2A1-9E39F694223B}"/>
              </a:ext>
            </a:extLst>
          </p:cNvPr>
          <p:cNvSpPr>
            <a:spLocks noGrp="1"/>
          </p:cNvSpPr>
          <p:nvPr/>
        </p:nvSpPr>
        <p:spPr>
          <a:xfrm>
            <a:off x="3562350" y="3638550"/>
            <a:ext cx="66675" cy="12192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9B747EA-4CEE-4C17-932E-86E3905ED169}"/>
              </a:ext>
            </a:extLst>
          </p:cNvPr>
          <p:cNvSpPr>
            <a:spLocks noGrp="1"/>
          </p:cNvSpPr>
          <p:nvPr/>
        </p:nvSpPr>
        <p:spPr>
          <a:xfrm>
            <a:off x="37528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997753F-8138-41B5-91E1-A0A8219A7133}"/>
              </a:ext>
            </a:extLst>
          </p:cNvPr>
          <p:cNvSpPr>
            <a:spLocks noGrp="1"/>
          </p:cNvSpPr>
          <p:nvPr/>
        </p:nvSpPr>
        <p:spPr>
          <a:xfrm>
            <a:off x="37528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중 GPX OEN은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반드시 HIGH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90FAA98-9A7E-4BB2-B67B-78795C2007B7}"/>
              </a:ext>
            </a:extLst>
          </p:cNvPr>
          <p:cNvSpPr>
            <a:spLocks noGrp="1"/>
          </p:cNvSpPr>
          <p:nvPr/>
        </p:nvSpPr>
        <p:spPr>
          <a:xfrm>
            <a:off x="63055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9D18B6D-FE65-423E-9E82-9BE95AEEED30}"/>
              </a:ext>
            </a:extLst>
          </p:cNvPr>
          <p:cNvSpPr>
            <a:spLocks noGrp="1"/>
          </p:cNvSpPr>
          <p:nvPr/>
        </p:nvSpPr>
        <p:spPr>
          <a:xfrm>
            <a:off x="6305550" y="3638550"/>
            <a:ext cx="66675" cy="12192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434FB5-F9E2-44D9-B750-C2A63575155E}"/>
              </a:ext>
            </a:extLst>
          </p:cNvPr>
          <p:cNvSpPr>
            <a:spLocks noGrp="1"/>
          </p:cNvSpPr>
          <p:nvPr/>
        </p:nvSpPr>
        <p:spPr>
          <a:xfrm>
            <a:off x="64960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방향 전환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DA1B520-DB7F-4302-8F30-2420D39A8E13}"/>
              </a:ext>
            </a:extLst>
          </p:cNvPr>
          <p:cNvSpPr>
            <a:spLocks noGrp="1"/>
          </p:cNvSpPr>
          <p:nvPr/>
        </p:nvSpPr>
        <p:spPr>
          <a:xfrm>
            <a:off x="64960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이후 WRITE는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ST_TURNAROUND 경유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FA37ACA-2FAF-4BC9-812C-4D45904AB587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2381250" cy="1219200"/>
          </a:xfrm>
          <a:prstGeom prst="roundRect">
            <a:avLst>
              <a:gd name="adj" fmla="val 6250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638E54B-2791-46BD-996F-0C538EAAEE85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66675" cy="12192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8544EE9-0555-47A2-BA6F-BFC45E6F74A3}"/>
              </a:ext>
            </a:extLst>
          </p:cNvPr>
          <p:cNvSpPr>
            <a:spLocks noGrp="1"/>
          </p:cNvSpPr>
          <p:nvPr/>
        </p:nvSpPr>
        <p:spPr>
          <a:xfrm>
            <a:off x="9239250" y="3790950"/>
            <a:ext cx="2057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응답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2362F07-0EAE-4067-9AB2-BB55E7FFCD43}"/>
              </a:ext>
            </a:extLst>
          </p:cNvPr>
          <p:cNvSpPr>
            <a:spLocks noGrp="1"/>
          </p:cNvSpPr>
          <p:nvPr/>
        </p:nvSpPr>
        <p:spPr>
          <a:xfrm>
            <a:off x="9239250" y="4114800"/>
            <a:ext cx="20574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`tdata=0`, `tuser[0]=1`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818D55C-8950-4FC7-8490-DDAD8FA9F02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p.7-8 / bus_phy:418-435, 608-630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7C99CD2-0D62-4E61-8E85-13ED32764CD1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F0E376C-84CF-4610-BE8A-7642B0D4D759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v004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163743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33E82BEC-3A59-495D-A731-6BE51D1E3F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7BD377-49A3-4719-B264-05958EBF7079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E9AED86-0296-421C-B120-425571D1E3DD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41F5AE-7CC2-4166-A9AC-56CA6FC35F60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FSM과 bus contention 방지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BB9815-F25B-41FD-9C48-6E77EE857F8D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05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EE65048-F4CE-41CF-9DEE-4B933A9E65A4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1DA19A-12E0-433C-9317-AAA2294E6C29}"/>
              </a:ext>
            </a:extLst>
          </p:cNvPr>
          <p:cNvSpPr>
            <a:spLocks noGrp="1"/>
          </p:cNvSpPr>
          <p:nvPr/>
        </p:nvSpPr>
        <p:spPr>
          <a:xfrm>
            <a:off x="800100" y="1619250"/>
            <a:ext cx="66675" cy="1257300"/>
          </a:xfrm>
          <a:prstGeom prst="rect">
            <a:avLst/>
          </a:prstGeom>
          <a:solidFill>
            <a:srgbClr val="475569"/>
          </a:solidFill>
          <a:ln w="0">
            <a:solidFill>
              <a:srgbClr val="475569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00FB2E-1611-4343-9876-A3D8C736CB80}"/>
              </a:ext>
            </a:extLst>
          </p:cNvPr>
          <p:cNvSpPr>
            <a:spLocks noGrp="1"/>
          </p:cNvSpPr>
          <p:nvPr/>
        </p:nvSpPr>
        <p:spPr>
          <a:xfrm>
            <a:off x="9906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ST_IDLE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08E9DE-6ECC-46A2-B628-D7D47901289E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request 대기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strobes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478624-DD98-4116-83BE-1127D36A58F7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3E93688-FD91-4D60-B95A-84CA3093AA2E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66675" cy="12573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E19E91-C1B9-44F0-876B-73973685CF80}"/>
              </a:ext>
            </a:extLst>
          </p:cNvPr>
          <p:cNvSpPr>
            <a:spLocks noGrp="1"/>
          </p:cNvSpPr>
          <p:nvPr/>
        </p:nvSpPr>
        <p:spPr>
          <a:xfrm>
            <a:off x="37719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FC0BF9-C895-4B78-ADE3-69D935714835}"/>
              </a:ext>
            </a:extLst>
          </p:cNvPr>
          <p:cNvSpPr>
            <a:spLocks noGrp="1"/>
          </p:cNvSpPr>
          <p:nvPr/>
        </p:nvSpPr>
        <p:spPr>
          <a:xfrm>
            <a:off x="37719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방향 전환 1 tick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D-bus Hi-Z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FDEFCA5-5C28-4651-A0E1-142F76CAB42D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313033-9439-4ACF-8947-747C3AE342BB}"/>
              </a:ext>
            </a:extLst>
          </p:cNvPr>
          <p:cNvSpPr>
            <a:spLocks noGrp="1"/>
          </p:cNvSpPr>
          <p:nvPr/>
        </p:nvSpPr>
        <p:spPr>
          <a:xfrm>
            <a:off x="6362700" y="1619250"/>
            <a:ext cx="66675" cy="12573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C5C3304-1CCD-4556-A72E-06A029445980}"/>
              </a:ext>
            </a:extLst>
          </p:cNvPr>
          <p:cNvSpPr>
            <a:spLocks noGrp="1"/>
          </p:cNvSpPr>
          <p:nvPr/>
        </p:nvSpPr>
        <p:spPr>
          <a:xfrm>
            <a:off x="65532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ST_READ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A708B30-17C9-4660-822E-AACE0E16A2F4}"/>
              </a:ext>
            </a:extLst>
          </p:cNvPr>
          <p:cNvSpPr>
            <a:spLocks noGrp="1"/>
          </p:cNvSpPr>
          <p:nvPr/>
        </p:nvSpPr>
        <p:spPr>
          <a:xfrm>
            <a:off x="65532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RDN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sample_en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response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AD67367-02A1-4264-AF9D-A8CC10F28A9D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2286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B9AEED4-2BB4-4A1B-A96E-7067CC30CC0D}"/>
              </a:ext>
            </a:extLst>
          </p:cNvPr>
          <p:cNvSpPr>
            <a:spLocks noGrp="1"/>
          </p:cNvSpPr>
          <p:nvPr/>
        </p:nvSpPr>
        <p:spPr>
          <a:xfrm>
            <a:off x="9144000" y="1619250"/>
            <a:ext cx="66675" cy="12573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3D71AE-140C-418E-8E2E-07AA245F6F38}"/>
              </a:ext>
            </a:extLst>
          </p:cNvPr>
          <p:cNvSpPr>
            <a:spLocks noGrp="1"/>
          </p:cNvSpPr>
          <p:nvPr/>
        </p:nvSpPr>
        <p:spPr>
          <a:xfrm>
            <a:off x="9334500" y="1771650"/>
            <a:ext cx="1962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ST_WRITE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93186B-319D-49A1-A8C7-A6A555EB2E59}"/>
              </a:ext>
            </a:extLst>
          </p:cNvPr>
          <p:cNvSpPr>
            <a:spLocks noGrp="1"/>
          </p:cNvSpPr>
          <p:nvPr/>
        </p:nvSpPr>
        <p:spPr>
          <a:xfrm>
            <a:off x="9334500" y="2095500"/>
            <a:ext cx="19621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WRN phase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ack</a:t>
            </a:r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7547D3CB-76E5-4811-92B0-FAB12113E84E}"/>
              </a:ext>
            </a:extLst>
          </p:cNvPr>
          <p:cNvSpPr>
            <a:spLocks noGrp="1"/>
          </p:cNvSpPr>
          <p:nvPr/>
        </p:nvSpPr>
        <p:spPr>
          <a:xfrm>
            <a:off x="22860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D0A7FD6-889D-440E-B1D6-4051D06E0E9A}"/>
              </a:ext>
            </a:extLst>
          </p:cNvPr>
          <p:cNvSpPr>
            <a:spLocks noGrp="1"/>
          </p:cNvSpPr>
          <p:nvPr/>
        </p:nvSpPr>
        <p:spPr>
          <a:xfrm>
            <a:off x="23812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READ→WRITE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70CA03A-C600-42E9-B5CD-D2E99CF214EA}"/>
              </a:ext>
            </a:extLst>
          </p:cNvPr>
          <p:cNvSpPr>
            <a:spLocks noGrp="1"/>
          </p:cNvSpPr>
          <p:nvPr/>
        </p:nvSpPr>
        <p:spPr>
          <a:xfrm>
            <a:off x="4686300" y="34290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ST_TURNAROUND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84ACF383-6A30-401E-9EDB-119099351A34}"/>
              </a:ext>
            </a:extLst>
          </p:cNvPr>
          <p:cNvSpPr>
            <a:spLocks noGrp="1"/>
          </p:cNvSpPr>
          <p:nvPr/>
        </p:nvSpPr>
        <p:spPr>
          <a:xfrm>
            <a:off x="6896100" y="3333750"/>
            <a:ext cx="2095500" cy="4191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17634A4-688F-451E-AD95-D9D7F10993E7}"/>
              </a:ext>
            </a:extLst>
          </p:cNvPr>
          <p:cNvSpPr>
            <a:spLocks noGrp="1"/>
          </p:cNvSpPr>
          <p:nvPr/>
        </p:nvSpPr>
        <p:spPr>
          <a:xfrm>
            <a:off x="6991350" y="3400425"/>
            <a:ext cx="18288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WRITE→READ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EA2D6FC-C882-48DC-BCF2-8CCA90BA5309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901CCB4-B4AA-49B2-9FF2-5CF255A34AB0}"/>
              </a:ext>
            </a:extLst>
          </p:cNvPr>
          <p:cNvSpPr>
            <a:spLocks noGrp="1"/>
          </p:cNvSpPr>
          <p:nvPr/>
        </p:nvSpPr>
        <p:spPr>
          <a:xfrm>
            <a:off x="1104900" y="4381500"/>
            <a:ext cx="66675" cy="10668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4E8530-F2E3-4312-B7DE-3BC81110A954}"/>
              </a:ext>
            </a:extLst>
          </p:cNvPr>
          <p:cNvSpPr>
            <a:spLocks noGrp="1"/>
          </p:cNvSpPr>
          <p:nvPr/>
        </p:nvSpPr>
        <p:spPr>
          <a:xfrm>
            <a:off x="12954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invariant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926D7B3-CB90-4C9B-81EF-7C7F01ADBE8C}"/>
              </a:ext>
            </a:extLst>
          </p:cNvPr>
          <p:cNvSpPr>
            <a:spLocks noGrp="1"/>
          </p:cNvSpPr>
          <p:nvPr/>
        </p:nvSpPr>
        <p:spPr>
          <a:xfrm>
            <a:off x="12954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Hi-Z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IC가 data drive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47E8917-1817-4B1B-9DCD-B4981828FED6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0D6A5E7-2469-4622-9184-96A6B2F5D493}"/>
              </a:ext>
            </a:extLst>
          </p:cNvPr>
          <p:cNvSpPr>
            <a:spLocks noGrp="1"/>
          </p:cNvSpPr>
          <p:nvPr/>
        </p:nvSpPr>
        <p:spPr>
          <a:xfrm>
            <a:off x="4667250" y="4381500"/>
            <a:ext cx="66675" cy="10668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66C648D-E628-4A8E-85C4-B422652DD848}"/>
              </a:ext>
            </a:extLst>
          </p:cNvPr>
          <p:cNvSpPr>
            <a:spLocks noGrp="1"/>
          </p:cNvSpPr>
          <p:nvPr/>
        </p:nvSpPr>
        <p:spPr>
          <a:xfrm>
            <a:off x="485775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invariant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B553770-B1F0-4C57-86A8-2F6EB1D7DF6B}"/>
              </a:ext>
            </a:extLst>
          </p:cNvPr>
          <p:cNvSpPr>
            <a:spLocks noGrp="1"/>
          </p:cNvSpPr>
          <p:nvPr/>
        </p:nvSpPr>
        <p:spPr>
          <a:xfrm>
            <a:off x="485775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FPGA D-bus drive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 OEN HIGH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CC62DE5-D95D-404A-82A4-B213EFE67A80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2857500" cy="1066800"/>
          </a:xfrm>
          <a:prstGeom prst="roundRect">
            <a:avLst>
              <a:gd name="adj" fmla="val 714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7C671E5-3329-4AC1-9827-8ECAC784C22F}"/>
              </a:ext>
            </a:extLst>
          </p:cNvPr>
          <p:cNvSpPr>
            <a:spLocks noGrp="1"/>
          </p:cNvSpPr>
          <p:nvPr/>
        </p:nvSpPr>
        <p:spPr>
          <a:xfrm>
            <a:off x="8229600" y="4381500"/>
            <a:ext cx="66675" cy="10668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FF4C784-10BC-4987-90B5-D8D790D2375B}"/>
              </a:ext>
            </a:extLst>
          </p:cNvPr>
          <p:cNvSpPr>
            <a:spLocks noGrp="1"/>
          </p:cNvSpPr>
          <p:nvPr/>
        </p:nvSpPr>
        <p:spPr>
          <a:xfrm>
            <a:off x="8420100" y="4533900"/>
            <a:ext cx="2533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OEN low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C227166-578B-4350-8DB9-A7A6AB46CEA4}"/>
              </a:ext>
            </a:extLst>
          </p:cNvPr>
          <p:cNvSpPr>
            <a:spLocks noGrp="1"/>
          </p:cNvSpPr>
          <p:nvPr/>
        </p:nvSpPr>
        <p:spPr>
          <a:xfrm>
            <a:off x="8420100" y="4857750"/>
            <a:ext cx="25336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drain burst 전용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GPX가 계속 drive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563D1D3-F321-4882-B4B7-46C8038D3C22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p.8 / bus_phy:151-156, 359-512, 54-60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B0707A2-003D-451A-832C-2069A1EAFD12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0CAC111-42AC-4A4F-A88F-442B958AD644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v004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149110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4BA8C62B-2CDC-4818-8E51-7136FD0183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C951C48-8BF1-4DCD-A341-032A33130E05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FA8986-E1EC-4D8C-834B-3DD27FE6A52F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8B5165-1950-45A3-876F-510BBAAAAA05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AXI-Stream response 계약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6BC8A49-5EB8-4A30-8250-F437640BAC24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06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B0CE21A-FE5F-4F7C-A8C6-1DBDC01199BE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12ABF45-D2E5-462E-B4D1-7103FC080ECE}"/>
              </a:ext>
            </a:extLst>
          </p:cNvPr>
          <p:cNvSpPr>
            <a:spLocks noGrp="1"/>
          </p:cNvSpPr>
          <p:nvPr/>
        </p:nvSpPr>
        <p:spPr>
          <a:xfrm>
            <a:off x="933450" y="1562100"/>
            <a:ext cx="66675" cy="16764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A48F31-031B-41E1-A76D-866193C3AC7F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READ response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33860C-8C65-43E5-96A4-E0E6B0188033}"/>
              </a:ext>
            </a:extLst>
          </p:cNvPr>
          <p:cNvSpPr>
            <a:spLocks noGrp="1"/>
          </p:cNvSpPr>
          <p:nvPr/>
        </p:nvSpPr>
        <p:spPr>
          <a:xfrm>
            <a:off x="11239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tdata[27:0]=read data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tdata[31:28]=0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5E5DDDA-3774-4A93-9D49-5158B059C590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3CCBEED-6D05-4CBA-8A22-D1318993BDF7}"/>
              </a:ext>
            </a:extLst>
          </p:cNvPr>
          <p:cNvSpPr>
            <a:spLocks noGrp="1"/>
          </p:cNvSpPr>
          <p:nvPr/>
        </p:nvSpPr>
        <p:spPr>
          <a:xfrm>
            <a:off x="4648200" y="1562100"/>
            <a:ext cx="66675" cy="16764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C657F9-ECB8-4B66-8F10-22011A238349}"/>
              </a:ext>
            </a:extLst>
          </p:cNvPr>
          <p:cNvSpPr>
            <a:spLocks noGrp="1"/>
          </p:cNvSpPr>
          <p:nvPr/>
        </p:nvSpPr>
        <p:spPr>
          <a:xfrm>
            <a:off x="483870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WRITE ack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13B28B3-DBB0-4260-B3CD-D5417AB6486D}"/>
              </a:ext>
            </a:extLst>
          </p:cNvPr>
          <p:cNvSpPr>
            <a:spLocks noGrp="1"/>
          </p:cNvSpPr>
          <p:nvPr/>
        </p:nvSpPr>
        <p:spPr>
          <a:xfrm>
            <a:off x="483870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tdata=0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tuser[0]=1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tuser[4:1]=addr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tkeep=1111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077AA10-B6CF-43BC-BC76-8A942C60D376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3048000" cy="1676400"/>
          </a:xfrm>
          <a:prstGeom prst="roundRect">
            <a:avLst>
              <a:gd name="adj" fmla="val 4545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110772-5ACE-4EC5-9E3C-F54A94C244FB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66675" cy="16764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06DBBF-2694-4BE6-AF13-7CEBEB82AA90}"/>
              </a:ext>
            </a:extLst>
          </p:cNvPr>
          <p:cNvSpPr>
            <a:spLocks noGrp="1"/>
          </p:cNvSpPr>
          <p:nvPr/>
        </p:nvSpPr>
        <p:spPr>
          <a:xfrm>
            <a:off x="8553450" y="171450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hold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A6339D9-3F66-4070-A07A-91D6EEAD148B}"/>
              </a:ext>
            </a:extLst>
          </p:cNvPr>
          <p:cNvSpPr>
            <a:spLocks noGrp="1"/>
          </p:cNvSpPr>
          <p:nvPr/>
        </p:nvSpPr>
        <p:spPr>
          <a:xfrm>
            <a:off x="8553450" y="2038350"/>
            <a:ext cx="27241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tvalid는 tready까지 유지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남은 response가 있으면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새 request accept 금지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0CD0C03-1350-4223-9FBB-5DD49F0CBE17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chip_ctrl 소비 규칙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624A592-17F4-448C-9F4F-DF44C7E68A51}"/>
              </a:ext>
            </a:extLst>
          </p:cNvPr>
          <p:cNvSpPr>
            <a:spLocks noGrp="1"/>
          </p:cNvSpPr>
          <p:nvPr/>
        </p:nvSpPr>
        <p:spPr>
          <a:xfrm>
            <a:off x="1104900" y="4343400"/>
            <a:ext cx="8191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tvalid가 아니라 `tvalid AND tready`인 fire pulse를 사용합니다. tready가 0이면 같은 beat를 중복 소비하지 않고, pending 신호로 watchdog을 freeze합니다.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966B861-7F30-4021-8DF9-089B22EAD2E4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D38716A-FAFF-4403-BF3A-6FDF968A4ECD}"/>
              </a:ext>
            </a:extLst>
          </p:cNvPr>
          <p:cNvSpPr>
            <a:spLocks noGrp="1"/>
          </p:cNvSpPr>
          <p:nvPr/>
        </p:nvSpPr>
        <p:spPr>
          <a:xfrm>
            <a:off x="9410700" y="4095750"/>
            <a:ext cx="66675" cy="9144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A9FDEFA-E12C-4E9A-80BD-A1C2F3DE6C2F}"/>
              </a:ext>
            </a:extLst>
          </p:cNvPr>
          <p:cNvSpPr>
            <a:spLocks noGrp="1"/>
          </p:cNvSpPr>
          <p:nvPr/>
        </p:nvSpPr>
        <p:spPr>
          <a:xfrm>
            <a:off x="9601200" y="424815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pending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D61050F-2CEB-464D-BA60-9A94FFFFD819}"/>
              </a:ext>
            </a:extLst>
          </p:cNvPr>
          <p:cNvSpPr>
            <a:spLocks noGrp="1"/>
          </p:cNvSpPr>
          <p:nvPr/>
        </p:nvSpPr>
        <p:spPr>
          <a:xfrm>
            <a:off x="9601200" y="4572000"/>
            <a:ext cx="1390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internal deferred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or AXIS hold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2E50B0-32C2-4831-BF81-D5837CBBA3AD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bus_phy:327-350, 654-660 / chip_ctrl:592-614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3271FF9-976F-40FB-8F70-BEDE1BF1A4CE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D2E1D62-CA64-4447-86A7-6D52B6AEB668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v004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648462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69D1EC07-B80A-4390-B412-F52F834118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647831E-FC80-4D7E-B287-2FB5E3F4218A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6057AC6-4765-44E5-AC8A-8194E03FA97E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16343D-1590-48AA-B1A2-F79528514F64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Burst READ와 IFIFO drain 의미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6DDB78-6B86-4EA9-B50D-79CAF38B2382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07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9AF2FD9-0F52-4621-AC63-52ADA99ED8B9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0675CC-8DC6-44E6-B89C-9E1C5AC1C926}"/>
              </a:ext>
            </a:extLst>
          </p:cNvPr>
          <p:cNvSpPr>
            <a:spLocks noGrp="1"/>
          </p:cNvSpPr>
          <p:nvPr/>
        </p:nvSpPr>
        <p:spPr>
          <a:xfrm>
            <a:off x="857250" y="1409700"/>
            <a:ext cx="66675" cy="137160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81FBF9-49F4-46E8-A259-C84D63C5F778}"/>
              </a:ext>
            </a:extLst>
          </p:cNvPr>
          <p:cNvSpPr>
            <a:spLocks noGrp="1"/>
          </p:cNvSpPr>
          <p:nvPr/>
        </p:nvSpPr>
        <p:spPr>
          <a:xfrm>
            <a:off x="10477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1BD2A0-B30E-4E67-A144-A088E31C8B3A}"/>
              </a:ext>
            </a:extLst>
          </p:cNvPr>
          <p:cNvSpPr>
            <a:spLocks noGrp="1"/>
          </p:cNvSpPr>
          <p:nvPr/>
        </p:nvSpPr>
        <p:spPr>
          <a:xfrm>
            <a:off x="10477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IFIFO drain 중 back-to-back READ를 수행해 bus overhead를 줄입니다.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4A190CE-2D9D-4747-AC72-E67F7D8286ED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D7D146-9E96-4410-8AA0-0B539F1C4EC9}"/>
              </a:ext>
            </a:extLst>
          </p:cNvPr>
          <p:cNvSpPr>
            <a:spLocks noGrp="1"/>
          </p:cNvSpPr>
          <p:nvPr/>
        </p:nvSpPr>
        <p:spPr>
          <a:xfrm>
            <a:off x="4533900" y="1409700"/>
            <a:ext cx="66675" cy="137160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C187F9-33D3-49B2-9D2A-FCA4E8F57772}"/>
              </a:ext>
            </a:extLst>
          </p:cNvPr>
          <p:cNvSpPr>
            <a:spLocks noGrp="1"/>
          </p:cNvSpPr>
          <p:nvPr/>
        </p:nvSpPr>
        <p:spPr>
          <a:xfrm>
            <a:off x="472440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latched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101829D-32E9-4835-B09B-F6088DBCE6D1}"/>
              </a:ext>
            </a:extLst>
          </p:cNvPr>
          <p:cNvSpPr>
            <a:spLocks noGrp="1"/>
          </p:cNvSpPr>
          <p:nvPr/>
        </p:nvSpPr>
        <p:spPr>
          <a:xfrm>
            <a:off x="472440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`s_oen_perm_r`는 burst 시작 시 latch되어 중간 흔들림을 막습니다.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E28693E-91FB-4A0A-97BC-93325469C91F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3143250" cy="1371600"/>
          </a:xfrm>
          <a:prstGeom prst="roundRect">
            <a:avLst>
              <a:gd name="adj" fmla="val 5556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A3A3FEA-2F45-43E3-9ED2-9D2B093B353C}"/>
              </a:ext>
            </a:extLst>
          </p:cNvPr>
          <p:cNvSpPr>
            <a:spLocks noGrp="1"/>
          </p:cNvSpPr>
          <p:nvPr/>
        </p:nvSpPr>
        <p:spPr>
          <a:xfrm>
            <a:off x="8210550" y="1409700"/>
            <a:ext cx="66675" cy="13716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4DC644-26B3-4D48-876A-728AD0998A05}"/>
              </a:ext>
            </a:extLst>
          </p:cNvPr>
          <p:cNvSpPr>
            <a:spLocks noGrp="1"/>
          </p:cNvSpPr>
          <p:nvPr/>
        </p:nvSpPr>
        <p:spPr>
          <a:xfrm>
            <a:off x="8401050" y="15621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rule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590715-365F-4EF4-AA58-41A7DEB035E3}"/>
              </a:ext>
            </a:extLst>
          </p:cNvPr>
          <p:cNvSpPr>
            <a:spLocks noGrp="1"/>
          </p:cNvSpPr>
          <p:nvPr/>
        </p:nvSpPr>
        <p:spPr>
          <a:xfrm>
            <a:off x="8401050" y="1885950"/>
            <a:ext cx="28194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empty FIFO read 금지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 active HIGH 기준은 C02에서 검증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7B819A-A50F-4496-952E-D7C7809626E6}"/>
              </a:ext>
            </a:extLst>
          </p:cNvPr>
          <p:cNvSpPr>
            <a:spLocks noGrp="1"/>
          </p:cNvSpPr>
          <p:nvPr/>
        </p:nvSpPr>
        <p:spPr>
          <a:xfrm>
            <a:off x="11239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D29CFB5-B0C6-4C3D-A94D-8CD37C29CFA9}"/>
              </a:ext>
            </a:extLst>
          </p:cNvPr>
          <p:cNvSpPr>
            <a:spLocks noGrp="1"/>
          </p:cNvSpPr>
          <p:nvPr/>
        </p:nvSpPr>
        <p:spPr>
          <a:xfrm>
            <a:off x="1333500" y="39052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7E70E44-C417-421B-954C-ECB0242CBE13}"/>
              </a:ext>
            </a:extLst>
          </p:cNvPr>
          <p:cNvSpPr>
            <a:spLocks noGrp="1"/>
          </p:cNvSpPr>
          <p:nvPr/>
        </p:nvSpPr>
        <p:spPr>
          <a:xfrm>
            <a:off x="2838450" y="3752850"/>
            <a:ext cx="1066800" cy="5143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7FF45EA-63D8-4F4A-9376-59E5D8B4A8E7}"/>
              </a:ext>
            </a:extLst>
          </p:cNvPr>
          <p:cNvSpPr>
            <a:spLocks noGrp="1"/>
          </p:cNvSpPr>
          <p:nvPr/>
        </p:nvSpPr>
        <p:spPr>
          <a:xfrm>
            <a:off x="2933700" y="3848100"/>
            <a:ext cx="876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744"/>
          </a:bodyPr>
          <a:lstStyle/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RDN high</a:t>
            </a:r>
          </a:p>
          <a:p>
            <a:pPr algn="ctr">
              <a:def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2 ticks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AC99FE-3359-4E13-94D8-F828B521C26F}"/>
              </a:ext>
            </a:extLst>
          </p:cNvPr>
          <p:cNvSpPr>
            <a:spLocks noGrp="1"/>
          </p:cNvSpPr>
          <p:nvPr/>
        </p:nvSpPr>
        <p:spPr>
          <a:xfrm>
            <a:off x="3905250" y="3752850"/>
            <a:ext cx="1714500" cy="5143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1A47998-3CF2-4C2E-BEE5-7430CB693084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1314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READ n+1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C69DB6B4-8117-420A-949D-9BDD59ED8D26}"/>
              </a:ext>
            </a:extLst>
          </p:cNvPr>
          <p:cNvSpPr>
            <a:spLocks noGrp="1"/>
          </p:cNvSpPr>
          <p:nvPr/>
        </p:nvSpPr>
        <p:spPr>
          <a:xfrm>
            <a:off x="6076950" y="3810000"/>
            <a:ext cx="1809750" cy="4000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2C87D90-4A57-4ACD-850E-376AB7FBE90E}"/>
              </a:ext>
            </a:extLst>
          </p:cNvPr>
          <p:cNvSpPr>
            <a:spLocks noGrp="1"/>
          </p:cNvSpPr>
          <p:nvPr/>
        </p:nvSpPr>
        <p:spPr>
          <a:xfrm>
            <a:off x="6172200" y="3876675"/>
            <a:ext cx="15430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 consumed?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F59032E-FE5D-46A6-98FA-45B189E2FBAF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2667000" cy="1047750"/>
          </a:xfrm>
          <a:prstGeom prst="roundRect">
            <a:avLst>
              <a:gd name="adj" fmla="val 7273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4036DE3-9735-43D6-8ADC-11E8F6FDE29F}"/>
              </a:ext>
            </a:extLst>
          </p:cNvPr>
          <p:cNvSpPr>
            <a:spLocks noGrp="1"/>
          </p:cNvSpPr>
          <p:nvPr/>
        </p:nvSpPr>
        <p:spPr>
          <a:xfrm>
            <a:off x="8172450" y="3524250"/>
            <a:ext cx="66675" cy="10477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7A12143-C1DE-47E4-B93A-E862B06973E5}"/>
              </a:ext>
            </a:extLst>
          </p:cNvPr>
          <p:cNvSpPr>
            <a:spLocks noGrp="1"/>
          </p:cNvSpPr>
          <p:nvPr/>
        </p:nvSpPr>
        <p:spPr>
          <a:xfrm>
            <a:off x="8362950" y="3676650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backpressure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F992A1C-9E0A-4516-81D9-2791D56B7D58}"/>
              </a:ext>
            </a:extLst>
          </p:cNvPr>
          <p:cNvSpPr>
            <a:spLocks noGrp="1"/>
          </p:cNvSpPr>
          <p:nvPr/>
        </p:nvSpPr>
        <p:spPr>
          <a:xfrm>
            <a:off x="8362950" y="4000500"/>
            <a:ext cx="23431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response가 소비되지 않으면 다음 burst read로 진행하지 않습니다.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EBAFFC8-22C6-4B94-8D8F-2ECE0178171B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p.7,p.11-12 / bus_phy:552-576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84FAFE-64B8-4745-A2ED-3F292417FF15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3898A0D-7575-4CB5-B135-B5DE6DC7F8EA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v004 · 2026-04-29</a:t>
            </a:r>
          </a:p>
        </p:txBody>
      </p:sp>
    </p:spTree>
    <p:extLst>
      <p:ext uri="{BB962C8B-B14F-4D97-AF65-F5344CB8AC3E}">
        <p14:creationId xmlns:p14="http://schemas.microsoft.com/office/powerpoint/2010/main" val="396252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423CA2F0-BBB1-4BDD-8B55-F55936F8FB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147DE7-85D4-426B-A01D-306F2F465FEA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97B0AF-0D73-4D53-A727-740E56AFC4CC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B464B0-2028-4D9F-9524-F602A7C05FC6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Status pin synchronizer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45BD0A-6888-4D78-9C49-FAB6A4C72813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08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1406D88-8A75-4FF6-86AD-DE2A4D40A0FD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D48F91-9755-4B16-A9DD-CC2FF87039F7}"/>
              </a:ext>
            </a:extLst>
          </p:cNvPr>
          <p:cNvSpPr>
            <a:spLocks noGrp="1"/>
          </p:cNvSpPr>
          <p:nvPr/>
        </p:nvSpPr>
        <p:spPr>
          <a:xfrm>
            <a:off x="933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EF1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89DB8AD-8B16-415C-9566-C825D94B3556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1F9A25-B3F2-4757-A6AC-C51184A5202F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BD771E-3E8C-46B4-AEDF-E53FA968AB60}"/>
              </a:ext>
            </a:extLst>
          </p:cNvPr>
          <p:cNvSpPr>
            <a:spLocks noGrp="1"/>
          </p:cNvSpPr>
          <p:nvPr/>
        </p:nvSpPr>
        <p:spPr>
          <a:xfrm>
            <a:off x="876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1A0D6C4-D47A-4A72-AA67-BB779972D8EF}"/>
              </a:ext>
            </a:extLst>
          </p:cNvPr>
          <p:cNvSpPr>
            <a:spLocks noGrp="1"/>
          </p:cNvSpPr>
          <p:nvPr/>
        </p:nvSpPr>
        <p:spPr>
          <a:xfrm>
            <a:off x="1314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3E82712-38CC-4381-8BB9-C1D63C64D8B1}"/>
              </a:ext>
            </a:extLst>
          </p:cNvPr>
          <p:cNvSpPr>
            <a:spLocks noGrp="1"/>
          </p:cNvSpPr>
          <p:nvPr/>
        </p:nvSpPr>
        <p:spPr>
          <a:xfrm>
            <a:off x="1352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2FCEDF1F-3A4E-4376-B66C-5F24C1CBDC7D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33D153E-6098-4076-841C-7A1295B2FA00}"/>
              </a:ext>
            </a:extLst>
          </p:cNvPr>
          <p:cNvSpPr>
            <a:spLocks noGrp="1"/>
          </p:cNvSpPr>
          <p:nvPr/>
        </p:nvSpPr>
        <p:spPr>
          <a:xfrm>
            <a:off x="2476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80CA134-178E-48C3-8B00-945165180F18}"/>
              </a:ext>
            </a:extLst>
          </p:cNvPr>
          <p:cNvSpPr>
            <a:spLocks noGrp="1"/>
          </p:cNvSpPr>
          <p:nvPr/>
        </p:nvSpPr>
        <p:spPr>
          <a:xfrm>
            <a:off x="2647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EF2</a:t>
            </a:r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BEBD35A-42CC-465C-B4FC-91194C4712CA}"/>
              </a:ext>
            </a:extLst>
          </p:cNvPr>
          <p:cNvSpPr>
            <a:spLocks noGrp="1"/>
          </p:cNvSpPr>
          <p:nvPr/>
        </p:nvSpPr>
        <p:spPr>
          <a:xfrm>
            <a:off x="2667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84903D-45A3-4FD7-8DF4-5333284F66C9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FA3FF6E-3533-4B49-95AB-34C909946619}"/>
              </a:ext>
            </a:extLst>
          </p:cNvPr>
          <p:cNvSpPr>
            <a:spLocks noGrp="1"/>
          </p:cNvSpPr>
          <p:nvPr/>
        </p:nvSpPr>
        <p:spPr>
          <a:xfrm>
            <a:off x="2590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2C77123-EA72-418C-8653-077C41DE4C4A}"/>
              </a:ext>
            </a:extLst>
          </p:cNvPr>
          <p:cNvSpPr>
            <a:spLocks noGrp="1"/>
          </p:cNvSpPr>
          <p:nvPr/>
        </p:nvSpPr>
        <p:spPr>
          <a:xfrm>
            <a:off x="3028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E281B3D-C38C-4422-9D28-629F238D85C9}"/>
              </a:ext>
            </a:extLst>
          </p:cNvPr>
          <p:cNvSpPr>
            <a:spLocks noGrp="1"/>
          </p:cNvSpPr>
          <p:nvPr/>
        </p:nvSpPr>
        <p:spPr>
          <a:xfrm>
            <a:off x="3067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61FCBAF7-82E0-4DE1-BAFA-0C131A1BDC5A}"/>
              </a:ext>
            </a:extLst>
          </p:cNvPr>
          <p:cNvSpPr>
            <a:spLocks noGrp="1"/>
          </p:cNvSpPr>
          <p:nvPr/>
        </p:nvSpPr>
        <p:spPr>
          <a:xfrm>
            <a:off x="2667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5FBBFAF-9D60-488E-BF0D-11BAA69A466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9B20DB-D907-4398-8C1E-54823B897503}"/>
              </a:ext>
            </a:extLst>
          </p:cNvPr>
          <p:cNvSpPr>
            <a:spLocks noGrp="1"/>
          </p:cNvSpPr>
          <p:nvPr/>
        </p:nvSpPr>
        <p:spPr>
          <a:xfrm>
            <a:off x="4362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LF1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998466CE-37BC-4CF1-AC42-BC39D10A07B2}"/>
              </a:ext>
            </a:extLst>
          </p:cNvPr>
          <p:cNvSpPr>
            <a:spLocks noGrp="1"/>
          </p:cNvSpPr>
          <p:nvPr/>
        </p:nvSpPr>
        <p:spPr>
          <a:xfrm>
            <a:off x="4381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338FEBE-A801-4511-BD2A-767439D8B4F0}"/>
              </a:ext>
            </a:extLst>
          </p:cNvPr>
          <p:cNvSpPr>
            <a:spLocks noGrp="1"/>
          </p:cNvSpPr>
          <p:nvPr/>
        </p:nvSpPr>
        <p:spPr>
          <a:xfrm>
            <a:off x="4267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B2CE595-E63D-43D4-9A30-6ED013E52460}"/>
              </a:ext>
            </a:extLst>
          </p:cNvPr>
          <p:cNvSpPr>
            <a:spLocks noGrp="1"/>
          </p:cNvSpPr>
          <p:nvPr/>
        </p:nvSpPr>
        <p:spPr>
          <a:xfrm>
            <a:off x="4305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2C3BA1C-BF84-4BAC-8E98-717C78402A3A}"/>
              </a:ext>
            </a:extLst>
          </p:cNvPr>
          <p:cNvSpPr>
            <a:spLocks noGrp="1"/>
          </p:cNvSpPr>
          <p:nvPr/>
        </p:nvSpPr>
        <p:spPr>
          <a:xfrm>
            <a:off x="4743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433D05F-42DB-4696-A070-B7EB4A0D9D38}"/>
              </a:ext>
            </a:extLst>
          </p:cNvPr>
          <p:cNvSpPr>
            <a:spLocks noGrp="1"/>
          </p:cNvSpPr>
          <p:nvPr/>
        </p:nvSpPr>
        <p:spPr>
          <a:xfrm>
            <a:off x="4781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D1600D90-202B-4E8F-843E-33F135CBE64C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441BA84-EB0C-4F8E-919F-A1A491865CDE}"/>
              </a:ext>
            </a:extLst>
          </p:cNvPr>
          <p:cNvSpPr>
            <a:spLocks noGrp="1"/>
          </p:cNvSpPr>
          <p:nvPr/>
        </p:nvSpPr>
        <p:spPr>
          <a:xfrm>
            <a:off x="5905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1F61769-EA04-4FEE-BC14-38AEE2D7C5C4}"/>
              </a:ext>
            </a:extLst>
          </p:cNvPr>
          <p:cNvSpPr>
            <a:spLocks noGrp="1"/>
          </p:cNvSpPr>
          <p:nvPr/>
        </p:nvSpPr>
        <p:spPr>
          <a:xfrm>
            <a:off x="6076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LF2</a:t>
            </a: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373C7840-7557-4840-A92A-EC1CFC895FC7}"/>
              </a:ext>
            </a:extLst>
          </p:cNvPr>
          <p:cNvSpPr>
            <a:spLocks noGrp="1"/>
          </p:cNvSpPr>
          <p:nvPr/>
        </p:nvSpPr>
        <p:spPr>
          <a:xfrm>
            <a:off x="6096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94A2297-5B1D-43C2-921D-BADFB7530876}"/>
              </a:ext>
            </a:extLst>
          </p:cNvPr>
          <p:cNvSpPr>
            <a:spLocks noGrp="1"/>
          </p:cNvSpPr>
          <p:nvPr/>
        </p:nvSpPr>
        <p:spPr>
          <a:xfrm>
            <a:off x="5981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7B19B0-6303-4384-9051-EF59A33BCF69}"/>
              </a:ext>
            </a:extLst>
          </p:cNvPr>
          <p:cNvSpPr>
            <a:spLocks noGrp="1"/>
          </p:cNvSpPr>
          <p:nvPr/>
        </p:nvSpPr>
        <p:spPr>
          <a:xfrm>
            <a:off x="6019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878787-BF04-4826-A42F-A297163640BC}"/>
              </a:ext>
            </a:extLst>
          </p:cNvPr>
          <p:cNvSpPr>
            <a:spLocks noGrp="1"/>
          </p:cNvSpPr>
          <p:nvPr/>
        </p:nvSpPr>
        <p:spPr>
          <a:xfrm>
            <a:off x="6457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C8A7CB-721E-47B6-8520-4CDFAE43BDE6}"/>
              </a:ext>
            </a:extLst>
          </p:cNvPr>
          <p:cNvSpPr>
            <a:spLocks noGrp="1"/>
          </p:cNvSpPr>
          <p:nvPr/>
        </p:nvSpPr>
        <p:spPr>
          <a:xfrm>
            <a:off x="6496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94B0D93D-F53C-45ED-8A85-BE49287555ED}"/>
              </a:ext>
            </a:extLst>
          </p:cNvPr>
          <p:cNvSpPr>
            <a:spLocks noGrp="1"/>
          </p:cNvSpPr>
          <p:nvPr/>
        </p:nvSpPr>
        <p:spPr>
          <a:xfrm>
            <a:off x="6096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435E10C-24B4-438C-9BDB-85924B4EEBA3}"/>
              </a:ext>
            </a:extLst>
          </p:cNvPr>
          <p:cNvSpPr>
            <a:spLocks noGrp="1"/>
          </p:cNvSpPr>
          <p:nvPr/>
        </p:nvSpPr>
        <p:spPr>
          <a:xfrm>
            <a:off x="76200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B90EE43-2895-452D-B620-A1E26FE313BD}"/>
              </a:ext>
            </a:extLst>
          </p:cNvPr>
          <p:cNvSpPr>
            <a:spLocks noGrp="1"/>
          </p:cNvSpPr>
          <p:nvPr/>
        </p:nvSpPr>
        <p:spPr>
          <a:xfrm>
            <a:off x="77914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IrFlag</a:t>
            </a:r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B4882C51-35B1-46FF-A43C-34B300AFB8C4}"/>
              </a:ext>
            </a:extLst>
          </p:cNvPr>
          <p:cNvSpPr>
            <a:spLocks noGrp="1"/>
          </p:cNvSpPr>
          <p:nvPr/>
        </p:nvSpPr>
        <p:spPr>
          <a:xfrm>
            <a:off x="78105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63EC642-E5C5-4A33-8072-0807F2AF2A53}"/>
              </a:ext>
            </a:extLst>
          </p:cNvPr>
          <p:cNvSpPr>
            <a:spLocks noGrp="1"/>
          </p:cNvSpPr>
          <p:nvPr/>
        </p:nvSpPr>
        <p:spPr>
          <a:xfrm>
            <a:off x="76962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78521D4-EF5A-408D-81AD-C30D49D9E58D}"/>
              </a:ext>
            </a:extLst>
          </p:cNvPr>
          <p:cNvSpPr>
            <a:spLocks noGrp="1"/>
          </p:cNvSpPr>
          <p:nvPr/>
        </p:nvSpPr>
        <p:spPr>
          <a:xfrm>
            <a:off x="77343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68CF873-F2B3-4735-AC6A-ADC3A7BE6976}"/>
              </a:ext>
            </a:extLst>
          </p:cNvPr>
          <p:cNvSpPr>
            <a:spLocks noGrp="1"/>
          </p:cNvSpPr>
          <p:nvPr/>
        </p:nvSpPr>
        <p:spPr>
          <a:xfrm>
            <a:off x="81724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02F5C19-7CC1-434F-AD31-DE743AFF0088}"/>
              </a:ext>
            </a:extLst>
          </p:cNvPr>
          <p:cNvSpPr>
            <a:spLocks noGrp="1"/>
          </p:cNvSpPr>
          <p:nvPr/>
        </p:nvSpPr>
        <p:spPr>
          <a:xfrm>
            <a:off x="82105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D6043E9D-2316-4058-A9B5-8DE66049999C}"/>
              </a:ext>
            </a:extLst>
          </p:cNvPr>
          <p:cNvSpPr>
            <a:spLocks noGrp="1"/>
          </p:cNvSpPr>
          <p:nvPr/>
        </p:nvSpPr>
        <p:spPr>
          <a:xfrm>
            <a:off x="78105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A1A08D02-BB1F-445E-B446-2CD573678C55}"/>
              </a:ext>
            </a:extLst>
          </p:cNvPr>
          <p:cNvSpPr>
            <a:spLocks noGrp="1"/>
          </p:cNvSpPr>
          <p:nvPr/>
        </p:nvSpPr>
        <p:spPr>
          <a:xfrm>
            <a:off x="9334500" y="1504950"/>
            <a:ext cx="10477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D55F3B7-5079-4E20-8813-DA25D6915E3D}"/>
              </a:ext>
            </a:extLst>
          </p:cNvPr>
          <p:cNvSpPr>
            <a:spLocks noGrp="1"/>
          </p:cNvSpPr>
          <p:nvPr/>
        </p:nvSpPr>
        <p:spPr>
          <a:xfrm>
            <a:off x="9505950" y="1619250"/>
            <a:ext cx="704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ctr">
              <a:def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ErrFlag</a:t>
            </a:r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171CFAD5-7FE1-4381-8A43-5A58564ED915}"/>
              </a:ext>
            </a:extLst>
          </p:cNvPr>
          <p:cNvSpPr>
            <a:spLocks noGrp="1"/>
          </p:cNvSpPr>
          <p:nvPr/>
        </p:nvSpPr>
        <p:spPr>
          <a:xfrm>
            <a:off x="9525000" y="215265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8360BC0-ABA5-4FE7-8179-A063535459BC}"/>
              </a:ext>
            </a:extLst>
          </p:cNvPr>
          <p:cNvSpPr>
            <a:spLocks noGrp="1"/>
          </p:cNvSpPr>
          <p:nvPr/>
        </p:nvSpPr>
        <p:spPr>
          <a:xfrm>
            <a:off x="9410700" y="2724150"/>
            <a:ext cx="419100" cy="476250"/>
          </a:xfrm>
          <a:prstGeom prst="rect">
            <a:avLst/>
          </a:prstGeom>
          <a:solidFill>
            <a:srgbClr val="F0F0FF"/>
          </a:solidFill>
          <a:ln w="9525">
            <a:solidFill>
              <a:srgbClr val="5B5BD6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398E630-37B4-45AD-B20E-FD8F6CE8D4AC}"/>
              </a:ext>
            </a:extLst>
          </p:cNvPr>
          <p:cNvSpPr>
            <a:spLocks noGrp="1"/>
          </p:cNvSpPr>
          <p:nvPr/>
        </p:nvSpPr>
        <p:spPr>
          <a:xfrm>
            <a:off x="944880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meta</a:t>
            </a:r>
          </a:p>
          <a:p>
            <a:pPr algn="ctr">
              <a:def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AA08318-1F03-4832-B53D-67E848F3115B}"/>
              </a:ext>
            </a:extLst>
          </p:cNvPr>
          <p:cNvSpPr>
            <a:spLocks noGrp="1"/>
          </p:cNvSpPr>
          <p:nvPr/>
        </p:nvSpPr>
        <p:spPr>
          <a:xfrm>
            <a:off x="9886950" y="2724150"/>
            <a:ext cx="419100" cy="476250"/>
          </a:xfrm>
          <a:prstGeom prst="rect">
            <a:avLst/>
          </a:prstGeom>
          <a:solidFill>
            <a:srgbClr val="E6F7F8"/>
          </a:solidFill>
          <a:ln w="9525">
            <a:solidFill>
              <a:srgbClr val="0B7285"/>
            </a:solidFill>
            <a:prstDash val="solid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EBB6A70-4C1A-4058-B7D0-92835F8986E3}"/>
              </a:ext>
            </a:extLst>
          </p:cNvPr>
          <p:cNvSpPr>
            <a:spLocks noGrp="1"/>
          </p:cNvSpPr>
          <p:nvPr/>
        </p:nvSpPr>
        <p:spPr>
          <a:xfrm>
            <a:off x="9925050" y="2819400"/>
            <a:ext cx="34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909"/>
          </a:bodyPr>
          <a:lstStyle/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sync</a:t>
            </a:r>
          </a:p>
          <a:p>
            <a:pPr algn="ctr">
              <a:def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7C0CE21E-44F8-4671-B149-EC7964A36270}"/>
              </a:ext>
            </a:extLst>
          </p:cNvPr>
          <p:cNvSpPr>
            <a:spLocks noGrp="1"/>
          </p:cNvSpPr>
          <p:nvPr/>
        </p:nvSpPr>
        <p:spPr>
          <a:xfrm>
            <a:off x="9525000" y="3429000"/>
            <a:ext cx="666750" cy="323850"/>
          </a:xfrm>
          <a:prstGeom prst="rightArrow">
            <a:avLst/>
          </a:prstGeom>
          <a:solidFill>
            <a:srgbClr val="CBD5E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CF818E4-1AE3-41F2-BBF9-1ACAAAF31E36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51A7285-2BFA-416C-AEC4-150BA2D54B39}"/>
              </a:ext>
            </a:extLst>
          </p:cNvPr>
          <p:cNvSpPr>
            <a:spLocks noGrp="1"/>
          </p:cNvSpPr>
          <p:nvPr/>
        </p:nvSpPr>
        <p:spPr>
          <a:xfrm>
            <a:off x="1143000" y="4362450"/>
            <a:ext cx="66675" cy="10858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99EFF68-4689-45BB-8657-A8590FE8BC8E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datasheet polarity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EF5D747-F94E-4CC1-ACCF-418B9C4775A9}"/>
              </a:ext>
            </a:extLst>
          </p:cNvPr>
          <p:cNvSpPr>
            <a:spLocks noGrp="1"/>
          </p:cNvSpPr>
          <p:nvPr/>
        </p:nvSpPr>
        <p:spPr>
          <a:xfrm>
            <a:off x="1333500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EF1/EF2: empty flag active HIGH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LF1/LF2: load flag active HIGH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1FF5A7FE-BE73-44B7-A79B-F6FA5A15D236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7A524C3-2A6C-45D3-B377-744462CC0F61}"/>
              </a:ext>
            </a:extLst>
          </p:cNvPr>
          <p:cNvSpPr>
            <a:spLocks noGrp="1"/>
          </p:cNvSpPr>
          <p:nvPr/>
        </p:nvSpPr>
        <p:spPr>
          <a:xfrm>
            <a:off x="4619625" y="4362450"/>
            <a:ext cx="66675" cy="10858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AA2DBFD-BBC8-4B01-BC02-64DADAAA5D4F}"/>
              </a:ext>
            </a:extLst>
          </p:cNvPr>
          <p:cNvSpPr>
            <a:spLocks noGrp="1"/>
          </p:cNvSpPr>
          <p:nvPr/>
        </p:nvSpPr>
        <p:spPr>
          <a:xfrm>
            <a:off x="4810125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보장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CB6194F-6E12-441F-8187-8201063C15BB}"/>
              </a:ext>
            </a:extLst>
          </p:cNvPr>
          <p:cNvSpPr>
            <a:spLocks noGrp="1"/>
          </p:cNvSpPr>
          <p:nvPr/>
        </p:nvSpPr>
        <p:spPr>
          <a:xfrm>
            <a:off x="4810125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2-FF와 ASYNC_REG attribute로 metastability를 방어합니다.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7651A062-2F3A-4357-B194-96A148AEC096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2952750" cy="1085850"/>
          </a:xfrm>
          <a:prstGeom prst="roundRect">
            <a:avLst>
              <a:gd name="adj" fmla="val 7018"/>
            </a:avLst>
          </a:prstGeom>
          <a:solidFill>
            <a:srgbClr val="FDECE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5070661-B66F-4D10-A922-8B2C55C2BC9A}"/>
              </a:ext>
            </a:extLst>
          </p:cNvPr>
          <p:cNvSpPr>
            <a:spLocks noGrp="1"/>
          </p:cNvSpPr>
          <p:nvPr/>
        </p:nvSpPr>
        <p:spPr>
          <a:xfrm>
            <a:off x="8096250" y="4362450"/>
            <a:ext cx="66675" cy="108585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  <a:prstDash val="solid"/>
          </a:ln>
        </p:spPr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D6C9B25-625F-4649-8CB4-39A5649F8C40}"/>
              </a:ext>
            </a:extLst>
          </p:cNvPr>
          <p:cNvSpPr>
            <a:spLocks noGrp="1"/>
          </p:cNvSpPr>
          <p:nvPr/>
        </p:nvSpPr>
        <p:spPr>
          <a:xfrm>
            <a:off x="8286750" y="4514850"/>
            <a:ext cx="2628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주의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69E581D-E279-4A17-8A34-3092DDC9B447}"/>
              </a:ext>
            </a:extLst>
          </p:cNvPr>
          <p:cNvSpPr>
            <a:spLocks noGrp="1"/>
          </p:cNvSpPr>
          <p:nvPr/>
        </p:nvSpPr>
        <p:spPr>
          <a:xfrm>
            <a:off x="8286750" y="4838700"/>
            <a:ext cx="2628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짧은 pulse capture 보장은 별도 문제입니다. C02에서 level 사용 정책을 확인합니다.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1D8AD7F-6FA2-4999-A8B3-4EACFE39DBAB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TDC-GPX-Datasheet.pdf p.11-12 / bus_phy:234-246, 665-705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1F175A2-E80F-48FB-A976-A37820C22483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57C540B-6414-4C01-9EED-A56BE013EC79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v004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089331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직사각형 51">
            <a:extLst>
              <a:ext uri="{FF2B5EF4-FFF2-40B4-BE49-F238E27FC236}">
                <a16:creationId xmlns:a16="http://schemas.microsoft.com/office/drawing/2014/main" id="{7A7A50E1-48C0-4582-8E87-A0DE7389C5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995F9C-FEAA-4067-AF82-4EBAC7208C82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D3BBFD-65FC-4D5C-BE66-D3DE03FAD749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F325668-4832-4A97-8703-CE4320EEFA92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코드 리뷰 findings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7F0B82-BFCF-445E-BF5A-EF6393C44910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09 / 10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AB345C-2239-404F-8DF4-34EE34FA06C2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6667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E6C4527-69F1-4439-98E1-8290820974DC}"/>
              </a:ext>
            </a:extLst>
          </p:cNvPr>
          <p:cNvSpPr>
            <a:spLocks noGrp="1"/>
          </p:cNvSpPr>
          <p:nvPr/>
        </p:nvSpPr>
        <p:spPr>
          <a:xfrm>
            <a:off x="742950" y="1447800"/>
            <a:ext cx="514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등급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21F71C-0153-499B-A5FB-6A7E1D1A88B3}"/>
              </a:ext>
            </a:extLst>
          </p:cNvPr>
          <p:cNvSpPr>
            <a:spLocks noGrp="1"/>
          </p:cNvSpPr>
          <p:nvPr/>
        </p:nvSpPr>
        <p:spPr>
          <a:xfrm>
            <a:off x="1333500" y="1333500"/>
            <a:ext cx="247650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511332C-E6DC-425E-8842-933FE6C61AA2}"/>
              </a:ext>
            </a:extLst>
          </p:cNvPr>
          <p:cNvSpPr>
            <a:spLocks noGrp="1"/>
          </p:cNvSpPr>
          <p:nvPr/>
        </p:nvSpPr>
        <p:spPr>
          <a:xfrm>
            <a:off x="1409700" y="1447800"/>
            <a:ext cx="2324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14FA738-CD93-4F63-9246-A2ECE0621866}"/>
              </a:ext>
            </a:extLst>
          </p:cNvPr>
          <p:cNvSpPr>
            <a:spLocks noGrp="1"/>
          </p:cNvSpPr>
          <p:nvPr/>
        </p:nvSpPr>
        <p:spPr>
          <a:xfrm>
            <a:off x="3810000" y="1333500"/>
            <a:ext cx="7715250" cy="3810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9FA582-7B35-41B3-A693-CF0B54E82DAC}"/>
              </a:ext>
            </a:extLst>
          </p:cNvPr>
          <p:cNvSpPr>
            <a:spLocks noGrp="1"/>
          </p:cNvSpPr>
          <p:nvPr/>
        </p:nvSpPr>
        <p:spPr>
          <a:xfrm>
            <a:off x="3886200" y="1447800"/>
            <a:ext cx="7562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의미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34DE51-4F59-4121-A227-311CB7F86FAD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3546110-1281-4A95-A751-78CB7178A842}"/>
              </a:ext>
            </a:extLst>
          </p:cNvPr>
          <p:cNvSpPr>
            <a:spLocks noGrp="1"/>
          </p:cNvSpPr>
          <p:nvPr/>
        </p:nvSpPr>
        <p:spPr>
          <a:xfrm>
            <a:off x="762000" y="18002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A1A8E49-74B3-4431-99F0-FFA0F23CB987}"/>
              </a:ext>
            </a:extLst>
          </p:cNvPr>
          <p:cNvSpPr>
            <a:spLocks noGrp="1"/>
          </p:cNvSpPr>
          <p:nvPr/>
        </p:nvSpPr>
        <p:spPr>
          <a:xfrm>
            <a:off x="1333500" y="17145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E69813D-0C52-4853-8CE5-5F62317420DB}"/>
              </a:ext>
            </a:extLst>
          </p:cNvPr>
          <p:cNvSpPr>
            <a:spLocks noGrp="1"/>
          </p:cNvSpPr>
          <p:nvPr/>
        </p:nvSpPr>
        <p:spPr>
          <a:xfrm>
            <a:off x="1428750" y="18002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FAA1DF2-088D-4702-9E01-33913F21D4B6}"/>
              </a:ext>
            </a:extLst>
          </p:cNvPr>
          <p:cNvSpPr>
            <a:spLocks noGrp="1"/>
          </p:cNvSpPr>
          <p:nvPr/>
        </p:nvSpPr>
        <p:spPr>
          <a:xfrm>
            <a:off x="3810000" y="17145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2CD670A-E864-4BC1-8F79-3E4A1B91454D}"/>
              </a:ext>
            </a:extLst>
          </p:cNvPr>
          <p:cNvSpPr>
            <a:spLocks noGrp="1"/>
          </p:cNvSpPr>
          <p:nvPr/>
        </p:nvSpPr>
        <p:spPr>
          <a:xfrm>
            <a:off x="3905250" y="18002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c_BUS_CLK_DIV_MIN=1 전환 목표. div=1은 ticks&gt;=5를 Bus_Phy/upstream에서 강제해야 함.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5AA9B18-8305-44A0-859F-6D797A3737A9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A4763F-FDD6-4743-8064-7930156741CE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1D091E9-351A-4306-8A46-07F15F87C0E9}"/>
              </a:ext>
            </a:extLst>
          </p:cNvPr>
          <p:cNvSpPr>
            <a:spLocks noGrp="1"/>
          </p:cNvSpPr>
          <p:nvPr/>
        </p:nvSpPr>
        <p:spPr>
          <a:xfrm>
            <a:off x="1333500" y="22669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E281B8-FC49-4A0B-B2E9-8B42C39F1F15}"/>
              </a:ext>
            </a:extLst>
          </p:cNvPr>
          <p:cNvSpPr>
            <a:spLocks noGrp="1"/>
          </p:cNvSpPr>
          <p:nvPr/>
        </p:nvSpPr>
        <p:spPr>
          <a:xfrm>
            <a:off x="1428750" y="23526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75E3897-44C3-439F-B2CF-B04759414AC1}"/>
              </a:ext>
            </a:extLst>
          </p:cNvPr>
          <p:cNvSpPr>
            <a:spLocks noGrp="1"/>
          </p:cNvSpPr>
          <p:nvPr/>
        </p:nvSpPr>
        <p:spPr>
          <a:xfrm>
            <a:off x="3810000" y="22669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295E81B-2641-421F-A050-593D35E80EAB}"/>
              </a:ext>
            </a:extLst>
          </p:cNvPr>
          <p:cNvSpPr>
            <a:spLocks noGrp="1"/>
          </p:cNvSpPr>
          <p:nvPr/>
        </p:nvSpPr>
        <p:spPr>
          <a:xfrm>
            <a:off x="3905250" y="23526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Stream out clock port 필요. SYNC는 기존 구조 유사, ASYNC는 final AXI async FIFO 필요.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20E094C-72D4-42F6-8B77-B17444EC7CC5}"/>
              </a:ext>
            </a:extLst>
          </p:cNvPr>
          <p:cNvSpPr>
            <a:spLocks noGrp="1"/>
          </p:cNvSpPr>
          <p:nvPr/>
        </p:nvSpPr>
        <p:spPr>
          <a:xfrm>
            <a:off x="666750" y="28194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966A6F2-0A7D-4861-AC28-C008B642BACA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2022A96-C269-42AB-9730-BA06D9930131}"/>
              </a:ext>
            </a:extLst>
          </p:cNvPr>
          <p:cNvSpPr>
            <a:spLocks noGrp="1"/>
          </p:cNvSpPr>
          <p:nvPr/>
        </p:nvSpPr>
        <p:spPr>
          <a:xfrm>
            <a:off x="1333500" y="28194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D41CDF0-178B-4F26-8508-4F3DB2BF5D6A}"/>
              </a:ext>
            </a:extLst>
          </p:cNvPr>
          <p:cNvSpPr>
            <a:spLocks noGrp="1"/>
          </p:cNvSpPr>
          <p:nvPr/>
        </p:nvSpPr>
        <p:spPr>
          <a:xfrm>
            <a:off x="1428750" y="29051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F-C01-07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DB23D80-C1FF-46ED-947B-811A9D7860E4}"/>
              </a:ext>
            </a:extLst>
          </p:cNvPr>
          <p:cNvSpPr>
            <a:spLocks noGrp="1"/>
          </p:cNvSpPr>
          <p:nvPr/>
        </p:nvSpPr>
        <p:spPr>
          <a:xfrm>
            <a:off x="3810000" y="28194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D7E45F6-8922-423F-89B5-36567688BBA8}"/>
              </a:ext>
            </a:extLst>
          </p:cNvPr>
          <p:cNvSpPr>
            <a:spLocks noGrp="1"/>
          </p:cNvSpPr>
          <p:nvPr/>
        </p:nvSpPr>
        <p:spPr>
          <a:xfrm>
            <a:off x="3905250" y="29051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OEN은 dynamic 연결 또는 pull-up/미연결 두 모드. Low 고정은 회로적으로 금지.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BE78AF6-9EC9-4927-B516-82835F444032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4C1407C-995F-4DC2-B979-C91ACFAFDBE1}"/>
              </a:ext>
            </a:extLst>
          </p:cNvPr>
          <p:cNvSpPr>
            <a:spLocks noGrp="1"/>
          </p:cNvSpPr>
          <p:nvPr/>
        </p:nvSpPr>
        <p:spPr>
          <a:xfrm>
            <a:off x="762000" y="34575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D5801B3-5249-4A60-9996-BAC9B0020DD3}"/>
              </a:ext>
            </a:extLst>
          </p:cNvPr>
          <p:cNvSpPr>
            <a:spLocks noGrp="1"/>
          </p:cNvSpPr>
          <p:nvPr/>
        </p:nvSpPr>
        <p:spPr>
          <a:xfrm>
            <a:off x="1333500" y="33718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DC76DF5-0BC9-48F6-BEE7-86990ED3D593}"/>
              </a:ext>
            </a:extLst>
          </p:cNvPr>
          <p:cNvSpPr>
            <a:spLocks noGrp="1"/>
          </p:cNvSpPr>
          <p:nvPr/>
        </p:nvSpPr>
        <p:spPr>
          <a:xfrm>
            <a:off x="1428750" y="34575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F-C01-09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ADB3829-ABD5-4DBA-B3AD-8137172EB736}"/>
              </a:ext>
            </a:extLst>
          </p:cNvPr>
          <p:cNvSpPr>
            <a:spLocks noGrp="1"/>
          </p:cNvSpPr>
          <p:nvPr/>
        </p:nvSpPr>
        <p:spPr>
          <a:xfrm>
            <a:off x="3810000" y="33718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1282030-A761-4671-B7AE-988EF440CE42}"/>
              </a:ext>
            </a:extLst>
          </p:cNvPr>
          <p:cNvSpPr>
            <a:spLocks noGrp="1"/>
          </p:cNvSpPr>
          <p:nvPr/>
        </p:nvSpPr>
        <p:spPr>
          <a:xfrm>
            <a:off x="3905250" y="34575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tS-EF max 11.8 ns + 2-FF latency 때문에 EF 기반 burst stop은 늦을 수 있음.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B2D54AE-3277-4295-B672-CDAF08C7B8B2}"/>
              </a:ext>
            </a:extLst>
          </p:cNvPr>
          <p:cNvSpPr>
            <a:spLocks noGrp="1"/>
          </p:cNvSpPr>
          <p:nvPr/>
        </p:nvSpPr>
        <p:spPr>
          <a:xfrm>
            <a:off x="666750" y="3924300"/>
            <a:ext cx="666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52698C3-8A28-42B7-930E-E3C27A0A1A47}"/>
              </a:ext>
            </a:extLst>
          </p:cNvPr>
          <p:cNvSpPr>
            <a:spLocks noGrp="1"/>
          </p:cNvSpPr>
          <p:nvPr/>
        </p:nvSpPr>
        <p:spPr>
          <a:xfrm>
            <a:off x="762000" y="401002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E89AD65-049E-4FB8-9328-8E1ABB7453B9}"/>
              </a:ext>
            </a:extLst>
          </p:cNvPr>
          <p:cNvSpPr>
            <a:spLocks noGrp="1"/>
          </p:cNvSpPr>
          <p:nvPr/>
        </p:nvSpPr>
        <p:spPr>
          <a:xfrm>
            <a:off x="1333500" y="3924300"/>
            <a:ext cx="247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96440BB-BD23-49E1-A4A1-34DA590962A7}"/>
              </a:ext>
            </a:extLst>
          </p:cNvPr>
          <p:cNvSpPr>
            <a:spLocks noGrp="1"/>
          </p:cNvSpPr>
          <p:nvPr/>
        </p:nvSpPr>
        <p:spPr>
          <a:xfrm>
            <a:off x="1428750" y="401002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F-C01-08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73528CB-48E2-489B-95FB-5E68133643DE}"/>
              </a:ext>
            </a:extLst>
          </p:cNvPr>
          <p:cNvSpPr>
            <a:spLocks noGrp="1"/>
          </p:cNvSpPr>
          <p:nvPr/>
        </p:nvSpPr>
        <p:spPr>
          <a:xfrm>
            <a:off x="3810000" y="3924300"/>
            <a:ext cx="7715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F969ABD-47CF-4131-B833-523A4F33B3C4}"/>
              </a:ext>
            </a:extLst>
          </p:cNvPr>
          <p:cNvSpPr>
            <a:spLocks noGrp="1"/>
          </p:cNvSpPr>
          <p:nvPr/>
        </p:nvSpPr>
        <p:spPr>
          <a:xfrm>
            <a:off x="3905250" y="401002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o_rsp_pending_r 등록화는 1clk 지연 발생. chip_ctrl 영향성은 C02에서 점검.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6610193-80AB-43E1-8FF3-3CF032263871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6667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FA984FA-1D18-43FE-8324-815744CA00B1}"/>
              </a:ext>
            </a:extLst>
          </p:cNvPr>
          <p:cNvSpPr>
            <a:spLocks noGrp="1"/>
          </p:cNvSpPr>
          <p:nvPr/>
        </p:nvSpPr>
        <p:spPr>
          <a:xfrm>
            <a:off x="762000" y="4562475"/>
            <a:ext cx="476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E45461A-F43F-405B-9106-D76CB6E36DC7}"/>
              </a:ext>
            </a:extLst>
          </p:cNvPr>
          <p:cNvSpPr>
            <a:spLocks noGrp="1"/>
          </p:cNvSpPr>
          <p:nvPr/>
        </p:nvSpPr>
        <p:spPr>
          <a:xfrm>
            <a:off x="1333500" y="4476750"/>
            <a:ext cx="247650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4AD5EA0-C635-4EB4-87E5-20F7E5A63480}"/>
              </a:ext>
            </a:extLst>
          </p:cNvPr>
          <p:cNvSpPr>
            <a:spLocks noGrp="1"/>
          </p:cNvSpPr>
          <p:nvPr/>
        </p:nvSpPr>
        <p:spPr>
          <a:xfrm>
            <a:off x="1428750" y="4562475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F-C01-03~06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F1953BC-7F78-42F4-A6CA-8FC30819338A}"/>
              </a:ext>
            </a:extLst>
          </p:cNvPr>
          <p:cNvSpPr>
            <a:spLocks noGrp="1"/>
          </p:cNvSpPr>
          <p:nvPr/>
        </p:nvSpPr>
        <p:spPr>
          <a:xfrm>
            <a:off x="3810000" y="4476750"/>
            <a:ext cx="7715250" cy="552450"/>
          </a:xfrm>
          <a:prstGeom prst="rect">
            <a:avLst/>
          </a:prstGeom>
          <a:solidFill>
            <a:srgbClr val="F8FAFC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3FBA803-31E1-4740-8380-B8A5C42C8C51}"/>
              </a:ext>
            </a:extLst>
          </p:cNvPr>
          <p:cNvSpPr>
            <a:spLocks noGrp="1"/>
          </p:cNvSpPr>
          <p:nvPr/>
        </p:nvSpPr>
        <p:spPr>
          <a:xfrm>
            <a:off x="3905250" y="4562475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사용자 동의로 판단 유지. C02 인계 조건으로 관리.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07F4481-01DF-4300-9428-CFCEBC92A8A2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확정 기능 결함이라기보다, C01 경계에서 다음 단계 검증과 운용 문서화가 필요한 항목입니다.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45DF418-0C3E-483C-8B51-12E85290A6D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C01_GPX_Bus_Read_20260429_v004.md §13 / TDC-GPX-Datasheet.pdf p.7-8,p.27,p.51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CFFE8DC-1F83-4DFB-9A3C-49C4F7F402C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52595EB-45A5-4487-B551-737C1D91CEA6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v004 · 2026-04-29</a:t>
            </a:r>
          </a:p>
        </p:txBody>
      </p:sp>
    </p:spTree>
    <p:extLst>
      <p:ext uri="{BB962C8B-B14F-4D97-AF65-F5344CB8AC3E}">
        <p14:creationId xmlns:p14="http://schemas.microsoft.com/office/powerpoint/2010/main" val="2117095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BC458EB3-C566-435B-B501-1A12C26059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3900"/>
          </a:xfrm>
          <a:prstGeom prst="rect">
            <a:avLst/>
          </a:prstGeom>
          <a:solidFill>
            <a:srgbClr val="10233F"/>
          </a:solidFill>
          <a:ln w="0">
            <a:solidFill>
              <a:srgbClr val="10233F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98CD97-93C8-4DFC-9055-A96BC303D880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12192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70483B-E8C0-4298-9780-52719A40ED09}"/>
              </a:ext>
            </a:extLst>
          </p:cNvPr>
          <p:cNvSpPr>
            <a:spLocks noGrp="1"/>
          </p:cNvSpPr>
          <p:nvPr/>
        </p:nvSpPr>
        <p:spPr>
          <a:xfrm>
            <a:off x="419100" y="1333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C01 GPX BUS READ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46CF5A-F7F0-45B4-9CEC-BF1BBF509B07}"/>
              </a:ext>
            </a:extLst>
          </p:cNvPr>
          <p:cNvSpPr>
            <a:spLocks noGrp="1"/>
          </p:cNvSpPr>
          <p:nvPr/>
        </p:nvSpPr>
        <p:spPr>
          <a:xfrm>
            <a:off x="419100" y="342900"/>
            <a:ext cx="8858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C01 종료 조건과 다음 Cluster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840296-E42D-477A-9B4E-091B8E83ADB5}"/>
              </a:ext>
            </a:extLst>
          </p:cNvPr>
          <p:cNvSpPr>
            <a:spLocks noGrp="1"/>
          </p:cNvSpPr>
          <p:nvPr/>
        </p:nvSpPr>
        <p:spPr>
          <a:xfrm>
            <a:off x="10572750" y="3238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10 / 10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63E6886-365B-4189-87A7-62A80F0165DD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6F7F8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2B7FDC-A60D-44C2-BE15-E11C8A2063F7}"/>
              </a:ext>
            </a:extLst>
          </p:cNvPr>
          <p:cNvSpPr>
            <a:spLocks noGrp="1"/>
          </p:cNvSpPr>
          <p:nvPr/>
        </p:nvSpPr>
        <p:spPr>
          <a:xfrm>
            <a:off x="762000" y="1257300"/>
            <a:ext cx="66675" cy="1428750"/>
          </a:xfrm>
          <a:prstGeom prst="rect">
            <a:avLst/>
          </a:prstGeom>
          <a:solidFill>
            <a:srgbClr val="0B7285"/>
          </a:solidFill>
          <a:ln w="0">
            <a:solidFill>
              <a:srgbClr val="0B7285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C3801C-73F0-4C9E-8665-C2BFB74E722B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C01에서 닫을 것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DE1A23C-B1C3-4621-B564-9AEF6DF31CCE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READ/EF Timing Diagram, 40 MHz readout, OEN mode, status sync 의미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2B1CA1F-5C9E-4E52-B175-0410BC5C6F4E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FFF7E6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437731-D83A-44B1-82A1-D6BB9A15E004}"/>
              </a:ext>
            </a:extLst>
          </p:cNvPr>
          <p:cNvSpPr>
            <a:spLocks noGrp="1"/>
          </p:cNvSpPr>
          <p:nvPr/>
        </p:nvSpPr>
        <p:spPr>
          <a:xfrm>
            <a:off x="4514850" y="1257300"/>
            <a:ext cx="66675" cy="14287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2AFD064-653B-4A5D-9185-431C26DE2EE0}"/>
              </a:ext>
            </a:extLst>
          </p:cNvPr>
          <p:cNvSpPr>
            <a:spLocks noGrp="1"/>
          </p:cNvSpPr>
          <p:nvPr/>
        </p:nvSpPr>
        <p:spPr>
          <a:xfrm>
            <a:off x="470535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운영 규칙 반영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6EA7AB6-1F1C-4AA9-B53C-8D1C2BB10A0B}"/>
              </a:ext>
            </a:extLst>
          </p:cNvPr>
          <p:cNvSpPr>
            <a:spLocks noGrp="1"/>
          </p:cNvSpPr>
          <p:nvPr/>
        </p:nvSpPr>
        <p:spPr>
          <a:xfrm>
            <a:off x="470535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PPT Timing Diagram 필수</a:t>
            </a:r>
          </a:p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version lineage 유지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D65962D-DDC1-491D-8BDC-3BCEDFCC5A85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3143250" cy="1428750"/>
          </a:xfrm>
          <a:prstGeom prst="roundRect">
            <a:avLst>
              <a:gd name="adj" fmla="val 5333"/>
            </a:avLst>
          </a:prstGeom>
          <a:solidFill>
            <a:srgbClr val="EAF7E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8A833E-591E-41DF-84B1-F1EA61845820}"/>
              </a:ext>
            </a:extLst>
          </p:cNvPr>
          <p:cNvSpPr>
            <a:spLocks noGrp="1"/>
          </p:cNvSpPr>
          <p:nvPr/>
        </p:nvSpPr>
        <p:spPr>
          <a:xfrm>
            <a:off x="8267700" y="1257300"/>
            <a:ext cx="66675" cy="1428750"/>
          </a:xfrm>
          <a:prstGeom prst="rect">
            <a:avLst/>
          </a:prstGeom>
          <a:solidFill>
            <a:srgbClr val="2F855A"/>
          </a:solidFill>
          <a:ln w="0">
            <a:solidFill>
              <a:srgbClr val="2F855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C99C48-54AB-4A99-94FD-C1C39B9B590B}"/>
              </a:ext>
            </a:extLst>
          </p:cNvPr>
          <p:cNvSpPr>
            <a:spLocks noGrp="1"/>
          </p:cNvSpPr>
          <p:nvPr/>
        </p:nvSpPr>
        <p:spPr>
          <a:xfrm>
            <a:off x="8458200" y="1409700"/>
            <a:ext cx="281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C02로 넘길 것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B9EA994-889F-4C7F-83E7-B1CBC3579BB7}"/>
              </a:ext>
            </a:extLst>
          </p:cNvPr>
          <p:cNvSpPr>
            <a:spLocks noGrp="1"/>
          </p:cNvSpPr>
          <p:nvPr/>
        </p:nvSpPr>
        <p:spPr>
          <a:xfrm>
            <a:off x="8458200" y="1733550"/>
            <a:ext cx="28194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div=1 영향성, Stream CDC, o_rsp_pending 지연, EF drain stop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A180C3B-3D50-44CD-815E-9479B31A8A8D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다음 Cluster로 넘길 핵심 계약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F1CE3DA-D626-46C0-B7C9-949F24E93BCB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82867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c_BUS_CLK_DIV_MIN=1 전환 시 div=1=&gt;ticks&gt;=5 계약을 강제해야 합니다.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Bus_Phy 자체 보호는 i_bus_clk_div를 함께 받아 latch/check하는 안이 가장 명확합니다.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 Stream out은 i_m_axis_aclk와 g_STREAM_CLK_MODE(SYNC/ASYNC) 계약이 필요합니다.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 ASYNC mode는 rising/falling output 각각 AXI async FIFO가 필요합니다.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 OEN은 DYNAMIC_CONNECTED / PULLUP_OR_NOT_CONNECTED 두 모드로 제한합니다.</a:t>
            </a:r>
          </a:p>
          <a:p>
            <a:pPr algn="l">
              <a:def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6. tS-EF와 2-FF latency 때문에 C02는 expected count/guard 기반 drain stop을 확인해야 합니다.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F6A207A-CCF4-41C7-9FD9-99F1F5861379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2095500" cy="1104900"/>
          </a:xfrm>
          <a:prstGeom prst="roundRect">
            <a:avLst>
              <a:gd name="adj" fmla="val 6897"/>
            </a:avLst>
          </a:prstGeom>
          <a:solidFill>
            <a:srgbClr val="F0F0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CF8BEE-1C05-48B4-9C98-32C0068CDB1D}"/>
              </a:ext>
            </a:extLst>
          </p:cNvPr>
          <p:cNvSpPr>
            <a:spLocks noGrp="1"/>
          </p:cNvSpPr>
          <p:nvPr/>
        </p:nvSpPr>
        <p:spPr>
          <a:xfrm>
            <a:off x="9010650" y="3790950"/>
            <a:ext cx="66675" cy="1104900"/>
          </a:xfrm>
          <a:prstGeom prst="rect">
            <a:avLst/>
          </a:prstGeom>
          <a:solidFill>
            <a:srgbClr val="5B5BD6"/>
          </a:solidFill>
          <a:ln w="0">
            <a:solidFill>
              <a:srgbClr val="5B5BD6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11A2CD-A4F2-4B58-BA9C-475FE9AA8AD9}"/>
              </a:ext>
            </a:extLst>
          </p:cNvPr>
          <p:cNvSpPr>
            <a:spLocks noGrp="1"/>
          </p:cNvSpPr>
          <p:nvPr/>
        </p:nvSpPr>
        <p:spPr>
          <a:xfrm>
            <a:off x="9201150" y="394335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C02 시작점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3BF99AD-5C38-436B-BF09-64D9A4ADFADD}"/>
              </a:ext>
            </a:extLst>
          </p:cNvPr>
          <p:cNvSpPr>
            <a:spLocks noGrp="1"/>
          </p:cNvSpPr>
          <p:nvPr/>
        </p:nvSpPr>
        <p:spPr>
          <a:xfrm>
            <a:off x="9201150" y="4267200"/>
            <a:ext cx="17716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`chip_ctrl/chip_run`의 tick, drain, pending, EF stop 영향성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38019C3-1526-4065-8B68-2939EBF7EB1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1009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다음 파일: tdc_gpx_chip_ctrl.vhd, tdc_gpx_chip_run.vhd, tdc_gpx_chip_init.vhd, tdc_gpx_chip_reg.vhd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B5549E4-9D2C-465D-85BA-5A1475B658F6}"/>
              </a:ext>
            </a:extLst>
          </p:cNvPr>
          <p:cNvSpPr>
            <a:spLocks noGrp="1"/>
          </p:cNvSpPr>
          <p:nvPr/>
        </p:nvSpPr>
        <p:spPr>
          <a:xfrm>
            <a:off x="419100" y="6419850"/>
            <a:ext cx="11353800" cy="14288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2441FD6-3028-4058-AA84-188A42C2C9CA}"/>
              </a:ext>
            </a:extLst>
          </p:cNvPr>
          <p:cNvSpPr>
            <a:spLocks noGrp="1"/>
          </p:cNvSpPr>
          <p:nvPr/>
        </p:nvSpPr>
        <p:spPr>
          <a:xfrm>
            <a:off x="419100" y="6515100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Doc/cluster_analysis/C01_GPX_Bus_Read · v004 · 2026-04-29</a:t>
            </a:r>
          </a:p>
        </p:txBody>
      </p:sp>
    </p:spTree>
    <p:extLst>
      <p:ext uri="{BB962C8B-B14F-4D97-AF65-F5344CB8AC3E}">
        <p14:creationId xmlns:p14="http://schemas.microsoft.com/office/powerpoint/2010/main" val="17338843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1508</Words>
  <Application>Microsoft Office PowerPoint</Application>
  <DocSecurity>0</DocSecurity>
  <PresentationFormat>와이드스크린</PresentationFormat>
  <Paragraphs>259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Aptos Mono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하늘 정</cp:lastModifiedBy>
  <cp:revision>1</cp:revision>
  <dcterms:created xsi:type="dcterms:W3CDTF">2026-04-29T02:50:37Z</dcterms:created>
  <dcterms:modified xsi:type="dcterms:W3CDTF">2026-04-29T02:51:44Z</dcterms:modified>
</cp:coreProperties>
</file>