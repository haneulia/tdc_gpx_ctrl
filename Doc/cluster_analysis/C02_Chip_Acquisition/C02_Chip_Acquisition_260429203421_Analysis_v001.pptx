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0F766E"/>
                </a:solidFill>
                <a:latin typeface="Malgun Gothic"/>
                <a:ea typeface="Malgun Gothic"/>
              </a:rPr>
              <a:t>C02 Chip Acquisition</a:t>
            </a:r>
            <a:endParaRPr lang="ko-KR"/>
          </a:p>
        </p:txBody>
      </p:sp>
      <p:sp>
        <p:nvSpPr>
          <p:cNvPr id="3" name="Text 3"/>
          <p:cNvSpPr/>
          <p:nvPr/>
        </p:nvSpPr>
        <p:spPr>
          <a:xfrm>
            <a:off x="502920" y="1051560"/>
            <a:ext cx="107899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3300" b="1">
                <a:solidFill>
                  <a:srgbClr val="111827"/>
                </a:solidFill>
                <a:latin typeface="Malgun Gothic"/>
                <a:ea typeface="Malgun Gothic"/>
              </a:rPr>
              <a:t>C02 ?? ??: Capture, IFIFO Drain, Raw Stream</a:t>
            </a:r>
            <a:endParaRPr lang="ko-KR"/>
          </a:p>
        </p:txBody>
      </p:sp>
      <p:sp>
        <p:nvSpPr>
          <p:cNvPr id="4" name="Text 4"/>
          <p:cNvSpPr/>
          <p:nvPr/>
        </p:nvSpPr>
        <p:spPr>
          <a:xfrm>
            <a:off x="548640" y="2148840"/>
            <a:ext cx="10149840" cy="10972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1900">
                <a:solidFill>
                  <a:srgbClr val="334155"/>
                </a:solidFill>
                <a:latin typeface="Malgun Gothic"/>
                <a:ea typeface="Malgun Gothic"/>
              </a:rPr>
              <a:t>C01 bus primitive ??? GPX chip acquisition loop? ????? ???? ?? ?????.</a:t>
            </a:r>
            <a:endParaRPr lang="ko-KR"/>
          </a:p>
          <a:p>
            <a:pPr algn="l"/>
            <a:r>
              <a:rPr lang="ko-KR" sz="1900">
                <a:solidFill>
                  <a:srgbClr val="334155"/>
                </a:solidFill>
                <a:latin typeface="Malgun Gothic"/>
                <a:ea typeface="Malgun Gothic"/>
              </a:rPr>
              <a:t>?? ??? Doc/TDC-GPX-Datasheet.pdf??, clock ??? 200 MHz???.</a:t>
            </a:r>
            <a:endParaRPr lang="ko-KR"/>
          </a:p>
        </p:txBody>
      </p:sp>
      <p:sp>
        <p:nvSpPr>
          <p:cNvPr id="5" name="Text 5"/>
          <p:cNvSpPr/>
          <p:nvPr/>
        </p:nvSpPr>
        <p:spPr>
          <a:xfrm>
            <a:off x="594360" y="53492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900">
                <a:solidFill>
                  <a:srgbClr val="64748B"/>
                </a:solidFill>
                <a:latin typeface="Malgun Gothic"/>
                <a:ea typeface="Malgun Gothic"/>
              </a:rPr>
              <a:t>??: 2026-04-29 19:29:46 +09:00 / ??: C02_Chip_Acquisition_20260429_v001.md</a:t>
            </a:r>
            <a:endParaRPr lang="ko-K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6"/>
          <p:cNvSpPr/>
          <p:nvPr/>
        </p:nvSpPr>
        <p:spPr>
          <a:xfrm>
            <a:off x="411480" y="256032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2300" b="1">
                <a:solidFill>
                  <a:srgbClr val="111827"/>
                </a:solidFill>
                <a:latin typeface="Malgun Gothic"/>
                <a:ea typeface="Malgun Gothic"/>
              </a:rPr>
              <a:t>1. Datasheet ??: C02? ??? ? ?? ??</a:t>
            </a:r>
            <a:endParaRPr lang="ko-KR"/>
          </a:p>
        </p:txBody>
      </p:sp>
      <p:sp>
        <p:nvSpPr>
          <p:cNvPr id="7" name="Text 7"/>
          <p:cNvSpPr/>
          <p:nvPr/>
        </p:nvSpPr>
        <p:spPr>
          <a:xfrm>
            <a:off x="411480" y="6291072"/>
            <a:ext cx="113385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800">
                <a:solidFill>
                  <a:srgbClr val="64748B"/>
                </a:solidFill>
                <a:latin typeface="Malgun Gothic"/>
                <a:ea typeface="Malgun Gothic"/>
              </a:rPr>
              <a:t>??: TDC-GPX-Datasheet.pdf / C02_Chip_Acquisition_20260429_v001.md</a:t>
            </a:r>
            <a:endParaRPr lang="ko-KR"/>
          </a:p>
        </p:txBody>
      </p:sp>
      <p:sp>
        <p:nvSpPr>
          <p:cNvPr id="8" name="Text 8"/>
          <p:cNvSpPr/>
          <p:nvPr/>
        </p:nvSpPr>
        <p:spPr>
          <a:xfrm>
            <a:off x="594360" y="1005840"/>
            <a:ext cx="5166360" cy="41148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anchor="t"/>
          <a:lstStyle/>
          <a:p>
            <a:pPr algn="ctr"/>
            <a:r>
              <a:rPr lang="ko-KR" sz="1700" b="1">
                <a:solidFill>
                  <a:srgbClr val="FFFFFF"/>
                </a:solidFill>
                <a:latin typeface="Malgun Gothic"/>
                <a:ea typeface="Malgun Gothic"/>
              </a:rPr>
              <a:t>EF/LF polarity</a:t>
            </a:r>
            <a:endParaRPr lang="ko-KR"/>
          </a:p>
        </p:txBody>
      </p:sp>
      <p:sp>
        <p:nvSpPr>
          <p:cNvPr id="9" name="Text 9"/>
          <p:cNvSpPr/>
          <p:nvPr/>
        </p:nvSpPr>
        <p:spPr>
          <a:xfrm>
            <a:off x="594360" y="1444752"/>
            <a:ext cx="5166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t"/>
          <a:lstStyle/>
          <a:p>
            <a:pPr algn="l"/>
            <a:r>
              <a:rPr lang="ko-KR" sz="1300">
                <a:solidFill>
                  <a:srgbClr val="0F172A"/>
                </a:solidFill>
                <a:latin typeface="Malgun Gothic"/>
                <a:ea typeface="Malgun Gothic"/>
              </a:rPr>
              <a:t>EF1/EF2 = empty, active HIGH</a:t>
            </a:r>
            <a:endParaRPr lang="ko-KR"/>
          </a:p>
          <a:p>
            <a:pPr algn="l"/>
            <a:r>
              <a:rPr lang="ko-KR" sz="1300">
                <a:solidFill>
                  <a:srgbClr val="0F172A"/>
                </a:solidFill>
                <a:latin typeface="Malgun Gothic"/>
                <a:ea typeface="Malgun Gothic"/>
              </a:rPr>
              <a:t>LF1/LF2 = load flag, active HIGH</a:t>
            </a:r>
            <a:endParaRPr lang="ko-KR"/>
          </a:p>
        </p:txBody>
      </p:sp>
      <p:sp>
        <p:nvSpPr>
          <p:cNvPr id="10" name="Text 10"/>
          <p:cNvSpPr/>
          <p:nvPr/>
        </p:nvSpPr>
        <p:spPr>
          <a:xfrm>
            <a:off x="594360" y="2377440"/>
            <a:ext cx="51663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850">
                <a:solidFill>
                  <a:srgbClr val="64748B"/>
                </a:solidFill>
                <a:latin typeface="Malgun Gothic"/>
                <a:ea typeface="Malgun Gothic"/>
              </a:rPr>
              <a:t>??: p.13, p.49</a:t>
            </a:r>
            <a:endParaRPr lang="ko-KR"/>
          </a:p>
        </p:txBody>
      </p:sp>
      <p:sp>
        <p:nvSpPr>
          <p:cNvPr id="11" name="Text 11"/>
          <p:cNvSpPr/>
          <p:nvPr/>
        </p:nvSpPr>
        <p:spPr>
          <a:xfrm>
            <a:off x="6217920" y="1005840"/>
            <a:ext cx="5166360" cy="41148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anchor="t"/>
          <a:lstStyle/>
          <a:p>
            <a:pPr algn="ctr"/>
            <a:r>
              <a:rPr lang="ko-KR" sz="1700" b="1">
                <a:solidFill>
                  <a:srgbClr val="FFFFFF"/>
                </a:solidFill>
                <a:latin typeface="Malgun Gothic"/>
                <a:ea typeface="Malgun Gothic"/>
              </a:rPr>
              <a:t>Empty read ??</a:t>
            </a:r>
            <a:endParaRPr lang="ko-KR"/>
          </a:p>
        </p:txBody>
      </p:sp>
      <p:sp>
        <p:nvSpPr>
          <p:cNvPr id="12" name="Text 12"/>
          <p:cNvSpPr/>
          <p:nvPr/>
        </p:nvSpPr>
        <p:spPr>
          <a:xfrm>
            <a:off x="6217920" y="1444752"/>
            <a:ext cx="5166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t"/>
          <a:lstStyle/>
          <a:p>
            <a:pPr algn="l"/>
            <a:r>
              <a:rPr lang="ko-KR" sz="1300">
                <a:solidFill>
                  <a:srgbClr val="0F172A"/>
                </a:solidFill>
                <a:latin typeface="Malgun Gothic"/>
                <a:ea typeface="Malgun Gothic"/>
              </a:rPr>
              <a:t>Interface FIFO? empty? ? read ??</a:t>
            </a:r>
            <a:endParaRPr lang="ko-KR"/>
          </a:p>
          <a:p>
            <a:pPr algn="l"/>
            <a:r>
              <a:rPr lang="ko-KR" sz="1300">
                <a:solidFill>
                  <a:srgbClr val="0F172A"/>
                </a:solidFill>
                <a:latin typeface="Malgun Gothic"/>
                <a:ea typeface="Malgun Gothic"/>
              </a:rPr>
              <a:t>C02? ??? safety rule</a:t>
            </a:r>
            <a:endParaRPr lang="ko-KR"/>
          </a:p>
        </p:txBody>
      </p:sp>
      <p:sp>
        <p:nvSpPr>
          <p:cNvPr id="13" name="Text 13"/>
          <p:cNvSpPr/>
          <p:nvPr/>
        </p:nvSpPr>
        <p:spPr>
          <a:xfrm>
            <a:off x="6217920" y="2377440"/>
            <a:ext cx="51663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850">
                <a:solidFill>
                  <a:srgbClr val="64748B"/>
                </a:solidFill>
                <a:latin typeface="Malgun Gothic"/>
                <a:ea typeface="Malgun Gothic"/>
              </a:rPr>
              <a:t>??: p.8, p.49</a:t>
            </a:r>
            <a:endParaRPr lang="ko-KR"/>
          </a:p>
        </p:txBody>
      </p:sp>
      <p:sp>
        <p:nvSpPr>
          <p:cNvPr id="14" name="Text 14"/>
          <p:cNvSpPr/>
          <p:nvPr/>
        </p:nvSpPr>
        <p:spPr>
          <a:xfrm>
            <a:off x="594360" y="2880360"/>
            <a:ext cx="5166360" cy="41148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anchor="t"/>
          <a:lstStyle/>
          <a:p>
            <a:pPr algn="ctr"/>
            <a:r>
              <a:rPr lang="ko-KR" sz="1700" b="1">
                <a:solidFill>
                  <a:srgbClr val="FFFFFF"/>
                </a:solidFill>
                <a:latin typeface="Malgun Gothic"/>
                <a:ea typeface="Malgun Gothic"/>
              </a:rPr>
              <a:t>Readout limit</a:t>
            </a:r>
            <a:endParaRPr lang="ko-KR"/>
          </a:p>
        </p:txBody>
      </p:sp>
      <p:sp>
        <p:nvSpPr>
          <p:cNvPr id="15" name="Text 15"/>
          <p:cNvSpPr/>
          <p:nvPr/>
        </p:nvSpPr>
        <p:spPr>
          <a:xfrm>
            <a:off x="594360" y="3319272"/>
            <a:ext cx="5166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t"/>
          <a:lstStyle/>
          <a:p>
            <a:pPr algn="l"/>
            <a:r>
              <a:rPr lang="ko-KR" sz="1300">
                <a:solidFill>
                  <a:srgbClr val="0F172A"/>
                </a:solidFill>
                <a:latin typeface="Malgun Gothic"/>
                <a:ea typeface="Malgun Gothic"/>
              </a:rPr>
              <a:t>Interface FIFO transfer / data bus max 40 MHz</a:t>
            </a:r>
            <a:endParaRPr lang="ko-KR"/>
          </a:p>
          <a:p>
            <a:pPr algn="l"/>
            <a:r>
              <a:rPr lang="ko-KR" sz="1300">
                <a:solidFill>
                  <a:srgbClr val="0F172A"/>
                </a:solidFill>
                <a:latin typeface="Malgun Gothic"/>
                <a:ea typeface="Malgun Gothic"/>
              </a:rPr>
              <a:t>200 MHz ?? fastest legal = 25 ns/word</a:t>
            </a:r>
            <a:endParaRPr lang="ko-KR"/>
          </a:p>
        </p:txBody>
      </p:sp>
      <p:sp>
        <p:nvSpPr>
          <p:cNvPr id="16" name="Text 16"/>
          <p:cNvSpPr/>
          <p:nvPr/>
        </p:nvSpPr>
        <p:spPr>
          <a:xfrm>
            <a:off x="594360" y="4251960"/>
            <a:ext cx="51663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850">
                <a:solidFill>
                  <a:srgbClr val="64748B"/>
                </a:solidFill>
                <a:latin typeface="Malgun Gothic"/>
                <a:ea typeface="Malgun Gothic"/>
              </a:rPr>
              <a:t>??: p.49, C01</a:t>
            </a:r>
            <a:endParaRPr lang="ko-KR"/>
          </a:p>
        </p:txBody>
      </p:sp>
      <p:sp>
        <p:nvSpPr>
          <p:cNvPr id="17" name="Text 17"/>
          <p:cNvSpPr/>
          <p:nvPr/>
        </p:nvSpPr>
        <p:spPr>
          <a:xfrm>
            <a:off x="6217920" y="2880360"/>
            <a:ext cx="5166360" cy="41148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anchor="t"/>
          <a:lstStyle/>
          <a:p>
            <a:pPr algn="ctr"/>
            <a:r>
              <a:rPr lang="ko-KR" sz="1700" b="1">
                <a:solidFill>
                  <a:srgbClr val="FFFFFF"/>
                </a:solidFill>
                <a:latin typeface="Malgun Gothic"/>
                <a:ea typeface="Malgun Gothic"/>
              </a:rPr>
              <a:t>AluTrigger ??</a:t>
            </a:r>
            <a:endParaRPr lang="ko-KR"/>
          </a:p>
        </p:txBody>
      </p:sp>
      <p:sp>
        <p:nvSpPr>
          <p:cNvPr id="18" name="Text 18"/>
          <p:cNvSpPr/>
          <p:nvPr/>
        </p:nvSpPr>
        <p:spPr>
          <a:xfrm>
            <a:off x="6217920" y="3319272"/>
            <a:ext cx="5166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t"/>
          <a:lstStyle/>
          <a:p>
            <a:pPr algn="l"/>
            <a:r>
              <a:rPr lang="ko-KR" sz="1300">
                <a:solidFill>
                  <a:srgbClr val="0F172A"/>
                </a:solidFill>
                <a:latin typeface="Malgun Gothic"/>
                <a:ea typeface="Malgun Gothic"/>
              </a:rPr>
              <a:t>Quiet mode: ALU ?? trigger</a:t>
            </a:r>
            <a:endParaRPr lang="ko-KR"/>
          </a:p>
          <a:p>
            <a:pPr algn="l"/>
            <a:r>
              <a:rPr lang="ko-KR" sz="1300">
                <a:solidFill>
                  <a:srgbClr val="0F172A"/>
                </a:solidFill>
                <a:latin typeface="Malgun Gothic"/>
                <a:ea typeface="Malgun Gothic"/>
              </a:rPr>
              <a:t>Non-quiet + MasterAluTrig: reset/cleanup trigger</a:t>
            </a:r>
            <a:endParaRPr lang="ko-KR"/>
          </a:p>
        </p:txBody>
      </p:sp>
      <p:sp>
        <p:nvSpPr>
          <p:cNvPr id="19" name="Text 19"/>
          <p:cNvSpPr/>
          <p:nvPr/>
        </p:nvSpPr>
        <p:spPr>
          <a:xfrm>
            <a:off x="6217920" y="4251960"/>
            <a:ext cx="51663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850">
                <a:solidFill>
                  <a:srgbClr val="64748B"/>
                </a:solidFill>
                <a:latin typeface="Malgun Gothic"/>
                <a:ea typeface="Malgun Gothic"/>
              </a:rPr>
              <a:t>??: p.19, p.45, p.48</a:t>
            </a:r>
            <a:endParaRPr lang="ko-K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20"/>
          <p:cNvSpPr/>
          <p:nvPr/>
        </p:nvSpPr>
        <p:spPr>
          <a:xfrm>
            <a:off x="411480" y="256032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2300" b="1">
                <a:solidFill>
                  <a:srgbClr val="111827"/>
                </a:solidFill>
                <a:latin typeface="Malgun Gothic"/>
                <a:ea typeface="Malgun Gothic"/>
              </a:rPr>
              <a:t>2. RTL Topology: C02 ??</a:t>
            </a:r>
            <a:endParaRPr lang="ko-KR"/>
          </a:p>
        </p:txBody>
      </p:sp>
      <p:sp>
        <p:nvSpPr>
          <p:cNvPr id="21" name="Text 21"/>
          <p:cNvSpPr/>
          <p:nvPr/>
        </p:nvSpPr>
        <p:spPr>
          <a:xfrm>
            <a:off x="411480" y="6291072"/>
            <a:ext cx="113385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800">
                <a:solidFill>
                  <a:srgbClr val="64748B"/>
                </a:solidFill>
                <a:latin typeface="Malgun Gothic"/>
                <a:ea typeface="Malgun Gothic"/>
              </a:rPr>
              <a:t>??: TDC-GPX-Datasheet.pdf / C02_Chip_Acquisition_20260429_v001.md</a:t>
            </a:r>
            <a:endParaRPr lang="ko-KR"/>
          </a:p>
        </p:txBody>
      </p:sp>
      <p:sp>
        <p:nvSpPr>
          <p:cNvPr id="22" name="Text 22"/>
          <p:cNvSpPr/>
          <p:nvPr/>
        </p:nvSpPr>
        <p:spPr>
          <a:xfrm>
            <a:off x="457200" y="1143000"/>
            <a:ext cx="1508760" cy="65836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94A3B8"/>
            </a:solidFill>
          </a:ln>
        </p:spPr>
        <p:txBody>
          <a:bodyPr wrap="square" anchor="t"/>
          <a:lstStyle/>
          <a:p>
            <a:pPr algn="ctr"/>
            <a:r>
              <a:rPr lang="ko-KR" sz="1250" b="1">
                <a:solidFill>
                  <a:srgbClr val="111827"/>
                </a:solidFill>
                <a:latin typeface="Malgun Gothic"/>
                <a:ea typeface="Malgun Gothic"/>
              </a:rPr>
              <a:t>GPX pins</a:t>
            </a:r>
            <a:endParaRPr lang="ko-KR"/>
          </a:p>
          <a:p>
            <a:pPr algn="ctr"/>
            <a:r>
              <a:rPr lang="ko-KR" sz="1250">
                <a:solidFill>
                  <a:srgbClr val="111827"/>
                </a:solidFill>
                <a:latin typeface="Malgun Gothic"/>
                <a:ea typeface="Malgun Gothic"/>
              </a:rPr>
              <a:t>EF/LF/IrFlag</a:t>
            </a:r>
            <a:endParaRPr lang="ko-KR"/>
          </a:p>
        </p:txBody>
      </p:sp>
      <p:sp>
        <p:nvSpPr>
          <p:cNvPr id="23" name="Text 23"/>
          <p:cNvSpPr/>
          <p:nvPr/>
        </p:nvSpPr>
        <p:spPr>
          <a:xfrm>
            <a:off x="2240280" y="1143000"/>
            <a:ext cx="1508760" cy="65836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4A3B8"/>
            </a:solidFill>
          </a:ln>
        </p:spPr>
        <p:txBody>
          <a:bodyPr wrap="square" anchor="t"/>
          <a:lstStyle/>
          <a:p>
            <a:pPr algn="ctr"/>
            <a:r>
              <a:rPr lang="ko-KR" sz="1250" b="1">
                <a:solidFill>
                  <a:srgbClr val="111827"/>
                </a:solidFill>
                <a:latin typeface="Malgun Gothic"/>
                <a:ea typeface="Malgun Gothic"/>
              </a:rPr>
              <a:t>bus_phy</a:t>
            </a:r>
            <a:endParaRPr lang="ko-KR"/>
          </a:p>
          <a:p>
            <a:pPr algn="ctr"/>
            <a:r>
              <a:rPr lang="ko-KR" sz="1250">
                <a:solidFill>
                  <a:srgbClr val="111827"/>
                </a:solidFill>
                <a:latin typeface="Malgun Gothic"/>
                <a:ea typeface="Malgun Gothic"/>
              </a:rPr>
              <a:t>2-FF sync</a:t>
            </a:r>
            <a:endParaRPr lang="ko-KR"/>
          </a:p>
        </p:txBody>
      </p:sp>
      <p:sp>
        <p:nvSpPr>
          <p:cNvPr id="24" name="Text 24"/>
          <p:cNvSpPr/>
          <p:nvPr/>
        </p:nvSpPr>
        <p:spPr>
          <a:xfrm>
            <a:off x="4023360" y="1143000"/>
            <a:ext cx="1600200" cy="658368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94A3B8"/>
            </a:solidFill>
          </a:ln>
        </p:spPr>
        <p:txBody>
          <a:bodyPr wrap="square" anchor="t"/>
          <a:lstStyle/>
          <a:p>
            <a:pPr algn="ctr"/>
            <a:r>
              <a:rPr lang="ko-KR" sz="1250" b="1">
                <a:solidFill>
                  <a:srgbClr val="111827"/>
                </a:solidFill>
                <a:latin typeface="Malgun Gothic"/>
                <a:ea typeface="Malgun Gothic"/>
              </a:rPr>
              <a:t>chip_run</a:t>
            </a:r>
            <a:endParaRPr lang="ko-KR"/>
          </a:p>
          <a:p>
            <a:pPr algn="ctr"/>
            <a:r>
              <a:rPr lang="ko-KR" sz="1250">
                <a:solidFill>
                  <a:srgbClr val="111827"/>
                </a:solidFill>
                <a:latin typeface="Malgun Gothic"/>
                <a:ea typeface="Malgun Gothic"/>
              </a:rPr>
              <a:t>FSM</a:t>
            </a:r>
            <a:endParaRPr lang="ko-KR"/>
          </a:p>
        </p:txBody>
      </p:sp>
      <p:sp>
        <p:nvSpPr>
          <p:cNvPr id="25" name="Text 25"/>
          <p:cNvSpPr/>
          <p:nvPr/>
        </p:nvSpPr>
        <p:spPr>
          <a:xfrm>
            <a:off x="5989320" y="1143000"/>
            <a:ext cx="1554480" cy="65836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4A3B8"/>
            </a:solidFill>
          </a:ln>
        </p:spPr>
        <p:txBody>
          <a:bodyPr wrap="square" anchor="t"/>
          <a:lstStyle/>
          <a:p>
            <a:pPr algn="ctr"/>
            <a:r>
              <a:rPr lang="ko-KR" sz="1250" b="1">
                <a:solidFill>
                  <a:srgbClr val="111827"/>
                </a:solidFill>
                <a:latin typeface="Malgun Gothic"/>
                <a:ea typeface="Malgun Gothic"/>
              </a:rPr>
              <a:t>bus_phy</a:t>
            </a:r>
            <a:endParaRPr lang="ko-KR"/>
          </a:p>
          <a:p>
            <a:pPr algn="ctr"/>
            <a:r>
              <a:rPr lang="ko-KR" sz="1250">
                <a:solidFill>
                  <a:srgbClr val="111827"/>
                </a:solidFill>
                <a:latin typeface="Malgun Gothic"/>
                <a:ea typeface="Malgun Gothic"/>
              </a:rPr>
              <a:t>Reg8/9 READ</a:t>
            </a:r>
            <a:endParaRPr lang="ko-KR"/>
          </a:p>
        </p:txBody>
      </p:sp>
      <p:sp>
        <p:nvSpPr>
          <p:cNvPr id="26" name="Text 26"/>
          <p:cNvSpPr/>
          <p:nvPr/>
        </p:nvSpPr>
        <p:spPr>
          <a:xfrm>
            <a:off x="7863840" y="1143000"/>
            <a:ext cx="1600200" cy="65836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94A3B8"/>
            </a:solidFill>
          </a:ln>
        </p:spPr>
        <p:txBody>
          <a:bodyPr wrap="square" anchor="t"/>
          <a:lstStyle/>
          <a:p>
            <a:pPr algn="ctr"/>
            <a:r>
              <a:rPr lang="ko-KR" sz="1250" b="1">
                <a:solidFill>
                  <a:srgbClr val="111827"/>
                </a:solidFill>
                <a:latin typeface="Malgun Gothic"/>
                <a:ea typeface="Malgun Gothic"/>
              </a:rPr>
              <a:t>chip_ctrl</a:t>
            </a:r>
            <a:endParaRPr lang="ko-KR"/>
          </a:p>
          <a:p>
            <a:pPr algn="ctr"/>
            <a:r>
              <a:rPr lang="ko-KR" sz="1250">
                <a:solidFill>
                  <a:srgbClr val="111827"/>
                </a:solidFill>
                <a:latin typeface="Malgun Gothic"/>
                <a:ea typeface="Malgun Gothic"/>
              </a:rPr>
              <a:t>raw FIFO d=6</a:t>
            </a:r>
            <a:endParaRPr lang="ko-KR"/>
          </a:p>
        </p:txBody>
      </p:sp>
      <p:sp>
        <p:nvSpPr>
          <p:cNvPr id="27" name="Text 27"/>
          <p:cNvSpPr/>
          <p:nvPr/>
        </p:nvSpPr>
        <p:spPr>
          <a:xfrm>
            <a:off x="9829800" y="1143000"/>
            <a:ext cx="1691640" cy="65836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94A3B8"/>
            </a:solidFill>
          </a:ln>
        </p:spPr>
        <p:txBody>
          <a:bodyPr wrap="square" anchor="t"/>
          <a:lstStyle/>
          <a:p>
            <a:pPr algn="ctr"/>
            <a:r>
              <a:rPr lang="ko-KR" sz="1250" b="1">
                <a:solidFill>
                  <a:srgbClr val="111827"/>
                </a:solidFill>
                <a:latin typeface="Malgun Gothic"/>
                <a:ea typeface="Malgun Gothic"/>
              </a:rPr>
              <a:t>raw CDC</a:t>
            </a:r>
            <a:endParaRPr lang="ko-KR"/>
          </a:p>
          <a:p>
            <a:pPr algn="ctr"/>
            <a:r>
              <a:rPr lang="ko-KR" sz="1250">
                <a:solidFill>
                  <a:srgbClr val="111827"/>
                </a:solidFill>
                <a:latin typeface="Malgun Gothic"/>
                <a:ea typeface="Malgun Gothic"/>
              </a:rPr>
              <a:t>SYNC/ASYNC</a:t>
            </a:r>
            <a:endParaRPr lang="ko-KR"/>
          </a:p>
        </p:txBody>
      </p:sp>
      <p:cxnSp>
        <p:nvCxnSpPr>
          <p:cNvPr id="28" name="Arrow 28"/>
          <p:cNvCxnSpPr/>
          <p:nvPr/>
        </p:nvCxnSpPr>
        <p:spPr>
          <a:xfrm>
            <a:off x="2011679" y="1472184"/>
            <a:ext cx="182880" cy="9144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</p:cxnSp>
      <p:cxnSp>
        <p:nvCxnSpPr>
          <p:cNvPr id="29" name="Arrow 29"/>
          <p:cNvCxnSpPr/>
          <p:nvPr/>
        </p:nvCxnSpPr>
        <p:spPr>
          <a:xfrm>
            <a:off x="3794759" y="1472184"/>
            <a:ext cx="182880" cy="9144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</p:cxnSp>
      <p:cxnSp>
        <p:nvCxnSpPr>
          <p:cNvPr id="30" name="Arrow 30"/>
          <p:cNvCxnSpPr/>
          <p:nvPr/>
        </p:nvCxnSpPr>
        <p:spPr>
          <a:xfrm>
            <a:off x="5669280" y="1472184"/>
            <a:ext cx="274319" cy="9144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</p:cxnSp>
      <p:cxnSp>
        <p:nvCxnSpPr>
          <p:cNvPr id="31" name="Arrow 31"/>
          <p:cNvCxnSpPr/>
          <p:nvPr/>
        </p:nvCxnSpPr>
        <p:spPr>
          <a:xfrm>
            <a:off x="7589520" y="1472184"/>
            <a:ext cx="228599" cy="9144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</p:cxnSp>
      <p:cxnSp>
        <p:nvCxnSpPr>
          <p:cNvPr id="32" name="Arrow 32"/>
          <p:cNvCxnSpPr/>
          <p:nvPr/>
        </p:nvCxnSpPr>
        <p:spPr>
          <a:xfrm>
            <a:off x="9509760" y="1472184"/>
            <a:ext cx="274319" cy="9144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</p:cxnSp>
      <p:sp>
        <p:nvSpPr>
          <p:cNvPr id="33" name="Text 33"/>
          <p:cNvSpPr/>
          <p:nvPr/>
        </p:nvSpPr>
        <p:spPr>
          <a:xfrm>
            <a:off x="685800" y="2331720"/>
            <a:ext cx="10698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t"/>
          <a:lstStyle/>
          <a:p>
            <a:pPr algn="l"/>
            <a:r>
              <a:rPr lang="ko-KR" sz="1350">
                <a:solidFill>
                  <a:srgbClr val="334155"/>
                </a:solidFill>
                <a:latin typeface="Malgun Gothic"/>
                <a:ea typeface="Malgun Gothic"/>
              </a:rPr>
              <a:t>PH_RUN? ? shot ? ?? PH_IDLE? ??? ??, ST_ARMED? ??? ?? shot? ?????.</a:t>
            </a:r>
            <a:endParaRPr lang="ko-KR"/>
          </a:p>
          <a:p>
            <a:pPr algn="l"/>
            <a:r>
              <a:rPr lang="ko-KR" sz="1350">
                <a:solidFill>
                  <a:srgbClr val="334155"/>
                </a:solidFill>
                <a:latin typeface="Malgun Gothic"/>
                <a:ea typeface="Malgun Gothic"/>
              </a:rPr>
              <a:t>PH_RESP_DRAIN? cmd_stop, reset, cfg/reg ??, timeout ? stale response? flush?? run ?? ?????.</a:t>
            </a:r>
            <a:endParaRPr lang="ko-KR"/>
          </a:p>
        </p:txBody>
      </p:sp>
      <p:sp>
        <p:nvSpPr>
          <p:cNvPr id="34" name="Text 34"/>
          <p:cNvSpPr/>
          <p:nvPr/>
        </p:nvSpPr>
        <p:spPr>
          <a:xfrm>
            <a:off x="685800" y="3703320"/>
            <a:ext cx="310896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anchor="t"/>
          <a:lstStyle/>
          <a:p>
            <a:pPr algn="ctr"/>
            <a:r>
              <a:rPr lang="ko-KR" sz="1050">
                <a:solidFill>
                  <a:srgbClr val="475569"/>
                </a:solidFill>
                <a:latin typeface="Malgun Gothic"/>
                <a:ea typeface="Malgun Gothic"/>
              </a:rPr>
              <a:t>Status sync</a:t>
            </a:r>
            <a:endParaRPr lang="ko-KR"/>
          </a:p>
          <a:p>
            <a:pPr algn="ctr"/>
            <a:r>
              <a:rPr lang="ko-KR" sz="1050">
                <a:solidFill>
                  <a:srgbClr val="475569"/>
                </a:solidFill>
                <a:latin typeface="Malgun Gothic"/>
                <a:ea typeface="Malgun Gothic"/>
              </a:rPr>
              <a:t>bus_phy:720-762</a:t>
            </a:r>
            <a:endParaRPr lang="ko-KR"/>
          </a:p>
        </p:txBody>
      </p:sp>
      <p:sp>
        <p:nvSpPr>
          <p:cNvPr id="35" name="Text 35"/>
          <p:cNvSpPr/>
          <p:nvPr/>
        </p:nvSpPr>
        <p:spPr>
          <a:xfrm>
            <a:off x="4434840" y="3703320"/>
            <a:ext cx="310896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anchor="t"/>
          <a:lstStyle/>
          <a:p>
            <a:pPr algn="ctr"/>
            <a:r>
              <a:rPr lang="ko-KR" sz="1050">
                <a:solidFill>
                  <a:srgbClr val="475569"/>
                </a:solidFill>
                <a:latin typeface="Malgun Gothic"/>
                <a:ea typeface="Malgun Gothic"/>
              </a:rPr>
              <a:t>Drain FSM</a:t>
            </a:r>
            <a:endParaRPr lang="ko-KR"/>
          </a:p>
          <a:p>
            <a:pPr algn="ctr"/>
            <a:r>
              <a:rPr lang="ko-KR" sz="1050">
                <a:solidFill>
                  <a:srgbClr val="475569"/>
                </a:solidFill>
                <a:latin typeface="Malgun Gothic"/>
                <a:ea typeface="Malgun Gothic"/>
              </a:rPr>
              <a:t>chip_run:482-610</a:t>
            </a:r>
            <a:endParaRPr lang="ko-KR"/>
          </a:p>
        </p:txBody>
      </p:sp>
      <p:sp>
        <p:nvSpPr>
          <p:cNvPr id="36" name="Text 36"/>
          <p:cNvSpPr/>
          <p:nvPr/>
        </p:nvSpPr>
        <p:spPr>
          <a:xfrm>
            <a:off x="8183879" y="3703320"/>
            <a:ext cx="310896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anchor="t"/>
          <a:lstStyle/>
          <a:p>
            <a:pPr algn="ctr"/>
            <a:r>
              <a:rPr lang="ko-KR" sz="1050">
                <a:solidFill>
                  <a:srgbClr val="475569"/>
                </a:solidFill>
                <a:latin typeface="Malgun Gothic"/>
                <a:ea typeface="Malgun Gothic"/>
              </a:rPr>
              <a:t>Stream CDC</a:t>
            </a:r>
            <a:endParaRPr lang="ko-KR"/>
          </a:p>
          <a:p>
            <a:pPr algn="ctr"/>
            <a:r>
              <a:rPr lang="ko-KR" sz="1050">
                <a:solidFill>
                  <a:srgbClr val="475569"/>
                </a:solidFill>
                <a:latin typeface="Malgun Gothic"/>
                <a:ea typeface="Malgun Gothic"/>
              </a:rPr>
              <a:t>config_ctrl:1820-1930</a:t>
            </a:r>
            <a:endParaRPr lang="ko-K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37"/>
          <p:cNvSpPr/>
          <p:nvPr/>
        </p:nvSpPr>
        <p:spPr>
          <a:xfrm>
            <a:off x="411480" y="256032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2300" b="1">
                <a:solidFill>
                  <a:srgbClr val="111827"/>
                </a:solidFill>
                <a:latin typeface="Malgun Gothic"/>
                <a:ea typeface="Malgun Gothic"/>
              </a:rPr>
              <a:t>3. ?? Shot Timing Block</a:t>
            </a:r>
            <a:endParaRPr lang="ko-KR"/>
          </a:p>
        </p:txBody>
      </p:sp>
      <p:sp>
        <p:nvSpPr>
          <p:cNvPr id="38" name="Text 38"/>
          <p:cNvSpPr/>
          <p:nvPr/>
        </p:nvSpPr>
        <p:spPr>
          <a:xfrm>
            <a:off x="411480" y="6291072"/>
            <a:ext cx="113385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800">
                <a:solidFill>
                  <a:srgbClr val="64748B"/>
                </a:solidFill>
                <a:latin typeface="Malgun Gothic"/>
                <a:ea typeface="Malgun Gothic"/>
              </a:rPr>
              <a:t>??: TDC-GPX-Datasheet.pdf / C02_Chip_Acquisition_20260429_v001.md</a:t>
            </a:r>
            <a:endParaRPr lang="ko-KR"/>
          </a:p>
        </p:txBody>
      </p:sp>
      <p:sp>
        <p:nvSpPr>
          <p:cNvPr id="39" name="Text 39"/>
          <p:cNvSpPr/>
          <p:nvPr/>
        </p:nvSpPr>
        <p:spPr>
          <a:xfrm>
            <a:off x="411480" y="1051560"/>
            <a:ext cx="14173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txBody>
          <a:bodyPr wrap="square" anchor="t"/>
          <a:lstStyle/>
          <a:p>
            <a:pPr algn="ctr"/>
            <a:r>
              <a:rPr lang="ko-KR" sz="950" b="1">
                <a:solidFill>
                  <a:srgbClr val="111827"/>
                </a:solidFill>
                <a:latin typeface="Malgun Gothic"/>
                <a:ea typeface="Malgun Gothic"/>
              </a:rPr>
              <a:t>shot_start</a:t>
            </a:r>
            <a:endParaRPr lang="ko-KR"/>
          </a:p>
          <a:p>
            <a:pPr algn="ctr"/>
            <a:r>
              <a:rPr lang="ko-KR" sz="950">
                <a:solidFill>
                  <a:srgbClr val="111827"/>
                </a:solidFill>
                <a:latin typeface="Malgun Gothic"/>
                <a:ea typeface="Malgun Gothic"/>
              </a:rPr>
              <a:t>ST_CAPTURE</a:t>
            </a:r>
            <a:endParaRPr lang="ko-KR"/>
          </a:p>
        </p:txBody>
      </p:sp>
      <p:cxnSp>
        <p:nvCxnSpPr>
          <p:cNvPr id="40" name="Arrow 40"/>
          <p:cNvCxnSpPr/>
          <p:nvPr/>
        </p:nvCxnSpPr>
        <p:spPr>
          <a:xfrm>
            <a:off x="1856232" y="1353312"/>
            <a:ext cx="338327" cy="9144"/>
          </a:xfrm>
          <a:prstGeom prst="line">
            <a:avLst/>
          </a:prstGeom>
          <a:ln w="25400">
            <a:solidFill>
              <a:srgbClr val="0F766E"/>
            </a:solidFill>
            <a:tailEnd type="triangle"/>
          </a:ln>
        </p:spPr>
      </p:cxnSp>
      <p:sp>
        <p:nvSpPr>
          <p:cNvPr id="41" name="Text 41"/>
          <p:cNvSpPr/>
          <p:nvPr/>
        </p:nvSpPr>
        <p:spPr>
          <a:xfrm>
            <a:off x="2039112" y="1051560"/>
            <a:ext cx="14173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txBody>
          <a:bodyPr wrap="square" anchor="t"/>
          <a:lstStyle/>
          <a:p>
            <a:pPr algn="ctr"/>
            <a:r>
              <a:rPr lang="ko-KR" sz="950" b="1">
                <a:solidFill>
                  <a:srgbClr val="111827"/>
                </a:solidFill>
                <a:latin typeface="Malgun Gothic"/>
                <a:ea typeface="Malgun Gothic"/>
              </a:rPr>
              <a:t>IrFlag sync</a:t>
            </a:r>
            <a:endParaRPr lang="ko-KR"/>
          </a:p>
          <a:p>
            <a:pPr algn="ctr"/>
            <a:r>
              <a:rPr lang="ko-KR" sz="950">
                <a:solidFill>
                  <a:srgbClr val="111827"/>
                </a:solidFill>
                <a:latin typeface="Malgun Gothic"/>
                <a:ea typeface="Malgun Gothic"/>
              </a:rPr>
              <a:t>2FF + edge</a:t>
            </a:r>
            <a:endParaRPr lang="ko-KR"/>
          </a:p>
        </p:txBody>
      </p:sp>
      <p:cxnSp>
        <p:nvCxnSpPr>
          <p:cNvPr id="42" name="Arrow 42"/>
          <p:cNvCxnSpPr/>
          <p:nvPr/>
        </p:nvCxnSpPr>
        <p:spPr>
          <a:xfrm>
            <a:off x="3483864" y="1353312"/>
            <a:ext cx="338327" cy="9144"/>
          </a:xfrm>
          <a:prstGeom prst="line">
            <a:avLst/>
          </a:prstGeom>
          <a:ln w="25400">
            <a:solidFill>
              <a:srgbClr val="0F766E"/>
            </a:solidFill>
            <a:tailEnd type="triangle"/>
          </a:ln>
        </p:spPr>
      </p:cxnSp>
      <p:sp>
        <p:nvSpPr>
          <p:cNvPr id="43" name="Text 43"/>
          <p:cNvSpPr/>
          <p:nvPr/>
        </p:nvSpPr>
        <p:spPr>
          <a:xfrm>
            <a:off x="3666744" y="1051560"/>
            <a:ext cx="14173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txBody>
          <a:bodyPr wrap="square" anchor="t"/>
          <a:lstStyle/>
          <a:p>
            <a:pPr algn="ctr"/>
            <a:r>
              <a:rPr lang="ko-KR" sz="950" b="1">
                <a:solidFill>
                  <a:srgbClr val="111827"/>
                </a:solidFill>
                <a:latin typeface="Malgun Gothic"/>
                <a:ea typeface="Malgun Gothic"/>
              </a:rPr>
              <a:t>Latch settle</a:t>
            </a:r>
            <a:endParaRPr lang="ko-KR"/>
          </a:p>
          <a:p>
            <a:pPr algn="ctr"/>
            <a:r>
              <a:rPr lang="ko-KR" sz="950">
                <a:solidFill>
                  <a:srgbClr val="111827"/>
                </a:solidFill>
                <a:latin typeface="Malgun Gothic"/>
                <a:ea typeface="Malgun Gothic"/>
              </a:rPr>
              <a:t>16 clk / 80 ns</a:t>
            </a:r>
            <a:endParaRPr lang="ko-KR"/>
          </a:p>
        </p:txBody>
      </p:sp>
      <p:cxnSp>
        <p:nvCxnSpPr>
          <p:cNvPr id="44" name="Arrow 44"/>
          <p:cNvCxnSpPr/>
          <p:nvPr/>
        </p:nvCxnSpPr>
        <p:spPr>
          <a:xfrm>
            <a:off x="5111496" y="1353312"/>
            <a:ext cx="338328" cy="9144"/>
          </a:xfrm>
          <a:prstGeom prst="line">
            <a:avLst/>
          </a:prstGeom>
          <a:ln w="25400">
            <a:solidFill>
              <a:srgbClr val="0F766E"/>
            </a:solidFill>
            <a:tailEnd type="triangle"/>
          </a:ln>
        </p:spPr>
      </p:cxnSp>
      <p:sp>
        <p:nvSpPr>
          <p:cNvPr id="45" name="Text 45"/>
          <p:cNvSpPr/>
          <p:nvPr/>
        </p:nvSpPr>
        <p:spPr>
          <a:xfrm>
            <a:off x="5294376" y="1051560"/>
            <a:ext cx="14173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txBody>
          <a:bodyPr wrap="square" anchor="t"/>
          <a:lstStyle/>
          <a:p>
            <a:pPr algn="ctr"/>
            <a:r>
              <a:rPr lang="ko-KR" sz="950" b="1">
                <a:solidFill>
                  <a:srgbClr val="111827"/>
                </a:solidFill>
                <a:latin typeface="Malgun Gothic"/>
                <a:ea typeface="Malgun Gothic"/>
              </a:rPr>
              <a:t>Drain loop</a:t>
            </a:r>
            <a:endParaRPr lang="ko-KR"/>
          </a:p>
          <a:p>
            <a:pPr algn="ctr"/>
            <a:r>
              <a:rPr lang="ko-KR" sz="950">
                <a:solidFill>
                  <a:srgbClr val="111827"/>
                </a:solidFill>
                <a:latin typeface="Malgun Gothic"/>
                <a:ea typeface="Malgun Gothic"/>
              </a:rPr>
              <a:t>Reg8/9 read</a:t>
            </a:r>
            <a:endParaRPr lang="ko-KR"/>
          </a:p>
        </p:txBody>
      </p:sp>
      <p:cxnSp>
        <p:nvCxnSpPr>
          <p:cNvPr id="46" name="Arrow 46"/>
          <p:cNvCxnSpPr/>
          <p:nvPr/>
        </p:nvCxnSpPr>
        <p:spPr>
          <a:xfrm>
            <a:off x="6739128" y="1353312"/>
            <a:ext cx="338328" cy="9144"/>
          </a:xfrm>
          <a:prstGeom prst="line">
            <a:avLst/>
          </a:prstGeom>
          <a:ln w="25400">
            <a:solidFill>
              <a:srgbClr val="0F766E"/>
            </a:solidFill>
            <a:tailEnd type="triangle"/>
          </a:ln>
        </p:spPr>
      </p:cxnSp>
      <p:sp>
        <p:nvSpPr>
          <p:cNvPr id="47" name="Text 47"/>
          <p:cNvSpPr/>
          <p:nvPr/>
        </p:nvSpPr>
        <p:spPr>
          <a:xfrm>
            <a:off x="6922008" y="1051560"/>
            <a:ext cx="14173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txBody>
          <a:bodyPr wrap="square" anchor="t"/>
          <a:lstStyle/>
          <a:p>
            <a:pPr algn="ctr"/>
            <a:r>
              <a:rPr lang="ko-KR" sz="950" b="1">
                <a:solidFill>
                  <a:srgbClr val="111827"/>
                </a:solidFill>
                <a:latin typeface="Malgun Gothic"/>
                <a:ea typeface="Malgun Gothic"/>
              </a:rPr>
              <a:t>drain_done</a:t>
            </a:r>
            <a:endParaRPr lang="ko-KR"/>
          </a:p>
          <a:p>
            <a:pPr algn="ctr"/>
            <a:r>
              <a:rPr lang="ko-KR" sz="950">
                <a:solidFill>
                  <a:srgbClr val="111827"/>
                </a:solidFill>
                <a:latin typeface="Malgun Gothic"/>
                <a:ea typeface="Malgun Gothic"/>
              </a:rPr>
              <a:t>control beat</a:t>
            </a:r>
            <a:endParaRPr lang="ko-KR"/>
          </a:p>
        </p:txBody>
      </p:sp>
      <p:cxnSp>
        <p:nvCxnSpPr>
          <p:cNvPr id="48" name="Arrow 48"/>
          <p:cNvCxnSpPr/>
          <p:nvPr/>
        </p:nvCxnSpPr>
        <p:spPr>
          <a:xfrm>
            <a:off x="8366760" y="1353312"/>
            <a:ext cx="338327" cy="9144"/>
          </a:xfrm>
          <a:prstGeom prst="line">
            <a:avLst/>
          </a:prstGeom>
          <a:ln w="25400">
            <a:solidFill>
              <a:srgbClr val="0F766E"/>
            </a:solidFill>
            <a:tailEnd type="triangle"/>
          </a:ln>
        </p:spPr>
      </p:cxnSp>
      <p:sp>
        <p:nvSpPr>
          <p:cNvPr id="49" name="Text 49"/>
          <p:cNvSpPr/>
          <p:nvPr/>
        </p:nvSpPr>
        <p:spPr>
          <a:xfrm>
            <a:off x="8549640" y="1051560"/>
            <a:ext cx="14173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txBody>
          <a:bodyPr wrap="square" anchor="t"/>
          <a:lstStyle/>
          <a:p>
            <a:pPr algn="ctr"/>
            <a:r>
              <a:rPr lang="ko-KR" sz="950" b="1">
                <a:solidFill>
                  <a:srgbClr val="111827"/>
                </a:solidFill>
                <a:latin typeface="Malgun Gothic"/>
                <a:ea typeface="Malgun Gothic"/>
              </a:rPr>
              <a:t>AluTrigger</a:t>
            </a:r>
            <a:endParaRPr lang="ko-KR"/>
          </a:p>
          <a:p>
            <a:pPr algn="ctr"/>
            <a:r>
              <a:rPr lang="ko-KR" sz="950">
                <a:solidFill>
                  <a:srgbClr val="111827"/>
                </a:solidFill>
                <a:latin typeface="Malgun Gothic"/>
                <a:ea typeface="Malgun Gothic"/>
              </a:rPr>
              <a:t>4 clk / 20 ns</a:t>
            </a:r>
            <a:endParaRPr lang="ko-KR"/>
          </a:p>
        </p:txBody>
      </p:sp>
      <p:cxnSp>
        <p:nvCxnSpPr>
          <p:cNvPr id="50" name="Arrow 50"/>
          <p:cNvCxnSpPr/>
          <p:nvPr/>
        </p:nvCxnSpPr>
        <p:spPr>
          <a:xfrm>
            <a:off x="9994392" y="1353312"/>
            <a:ext cx="338327" cy="9144"/>
          </a:xfrm>
          <a:prstGeom prst="line">
            <a:avLst/>
          </a:prstGeom>
          <a:ln w="25400">
            <a:solidFill>
              <a:srgbClr val="0F766E"/>
            </a:solidFill>
            <a:tailEnd type="triangle"/>
          </a:ln>
        </p:spPr>
      </p:cxnSp>
      <p:sp>
        <p:nvSpPr>
          <p:cNvPr id="51" name="Text 51"/>
          <p:cNvSpPr/>
          <p:nvPr/>
        </p:nvSpPr>
        <p:spPr>
          <a:xfrm>
            <a:off x="10177272" y="1051560"/>
            <a:ext cx="14173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txBody>
          <a:bodyPr wrap="square" anchor="t"/>
          <a:lstStyle/>
          <a:p>
            <a:pPr algn="ctr"/>
            <a:r>
              <a:rPr lang="ko-KR" sz="950" b="1">
                <a:solidFill>
                  <a:srgbClr val="111827"/>
                </a:solidFill>
                <a:latin typeface="Malgun Gothic"/>
                <a:ea typeface="Malgun Gothic"/>
              </a:rPr>
              <a:t>Recovery</a:t>
            </a:r>
            <a:endParaRPr lang="ko-KR"/>
          </a:p>
          <a:p>
            <a:pPr algn="ctr"/>
            <a:r>
              <a:rPr lang="ko-KR" sz="950">
                <a:solidFill>
                  <a:srgbClr val="111827"/>
                </a:solidFill>
                <a:latin typeface="Malgun Gothic"/>
                <a:ea typeface="Malgun Gothic"/>
              </a:rPr>
              <a:t>8 clk / 40 ns</a:t>
            </a:r>
            <a:endParaRPr lang="ko-KR"/>
          </a:p>
        </p:txBody>
      </p:sp>
      <p:sp>
        <p:nvSpPr>
          <p:cNvPr id="52" name="Text 52"/>
          <p:cNvSpPr/>
          <p:nvPr/>
        </p:nvSpPr>
        <p:spPr>
          <a:xfrm>
            <a:off x="685800" y="2240280"/>
            <a:ext cx="10744200" cy="1005840"/>
          </a:xfrm>
          <a:prstGeom prst="rect">
            <a:avLst/>
          </a:prstGeom>
          <a:solidFill>
            <a:srgbClr val="ECFDF5"/>
          </a:solidFill>
          <a:ln w="12700">
            <a:solidFill>
              <a:srgbClr val="5EEAD4"/>
            </a:solidFill>
          </a:ln>
        </p:spPr>
        <p:txBody>
          <a:bodyPr wrap="square" anchor="t"/>
          <a:lstStyle/>
          <a:p>
            <a:pPr algn="l"/>
            <a:r>
              <a:rPr lang="ko-KR" sz="1450">
                <a:solidFill>
                  <a:srgbClr val="0F172A"/>
                </a:solidFill>
                <a:latin typeface="Malgun Gothic"/>
                <a:ea typeface="Malgun Gothic"/>
              </a:rPr>
              <a:t>C01 bus beat: B = bus_ticks * bus_clk_div * 5 ns</a:t>
            </a:r>
            <a:endParaRPr lang="ko-KR"/>
          </a:p>
          <a:p>
            <a:pPr algn="l"/>
            <a:r>
              <a:rPr lang="ko-KR" sz="1450">
                <a:solidFill>
                  <a:srgbClr val="0F172A"/>
                </a:solidFill>
                <a:latin typeface="Malgun Gothic"/>
                <a:ea typeface="Malgun Gothic"/>
              </a:rPr>
              <a:t>default div=2,ticks=5 =&gt; 50 ns/word, fastest legal @200MHz div=1,ticks=5 =&gt; 25 ns/word</a:t>
            </a:r>
            <a:endParaRPr lang="ko-KR"/>
          </a:p>
        </p:txBody>
      </p:sp>
      <p:sp>
        <p:nvSpPr>
          <p:cNvPr id="53" name="Text 53"/>
          <p:cNvSpPr/>
          <p:nvPr/>
        </p:nvSpPr>
        <p:spPr>
          <a:xfrm>
            <a:off x="685800" y="3566160"/>
            <a:ext cx="5074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t"/>
          <a:lstStyle/>
          <a:p>
            <a:pPr algn="l"/>
            <a:r>
              <a:rPr lang="ko-KR" sz="1200">
                <a:solidFill>
                  <a:srgbClr val="334155"/>
                </a:solidFill>
                <a:latin typeface="Malgun Gothic"/>
                <a:ea typeface="Malgun Gothic"/>
              </a:rPr>
              <a:t>Single EF drain II</a:t>
            </a:r>
            <a:endParaRPr lang="ko-KR"/>
          </a:p>
          <a:p>
            <a:pPr algn="l"/>
            <a:r>
              <a:rPr lang="ko-KR" sz="1200">
                <a:solidFill>
                  <a:srgbClr val="334155"/>
                </a:solidFill>
                <a:latin typeface="Malgun Gothic"/>
                <a:ea typeface="Malgun Gothic"/>
              </a:rPr>
              <a:t>C01 read latency + ST_DRAIN_SETTLE 3 clocks + decision overhead</a:t>
            </a:r>
            <a:endParaRPr lang="ko-KR"/>
          </a:p>
          <a:p>
            <a:pPr algn="l"/>
            <a:r>
              <a:rPr lang="ko-KR" sz="1200">
                <a:solidFill>
                  <a:srgbClr val="334155"/>
                </a:solidFill>
                <a:latin typeface="Malgun Gothic"/>
                <a:ea typeface="Malgun Gothic"/>
              </a:rPr>
              <a:t>Backpressure? ??? i_bus_rsp_pending? wait? ????.</a:t>
            </a:r>
            <a:endParaRPr lang="ko-KR"/>
          </a:p>
        </p:txBody>
      </p:sp>
      <p:sp>
        <p:nvSpPr>
          <p:cNvPr id="54" name="Text 54"/>
          <p:cNvSpPr/>
          <p:nvPr/>
        </p:nvSpPr>
        <p:spPr>
          <a:xfrm>
            <a:off x="6217920" y="3566160"/>
            <a:ext cx="5074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t"/>
          <a:lstStyle/>
          <a:p>
            <a:pPr algn="l"/>
            <a:r>
              <a:rPr lang="ko-KR" sz="1200">
                <a:solidFill>
                  <a:srgbClr val="334155"/>
                </a:solidFill>
                <a:latin typeface="Malgun Gothic"/>
                <a:ea typeface="Malgun Gothic"/>
              </a:rPr>
              <a:t>Burst drain II</a:t>
            </a:r>
            <a:endParaRPr lang="ko-KR"/>
          </a:p>
          <a:p>
            <a:pPr algn="l"/>
            <a:r>
              <a:rPr lang="ko-KR" sz="1200">
                <a:solidFill>
                  <a:srgbClr val="334155"/>
                </a:solidFill>
                <a:latin typeface="Malgun Gothic"/>
                <a:ea typeface="Malgun Gothic"/>
              </a:rPr>
              <a:t>?? ??: B = N * D * T</a:t>
            </a:r>
            <a:endParaRPr lang="ko-KR"/>
          </a:p>
          <a:p>
            <a:pPr algn="l"/>
            <a:r>
              <a:rPr lang="ko-KR" sz="1200">
                <a:solidFill>
                  <a:srgbClr val="334155"/>
                </a:solidFill>
                <a:latin typeface="Malgun Gothic"/>
                <a:ea typeface="Malgun Gothic"/>
              </a:rPr>
              <a:t>raw FIFO / ASYNC FIFO / downstream tready? ??? ?? II ??</a:t>
            </a:r>
            <a:endParaRPr lang="ko-K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55"/>
          <p:cNvSpPr/>
          <p:nvPr/>
        </p:nvSpPr>
        <p:spPr>
          <a:xfrm>
            <a:off x="411480" y="256032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2300" b="1">
                <a:solidFill>
                  <a:srgbClr val="111827"/>
                </a:solidFill>
                <a:latin typeface="Malgun Gothic"/>
                <a:ea typeface="Malgun Gothic"/>
              </a:rPr>
              <a:t>4. Latency / Throughput / Pipeline / II</a:t>
            </a:r>
            <a:endParaRPr lang="ko-KR"/>
          </a:p>
        </p:txBody>
      </p:sp>
      <p:sp>
        <p:nvSpPr>
          <p:cNvPr id="56" name="Text 56"/>
          <p:cNvSpPr/>
          <p:nvPr/>
        </p:nvSpPr>
        <p:spPr>
          <a:xfrm>
            <a:off x="411480" y="6291072"/>
            <a:ext cx="113385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800">
                <a:solidFill>
                  <a:srgbClr val="64748B"/>
                </a:solidFill>
                <a:latin typeface="Malgun Gothic"/>
                <a:ea typeface="Malgun Gothic"/>
              </a:rPr>
              <a:t>??: TDC-GPX-Datasheet.pdf / C02_Chip_Acquisition_20260429_v001.md</a:t>
            </a:r>
            <a:endParaRPr lang="ko-KR"/>
          </a:p>
        </p:txBody>
      </p:sp>
      <p:sp>
        <p:nvSpPr>
          <p:cNvPr id="57" name="Text 57"/>
          <p:cNvSpPr/>
          <p:nvPr/>
        </p:nvSpPr>
        <p:spPr>
          <a:xfrm>
            <a:off x="640080" y="987552"/>
            <a:ext cx="2971800" cy="43891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txBody>
          <a:bodyPr wrap="square" anchor="t"/>
          <a:lstStyle/>
          <a:p>
            <a:pPr algn="ctr"/>
            <a:r>
              <a:rPr lang="ko-KR" sz="950" b="1">
                <a:solidFill>
                  <a:srgbClr val="FFFFFF"/>
                </a:solidFill>
                <a:latin typeface="Malgun Gothic"/>
                <a:ea typeface="Malgun Gothic"/>
              </a:rPr>
              <a:t>IrFlag raw -&gt; drain latch</a:t>
            </a:r>
            <a:endParaRPr lang="ko-KR"/>
          </a:p>
        </p:txBody>
      </p:sp>
      <p:sp>
        <p:nvSpPr>
          <p:cNvPr id="58" name="Text 58"/>
          <p:cNvSpPr/>
          <p:nvPr/>
        </p:nvSpPr>
        <p:spPr>
          <a:xfrm>
            <a:off x="3703320" y="987552"/>
            <a:ext cx="3291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t"/>
          <a:lstStyle/>
          <a:p>
            <a:pPr algn="ctr"/>
            <a:r>
              <a:rPr lang="ko-KR" sz="950">
                <a:solidFill>
                  <a:srgbClr val="0F172A"/>
                </a:solidFill>
                <a:latin typeface="Malgun Gothic"/>
                <a:ea typeface="Malgun Gothic"/>
              </a:rPr>
              <a:t>? 3~4 TDC clocks</a:t>
            </a:r>
            <a:endParaRPr lang="ko-KR"/>
          </a:p>
        </p:txBody>
      </p:sp>
      <p:sp>
        <p:nvSpPr>
          <p:cNvPr id="59" name="Text 59"/>
          <p:cNvSpPr/>
          <p:nvPr/>
        </p:nvSpPr>
        <p:spPr>
          <a:xfrm>
            <a:off x="7086600" y="987552"/>
            <a:ext cx="4434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t"/>
          <a:lstStyle/>
          <a:p>
            <a:pPr algn="l"/>
            <a:r>
              <a:rPr lang="ko-KR" sz="950">
                <a:solidFill>
                  <a:srgbClr val="334155"/>
                </a:solidFill>
                <a:latin typeface="Malgun Gothic"/>
                <a:ea typeface="Malgun Gothic"/>
              </a:rPr>
              <a:t>2FF sync + edge detect</a:t>
            </a:r>
            <a:endParaRPr lang="ko-KR"/>
          </a:p>
        </p:txBody>
      </p:sp>
      <p:sp>
        <p:nvSpPr>
          <p:cNvPr id="60" name="Text 60"/>
          <p:cNvSpPr/>
          <p:nvPr/>
        </p:nvSpPr>
        <p:spPr>
          <a:xfrm>
            <a:off x="640080" y="1645920"/>
            <a:ext cx="2971800" cy="43891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txBody>
          <a:bodyPr wrap="square" anchor="t"/>
          <a:lstStyle/>
          <a:p>
            <a:pPr algn="ctr"/>
            <a:r>
              <a:rPr lang="ko-KR" sz="950" b="1">
                <a:solidFill>
                  <a:srgbClr val="FFFFFF"/>
                </a:solidFill>
                <a:latin typeface="Malgun Gothic"/>
                <a:ea typeface="Malgun Gothic"/>
              </a:rPr>
              <a:t>Expected count settle</a:t>
            </a:r>
            <a:endParaRPr lang="ko-KR"/>
          </a:p>
        </p:txBody>
      </p:sp>
      <p:sp>
        <p:nvSpPr>
          <p:cNvPr id="61" name="Text 61"/>
          <p:cNvSpPr/>
          <p:nvPr/>
        </p:nvSpPr>
        <p:spPr>
          <a:xfrm>
            <a:off x="3703320" y="1645920"/>
            <a:ext cx="3291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t"/>
          <a:lstStyle/>
          <a:p>
            <a:pPr algn="ctr"/>
            <a:r>
              <a:rPr lang="ko-KR" sz="950">
                <a:solidFill>
                  <a:srgbClr val="0F172A"/>
                </a:solidFill>
                <a:latin typeface="Malgun Gothic"/>
                <a:ea typeface="Malgun Gothic"/>
              </a:rPr>
              <a:t>16 clocks = 80 ns</a:t>
            </a:r>
            <a:endParaRPr lang="ko-KR"/>
          </a:p>
        </p:txBody>
      </p:sp>
      <p:sp>
        <p:nvSpPr>
          <p:cNvPr id="62" name="Text 62"/>
          <p:cNvSpPr/>
          <p:nvPr/>
        </p:nvSpPr>
        <p:spPr>
          <a:xfrm>
            <a:off x="7086600" y="1645920"/>
            <a:ext cx="4434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t"/>
          <a:lstStyle/>
          <a:p>
            <a:pPr algn="l"/>
            <a:r>
              <a:rPr lang="ko-KR" sz="950">
                <a:solidFill>
                  <a:srgbClr val="334155"/>
                </a:solidFill>
                <a:latin typeface="Malgun Gothic"/>
                <a:ea typeface="Malgun Gothic"/>
              </a:rPr>
              <a:t>CDC handshake landing window</a:t>
            </a:r>
            <a:endParaRPr lang="ko-KR"/>
          </a:p>
        </p:txBody>
      </p:sp>
      <p:sp>
        <p:nvSpPr>
          <p:cNvPr id="63" name="Text 63"/>
          <p:cNvSpPr/>
          <p:nvPr/>
        </p:nvSpPr>
        <p:spPr>
          <a:xfrm>
            <a:off x="640080" y="2304288"/>
            <a:ext cx="2971800" cy="43891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txBody>
          <a:bodyPr wrap="square" anchor="t"/>
          <a:lstStyle/>
          <a:p>
            <a:pPr algn="ctr"/>
            <a:r>
              <a:rPr lang="ko-KR" sz="950" b="1">
                <a:solidFill>
                  <a:srgbClr val="FFFFFF"/>
                </a:solidFill>
                <a:latin typeface="Malgun Gothic"/>
                <a:ea typeface="Malgun Gothic"/>
              </a:rPr>
              <a:t>Burst throughput</a:t>
            </a:r>
            <a:endParaRPr lang="ko-KR"/>
          </a:p>
        </p:txBody>
      </p:sp>
      <p:sp>
        <p:nvSpPr>
          <p:cNvPr id="64" name="Text 64"/>
          <p:cNvSpPr/>
          <p:nvPr/>
        </p:nvSpPr>
        <p:spPr>
          <a:xfrm>
            <a:off x="3703320" y="2304288"/>
            <a:ext cx="3291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t"/>
          <a:lstStyle/>
          <a:p>
            <a:pPr algn="ctr"/>
            <a:r>
              <a:rPr lang="ko-KR" sz="950">
                <a:solidFill>
                  <a:srgbClr val="0F172A"/>
                </a:solidFill>
                <a:latin typeface="Malgun Gothic"/>
                <a:ea typeface="Malgun Gothic"/>
              </a:rPr>
              <a:t>20 Mword/s default, 40 Mword/s fastest legal</a:t>
            </a:r>
            <a:endParaRPr lang="ko-KR"/>
          </a:p>
        </p:txBody>
      </p:sp>
      <p:sp>
        <p:nvSpPr>
          <p:cNvPr id="65" name="Text 65"/>
          <p:cNvSpPr/>
          <p:nvPr/>
        </p:nvSpPr>
        <p:spPr>
          <a:xfrm>
            <a:off x="7086600" y="2304288"/>
            <a:ext cx="4434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t"/>
          <a:lstStyle/>
          <a:p>
            <a:pPr algn="l"/>
            <a:r>
              <a:rPr lang="ko-KR" sz="950">
                <a:solidFill>
                  <a:srgbClr val="334155"/>
                </a:solidFill>
                <a:latin typeface="Malgun Gothic"/>
                <a:ea typeface="Malgun Gothic"/>
              </a:rPr>
              <a:t>GPX 40 MHz limit ??</a:t>
            </a:r>
            <a:endParaRPr lang="ko-KR"/>
          </a:p>
        </p:txBody>
      </p:sp>
      <p:sp>
        <p:nvSpPr>
          <p:cNvPr id="66" name="Text 66"/>
          <p:cNvSpPr/>
          <p:nvPr/>
        </p:nvSpPr>
        <p:spPr>
          <a:xfrm>
            <a:off x="640080" y="2962656"/>
            <a:ext cx="2971800" cy="43891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txBody>
          <a:bodyPr wrap="square" anchor="t"/>
          <a:lstStyle/>
          <a:p>
            <a:pPr algn="ctr"/>
            <a:r>
              <a:rPr lang="ko-KR" sz="950" b="1">
                <a:solidFill>
                  <a:srgbClr val="FFFFFF"/>
                </a:solidFill>
                <a:latin typeface="Malgun Gothic"/>
                <a:ea typeface="Malgun Gothic"/>
              </a:rPr>
              <a:t>Raw FIFO</a:t>
            </a:r>
            <a:endParaRPr lang="ko-KR"/>
          </a:p>
        </p:txBody>
      </p:sp>
      <p:sp>
        <p:nvSpPr>
          <p:cNvPr id="67" name="Text 67"/>
          <p:cNvSpPr/>
          <p:nvPr/>
        </p:nvSpPr>
        <p:spPr>
          <a:xfrm>
            <a:off x="3703320" y="2962656"/>
            <a:ext cx="3291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t"/>
          <a:lstStyle/>
          <a:p>
            <a:pPr algn="ctr"/>
            <a:r>
              <a:rPr lang="ko-KR" sz="950">
                <a:solidFill>
                  <a:srgbClr val="0F172A"/>
                </a:solidFill>
                <a:latin typeface="Malgun Gothic"/>
                <a:ea typeface="Malgun Gothic"/>
              </a:rPr>
              <a:t>depth 6</a:t>
            </a:r>
            <a:endParaRPr lang="ko-KR"/>
          </a:p>
        </p:txBody>
      </p:sp>
      <p:sp>
        <p:nvSpPr>
          <p:cNvPr id="68" name="Text 68"/>
          <p:cNvSpPr/>
          <p:nvPr/>
        </p:nvSpPr>
        <p:spPr>
          <a:xfrm>
            <a:off x="7086600" y="2962656"/>
            <a:ext cx="4434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t"/>
          <a:lstStyle/>
          <a:p>
            <a:pPr algn="l"/>
            <a:r>
              <a:rPr lang="ko-KR" sz="950">
                <a:solidFill>
                  <a:srgbClr val="334155"/>
                </a:solidFill>
                <a:latin typeface="Malgun Gothic"/>
                <a:ea typeface="Malgun Gothic"/>
              </a:rPr>
              <a:t>data/control beat ??, backpressure ??</a:t>
            </a:r>
            <a:endParaRPr lang="ko-KR"/>
          </a:p>
        </p:txBody>
      </p:sp>
      <p:sp>
        <p:nvSpPr>
          <p:cNvPr id="69" name="Text 69"/>
          <p:cNvSpPr/>
          <p:nvPr/>
        </p:nvSpPr>
        <p:spPr>
          <a:xfrm>
            <a:off x="640080" y="3621024"/>
            <a:ext cx="2971800" cy="43891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txBody>
          <a:bodyPr wrap="square" anchor="t"/>
          <a:lstStyle/>
          <a:p>
            <a:pPr algn="ctr"/>
            <a:r>
              <a:rPr lang="ko-KR" sz="950" b="1">
                <a:solidFill>
                  <a:srgbClr val="FFFFFF"/>
                </a:solidFill>
                <a:latin typeface="Malgun Gothic"/>
                <a:ea typeface="Malgun Gothic"/>
              </a:rPr>
              <a:t>ASYNC stream</a:t>
            </a:r>
            <a:endParaRPr lang="ko-KR"/>
          </a:p>
        </p:txBody>
      </p:sp>
      <p:sp>
        <p:nvSpPr>
          <p:cNvPr id="70" name="Text 70"/>
          <p:cNvSpPr/>
          <p:nvPr/>
        </p:nvSpPr>
        <p:spPr>
          <a:xfrm>
            <a:off x="3703320" y="3621024"/>
            <a:ext cx="3291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t"/>
          <a:lstStyle/>
          <a:p>
            <a:pPr algn="ctr"/>
            <a:r>
              <a:rPr lang="ko-KR" sz="950">
                <a:solidFill>
                  <a:srgbClr val="0F172A"/>
                </a:solidFill>
                <a:latin typeface="Malgun Gothic"/>
                <a:ea typeface="Malgun Gothic"/>
              </a:rPr>
              <a:t>xpm_fifo_async depth 16</a:t>
            </a:r>
            <a:endParaRPr lang="ko-KR"/>
          </a:p>
        </p:txBody>
      </p:sp>
      <p:sp>
        <p:nvSpPr>
          <p:cNvPr id="71" name="Text 71"/>
          <p:cNvSpPr/>
          <p:nvPr/>
        </p:nvSpPr>
        <p:spPr>
          <a:xfrm>
            <a:off x="7086600" y="3621024"/>
            <a:ext cx="4434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t"/>
          <a:lstStyle/>
          <a:p>
            <a:pPr algn="l"/>
            <a:r>
              <a:rPr lang="ko-KR" sz="950">
                <a:solidFill>
                  <a:srgbClr val="334155"/>
                </a:solidFill>
                <a:latin typeface="Malgun Gothic"/>
                <a:ea typeface="Malgun Gothic"/>
              </a:rPr>
              <a:t>200 MHz -&gt; 150 MHz crossing</a:t>
            </a:r>
            <a:endParaRPr lang="ko-KR"/>
          </a:p>
        </p:txBody>
      </p:sp>
      <p:sp>
        <p:nvSpPr>
          <p:cNvPr id="72" name="Text 72"/>
          <p:cNvSpPr/>
          <p:nvPr/>
        </p:nvSpPr>
        <p:spPr>
          <a:xfrm>
            <a:off x="640080" y="4279392"/>
            <a:ext cx="2971800" cy="43891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txBody>
          <a:bodyPr wrap="square" anchor="t"/>
          <a:lstStyle/>
          <a:p>
            <a:pPr algn="ctr"/>
            <a:r>
              <a:rPr lang="ko-KR" sz="950" b="1">
                <a:solidFill>
                  <a:srgbClr val="FFFFFF"/>
                </a:solidFill>
                <a:latin typeface="Malgun Gothic"/>
                <a:ea typeface="Malgun Gothic"/>
              </a:rPr>
              <a:t>Shot II</a:t>
            </a:r>
            <a:endParaRPr lang="ko-KR"/>
          </a:p>
        </p:txBody>
      </p:sp>
      <p:sp>
        <p:nvSpPr>
          <p:cNvPr id="73" name="Text 73"/>
          <p:cNvSpPr/>
          <p:nvPr/>
        </p:nvSpPr>
        <p:spPr>
          <a:xfrm>
            <a:off x="3703320" y="4279392"/>
            <a:ext cx="3291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t"/>
          <a:lstStyle/>
          <a:p>
            <a:pPr algn="ctr"/>
            <a:r>
              <a:rPr lang="ko-KR" sz="950">
                <a:solidFill>
                  <a:srgbClr val="0F172A"/>
                </a:solidFill>
                <a:latin typeface="Malgun Gothic"/>
                <a:ea typeface="Malgun Gothic"/>
              </a:rPr>
              <a:t>capture + drain + 60 ns cleanup</a:t>
            </a:r>
            <a:endParaRPr lang="ko-KR"/>
          </a:p>
        </p:txBody>
      </p:sp>
      <p:sp>
        <p:nvSpPr>
          <p:cNvPr id="74" name="Text 74"/>
          <p:cNvSpPr/>
          <p:nvPr/>
        </p:nvSpPr>
        <p:spPr>
          <a:xfrm>
            <a:off x="7086600" y="4279392"/>
            <a:ext cx="4434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t"/>
          <a:lstStyle/>
          <a:p>
            <a:pPr algn="l"/>
            <a:r>
              <a:rPr lang="ko-KR" sz="950">
                <a:solidFill>
                  <a:srgbClr val="334155"/>
                </a:solidFill>
                <a:latin typeface="Malgun Gothic"/>
                <a:ea typeface="Malgun Gothic"/>
              </a:rPr>
              <a:t>FIFO fill?? backpressure ??</a:t>
            </a:r>
            <a:endParaRPr lang="ko-KR"/>
          </a:p>
        </p:txBody>
      </p:sp>
      <p:sp>
        <p:nvSpPr>
          <p:cNvPr id="75" name="Text 75"/>
          <p:cNvSpPr/>
          <p:nvPr/>
        </p:nvSpPr>
        <p:spPr>
          <a:xfrm>
            <a:off x="685800" y="5303520"/>
            <a:ext cx="10744200" cy="502920"/>
          </a:xfrm>
          <a:prstGeom prst="rect">
            <a:avLst/>
          </a:prstGeom>
          <a:solidFill>
            <a:srgbClr val="FEFCE8"/>
          </a:solidFill>
          <a:ln w="12700">
            <a:solidFill>
              <a:srgbClr val="FACC15"/>
            </a:solidFill>
          </a:ln>
        </p:spPr>
        <p:txBody>
          <a:bodyPr wrap="square" anchor="t"/>
          <a:lstStyle/>
          <a:p>
            <a:pPr algn="l"/>
            <a:r>
              <a:rPr lang="ko-KR" sz="1150">
                <a:solidFill>
                  <a:srgbClr val="0F172A"/>
                </a:solidFill>
                <a:latin typeface="Malgun Gothic"/>
                <a:ea typeface="Malgun Gothic"/>
              </a:rPr>
              <a:t>??: ?? stream ???? ?? ???? GPX bus? ?????. ?? data/control beat? ?? raw FIFO? ????? backpressure ??? ?????.</a:t>
            </a:r>
            <a:endParaRPr lang="ko-K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 76"/>
          <p:cNvSpPr/>
          <p:nvPr/>
        </p:nvSpPr>
        <p:spPr>
          <a:xfrm>
            <a:off x="411480" y="256032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2300" b="1">
                <a:solidFill>
                  <a:srgbClr val="111827"/>
                </a:solidFill>
                <a:latin typeface="Malgun Gothic"/>
                <a:ea typeface="Malgun Gothic"/>
              </a:rPr>
              <a:t>5. 1? Code Review Findings</a:t>
            </a:r>
            <a:endParaRPr lang="ko-KR"/>
          </a:p>
        </p:txBody>
      </p:sp>
      <p:sp>
        <p:nvSpPr>
          <p:cNvPr id="77" name="Text 77"/>
          <p:cNvSpPr/>
          <p:nvPr/>
        </p:nvSpPr>
        <p:spPr>
          <a:xfrm>
            <a:off x="411480" y="6291072"/>
            <a:ext cx="113385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800">
                <a:solidFill>
                  <a:srgbClr val="64748B"/>
                </a:solidFill>
                <a:latin typeface="Malgun Gothic"/>
                <a:ea typeface="Malgun Gothic"/>
              </a:rPr>
              <a:t>??: TDC-GPX-Datasheet.pdf / C02_Chip_Acquisition_20260429_v001.md</a:t>
            </a:r>
            <a:endParaRPr lang="ko-KR"/>
          </a:p>
        </p:txBody>
      </p:sp>
      <p:sp>
        <p:nvSpPr>
          <p:cNvPr id="78" name="Text 78"/>
          <p:cNvSpPr/>
          <p:nvPr/>
        </p:nvSpPr>
        <p:spPr>
          <a:xfrm>
            <a:off x="594360" y="914400"/>
            <a:ext cx="1051560" cy="38404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</a:ln>
        </p:spPr>
        <p:txBody>
          <a:bodyPr wrap="square" anchor="t"/>
          <a:lstStyle/>
          <a:p>
            <a:pPr algn="ctr"/>
            <a:r>
              <a:rPr lang="ko-KR" sz="850" b="1">
                <a:solidFill>
                  <a:srgbClr val="FFFFFF"/>
                </a:solidFill>
                <a:latin typeface="Malgun Gothic"/>
                <a:ea typeface="Malgun Gothic"/>
              </a:rPr>
              <a:t>F-C02-01</a:t>
            </a:r>
            <a:endParaRPr lang="ko-KR"/>
          </a:p>
        </p:txBody>
      </p:sp>
      <p:sp>
        <p:nvSpPr>
          <p:cNvPr id="79" name="Text 79"/>
          <p:cNvSpPr/>
          <p:nvPr/>
        </p:nvSpPr>
        <p:spPr>
          <a:xfrm>
            <a:off x="1783080" y="914400"/>
            <a:ext cx="3886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t"/>
          <a:lstStyle/>
          <a:p>
            <a:pPr algn="l"/>
            <a:r>
              <a:rPr lang="ko-KR" sz="880">
                <a:solidFill>
                  <a:srgbClr val="0F172A"/>
                </a:solidFill>
                <a:latin typeface="Malgun Gothic"/>
                <a:ea typeface="Malgun Gothic"/>
              </a:rPr>
              <a:t>Empty FIFO read ??? ???? ??? ??</a:t>
            </a:r>
            <a:endParaRPr lang="ko-KR"/>
          </a:p>
        </p:txBody>
      </p:sp>
      <p:sp>
        <p:nvSpPr>
          <p:cNvPr id="80" name="Text 80"/>
          <p:cNvSpPr/>
          <p:nvPr/>
        </p:nvSpPr>
        <p:spPr>
          <a:xfrm>
            <a:off x="5806440" y="914400"/>
            <a:ext cx="1051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t"/>
          <a:lstStyle/>
          <a:p>
            <a:pPr algn="ctr"/>
            <a:r>
              <a:rPr lang="ko-KR" sz="800" b="1">
                <a:solidFill>
                  <a:srgbClr val="B91C1C"/>
                </a:solidFill>
                <a:latin typeface="Malgun Gothic"/>
                <a:ea typeface="Malgun Gothic"/>
              </a:rPr>
              <a:t>High</a:t>
            </a:r>
            <a:endParaRPr lang="ko-KR"/>
          </a:p>
        </p:txBody>
      </p:sp>
      <p:sp>
        <p:nvSpPr>
          <p:cNvPr id="81" name="Text 81"/>
          <p:cNvSpPr/>
          <p:nvPr/>
        </p:nvSpPr>
        <p:spPr>
          <a:xfrm>
            <a:off x="6995160" y="914400"/>
            <a:ext cx="4389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t"/>
          <a:lstStyle/>
          <a:p>
            <a:pPr algn="l"/>
            <a:r>
              <a:rPr lang="ko-KR" sz="760">
                <a:solidFill>
                  <a:srgbClr val="334155"/>
                </a:solidFill>
                <a:latin typeface="Malgun Gothic"/>
                <a:ea typeface="Malgun Gothic"/>
              </a:rPr>
              <a:t>TB? extra read? ??. Datasheet p.8/p.49? ?? ??</a:t>
            </a:r>
            <a:endParaRPr lang="ko-KR"/>
          </a:p>
        </p:txBody>
      </p:sp>
      <p:sp>
        <p:nvSpPr>
          <p:cNvPr id="82" name="Text 82"/>
          <p:cNvSpPr/>
          <p:nvPr/>
        </p:nvSpPr>
        <p:spPr>
          <a:xfrm>
            <a:off x="594360" y="1627632"/>
            <a:ext cx="1051560" cy="38404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</a:ln>
        </p:spPr>
        <p:txBody>
          <a:bodyPr wrap="square" anchor="t"/>
          <a:lstStyle/>
          <a:p>
            <a:pPr algn="ctr"/>
            <a:r>
              <a:rPr lang="ko-KR" sz="850" b="1">
                <a:solidFill>
                  <a:srgbClr val="FFFFFF"/>
                </a:solidFill>
                <a:latin typeface="Malgun Gothic"/>
                <a:ea typeface="Malgun Gothic"/>
              </a:rPr>
              <a:t>F-C02-02</a:t>
            </a:r>
            <a:endParaRPr lang="ko-KR"/>
          </a:p>
        </p:txBody>
      </p:sp>
      <p:sp>
        <p:nvSpPr>
          <p:cNvPr id="83" name="Text 83"/>
          <p:cNvSpPr/>
          <p:nvPr/>
        </p:nvSpPr>
        <p:spPr>
          <a:xfrm>
            <a:off x="1783080" y="1627632"/>
            <a:ext cx="3886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t"/>
          <a:lstStyle/>
          <a:p>
            <a:pPr algn="l"/>
            <a:r>
              <a:rPr lang="ko-KR" sz="880">
                <a:solidFill>
                  <a:srgbClr val="0F172A"/>
                </a:solidFill>
                <a:latin typeface="Malgun Gothic"/>
                <a:ea typeface="Malgun Gothic"/>
              </a:rPr>
              <a:t>Quiet/M-Mode? ?? ?? ???</a:t>
            </a:r>
            <a:endParaRPr lang="ko-KR"/>
          </a:p>
        </p:txBody>
      </p:sp>
      <p:sp>
        <p:nvSpPr>
          <p:cNvPr id="84" name="Text 84"/>
          <p:cNvSpPr/>
          <p:nvPr/>
        </p:nvSpPr>
        <p:spPr>
          <a:xfrm>
            <a:off x="5806440" y="1627632"/>
            <a:ext cx="1051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t"/>
          <a:lstStyle/>
          <a:p>
            <a:pPr algn="ctr"/>
            <a:r>
              <a:rPr lang="ko-KR" sz="800" b="1">
                <a:solidFill>
                  <a:srgbClr val="B91C1C"/>
                </a:solidFill>
                <a:latin typeface="Malgun Gothic"/>
                <a:ea typeface="Malgun Gothic"/>
              </a:rPr>
              <a:t>Med-High</a:t>
            </a:r>
            <a:endParaRPr lang="ko-KR"/>
          </a:p>
        </p:txBody>
      </p:sp>
      <p:sp>
        <p:nvSpPr>
          <p:cNvPr id="85" name="Text 85"/>
          <p:cNvSpPr/>
          <p:nvPr/>
        </p:nvSpPr>
        <p:spPr>
          <a:xfrm>
            <a:off x="6995160" y="1627632"/>
            <a:ext cx="4389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t"/>
          <a:lstStyle/>
          <a:p>
            <a:pPr algn="l"/>
            <a:r>
              <a:rPr lang="ko-KR" sz="760">
                <a:solidFill>
                  <a:srgbClr val="334155"/>
                </a:solidFill>
                <a:latin typeface="Malgun Gothic"/>
                <a:ea typeface="Malgun Gothic"/>
              </a:rPr>
              <a:t>??? non-quiet + MasterAluTrig cleanup ??</a:t>
            </a:r>
            <a:endParaRPr lang="ko-KR"/>
          </a:p>
        </p:txBody>
      </p:sp>
      <p:sp>
        <p:nvSpPr>
          <p:cNvPr id="86" name="Text 86"/>
          <p:cNvSpPr/>
          <p:nvPr/>
        </p:nvSpPr>
        <p:spPr>
          <a:xfrm>
            <a:off x="594360" y="2340864"/>
            <a:ext cx="1051560" cy="3840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</a:ln>
        </p:spPr>
        <p:txBody>
          <a:bodyPr wrap="square" anchor="t"/>
          <a:lstStyle/>
          <a:p>
            <a:pPr algn="ctr"/>
            <a:r>
              <a:rPr lang="ko-KR" sz="850" b="1">
                <a:solidFill>
                  <a:srgbClr val="FFFFFF"/>
                </a:solidFill>
                <a:latin typeface="Malgun Gothic"/>
                <a:ea typeface="Malgun Gothic"/>
              </a:rPr>
              <a:t>F-C02-03</a:t>
            </a:r>
            <a:endParaRPr lang="ko-KR"/>
          </a:p>
        </p:txBody>
      </p:sp>
      <p:sp>
        <p:nvSpPr>
          <p:cNvPr id="87" name="Text 87"/>
          <p:cNvSpPr/>
          <p:nvPr/>
        </p:nvSpPr>
        <p:spPr>
          <a:xfrm>
            <a:off x="1783080" y="2340864"/>
            <a:ext cx="3886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t"/>
          <a:lstStyle/>
          <a:p>
            <a:pPr algn="l"/>
            <a:r>
              <a:rPr lang="ko-KR" sz="880">
                <a:solidFill>
                  <a:srgbClr val="0F172A"/>
                </a:solidFill>
                <a:latin typeface="Malgun Gothic"/>
                <a:ea typeface="Malgun Gothic"/>
              </a:rPr>
              <a:t>expected_ififo? hard bound? ??</a:t>
            </a:r>
            <a:endParaRPr lang="ko-KR"/>
          </a:p>
        </p:txBody>
      </p:sp>
      <p:sp>
        <p:nvSpPr>
          <p:cNvPr id="88" name="Text 88"/>
          <p:cNvSpPr/>
          <p:nvPr/>
        </p:nvSpPr>
        <p:spPr>
          <a:xfrm>
            <a:off x="5806440" y="2340864"/>
            <a:ext cx="1051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t"/>
          <a:lstStyle/>
          <a:p>
            <a:pPr algn="ctr"/>
            <a:r>
              <a:rPr lang="ko-KR" sz="800" b="1">
                <a:solidFill>
                  <a:srgbClr val="B45309"/>
                </a:solidFill>
                <a:latin typeface="Malgun Gothic"/>
                <a:ea typeface="Malgun Gothic"/>
              </a:rPr>
              <a:t>Medium</a:t>
            </a:r>
            <a:endParaRPr lang="ko-KR"/>
          </a:p>
        </p:txBody>
      </p:sp>
      <p:sp>
        <p:nvSpPr>
          <p:cNvPr id="89" name="Text 89"/>
          <p:cNvSpPr/>
          <p:nvPr/>
        </p:nvSpPr>
        <p:spPr>
          <a:xfrm>
            <a:off x="6995160" y="2340864"/>
            <a:ext cx="4389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t"/>
          <a:lstStyle/>
          <a:p>
            <a:pPr algn="l"/>
            <a:r>
              <a:rPr lang="ko-KR" sz="760">
                <a:solidFill>
                  <a:srgbClr val="334155"/>
                </a:solidFill>
                <a:latin typeface="Malgun Gothic"/>
                <a:ea typeface="Malgun Gothic"/>
              </a:rPr>
              <a:t>burst sizing / mismatch ???? ??? single drain guard? ??</a:t>
            </a:r>
            <a:endParaRPr lang="ko-KR"/>
          </a:p>
        </p:txBody>
      </p:sp>
      <p:sp>
        <p:nvSpPr>
          <p:cNvPr id="90" name="Text 90"/>
          <p:cNvSpPr/>
          <p:nvPr/>
        </p:nvSpPr>
        <p:spPr>
          <a:xfrm>
            <a:off x="594360" y="3054096"/>
            <a:ext cx="1051560" cy="3840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</a:ln>
        </p:spPr>
        <p:txBody>
          <a:bodyPr wrap="square" anchor="t"/>
          <a:lstStyle/>
          <a:p>
            <a:pPr algn="ctr"/>
            <a:r>
              <a:rPr lang="ko-KR" sz="850" b="1">
                <a:solidFill>
                  <a:srgbClr val="FFFFFF"/>
                </a:solidFill>
                <a:latin typeface="Malgun Gothic"/>
                <a:ea typeface="Malgun Gothic"/>
              </a:rPr>
              <a:t>F-C02-04</a:t>
            </a:r>
            <a:endParaRPr lang="ko-KR"/>
          </a:p>
        </p:txBody>
      </p:sp>
      <p:sp>
        <p:nvSpPr>
          <p:cNvPr id="91" name="Text 91"/>
          <p:cNvSpPr/>
          <p:nvPr/>
        </p:nvSpPr>
        <p:spPr>
          <a:xfrm>
            <a:off x="1783080" y="3054096"/>
            <a:ext cx="3886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t"/>
          <a:lstStyle/>
          <a:p>
            <a:pPr algn="l"/>
            <a:r>
              <a:rPr lang="ko-KR" sz="880">
                <a:solidFill>
                  <a:srgbClr val="0F172A"/>
                </a:solidFill>
                <a:latin typeface="Malgun Gothic"/>
                <a:ea typeface="Malgun Gothic"/>
              </a:rPr>
              <a:t>TB raw count? data/control beat? ??</a:t>
            </a:r>
            <a:endParaRPr lang="ko-KR"/>
          </a:p>
        </p:txBody>
      </p:sp>
      <p:sp>
        <p:nvSpPr>
          <p:cNvPr id="92" name="Text 92"/>
          <p:cNvSpPr/>
          <p:nvPr/>
        </p:nvSpPr>
        <p:spPr>
          <a:xfrm>
            <a:off x="5806440" y="3054096"/>
            <a:ext cx="1051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t"/>
          <a:lstStyle/>
          <a:p>
            <a:pPr algn="ctr"/>
            <a:r>
              <a:rPr lang="ko-KR" sz="800" b="1">
                <a:solidFill>
                  <a:srgbClr val="B45309"/>
                </a:solidFill>
                <a:latin typeface="Malgun Gothic"/>
                <a:ea typeface="Malgun Gothic"/>
              </a:rPr>
              <a:t>Medium</a:t>
            </a:r>
            <a:endParaRPr lang="ko-KR"/>
          </a:p>
        </p:txBody>
      </p:sp>
      <p:sp>
        <p:nvSpPr>
          <p:cNvPr id="93" name="Text 93"/>
          <p:cNvSpPr/>
          <p:nvPr/>
        </p:nvSpPr>
        <p:spPr>
          <a:xfrm>
            <a:off x="6995160" y="3054096"/>
            <a:ext cx="4389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t"/>
          <a:lstStyle/>
          <a:p>
            <a:pPr algn="l"/>
            <a:r>
              <a:rPr lang="ko-KR" sz="760">
                <a:solidFill>
                  <a:srgbClr val="334155"/>
                </a:solidFill>
                <a:latin typeface="Malgun Gothic"/>
                <a:ea typeface="Malgun Gothic"/>
              </a:rPr>
              <a:t>drain_done, ififo1_done, data beat ?? ??</a:t>
            </a:r>
            <a:endParaRPr lang="ko-KR"/>
          </a:p>
        </p:txBody>
      </p:sp>
      <p:sp>
        <p:nvSpPr>
          <p:cNvPr id="94" name="Text 94"/>
          <p:cNvSpPr/>
          <p:nvPr/>
        </p:nvSpPr>
        <p:spPr>
          <a:xfrm>
            <a:off x="594360" y="3767328"/>
            <a:ext cx="1051560" cy="3840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</a:ln>
        </p:spPr>
        <p:txBody>
          <a:bodyPr wrap="square" anchor="t"/>
          <a:lstStyle/>
          <a:p>
            <a:pPr algn="ctr"/>
            <a:r>
              <a:rPr lang="ko-KR" sz="850" b="1">
                <a:solidFill>
                  <a:srgbClr val="FFFFFF"/>
                </a:solidFill>
                <a:latin typeface="Malgun Gothic"/>
                <a:ea typeface="Malgun Gothic"/>
              </a:rPr>
              <a:t>F-C02-05</a:t>
            </a:r>
            <a:endParaRPr lang="ko-KR"/>
          </a:p>
        </p:txBody>
      </p:sp>
      <p:sp>
        <p:nvSpPr>
          <p:cNvPr id="95" name="Text 95"/>
          <p:cNvSpPr/>
          <p:nvPr/>
        </p:nvSpPr>
        <p:spPr>
          <a:xfrm>
            <a:off x="1783080" y="3767328"/>
            <a:ext cx="3886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t"/>
          <a:lstStyle/>
          <a:p>
            <a:pPr algn="l"/>
            <a:r>
              <a:rPr lang="ko-KR" sz="880">
                <a:solidFill>
                  <a:srgbClr val="0F172A"/>
                </a:solidFill>
                <a:latin typeface="Malgun Gothic"/>
                <a:ea typeface="Malgun Gothic"/>
              </a:rPr>
              <a:t>SYNC stream mode? ?? clock ?? ??</a:t>
            </a:r>
            <a:endParaRPr lang="ko-KR"/>
          </a:p>
        </p:txBody>
      </p:sp>
      <p:sp>
        <p:nvSpPr>
          <p:cNvPr id="96" name="Text 96"/>
          <p:cNvSpPr/>
          <p:nvPr/>
        </p:nvSpPr>
        <p:spPr>
          <a:xfrm>
            <a:off x="5806440" y="3767328"/>
            <a:ext cx="1051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t"/>
          <a:lstStyle/>
          <a:p>
            <a:pPr algn="ctr"/>
            <a:r>
              <a:rPr lang="ko-KR" sz="800" b="1">
                <a:solidFill>
                  <a:srgbClr val="B45309"/>
                </a:solidFill>
                <a:latin typeface="Malgun Gothic"/>
                <a:ea typeface="Malgun Gothic"/>
              </a:rPr>
              <a:t>Low-Med</a:t>
            </a:r>
            <a:endParaRPr lang="ko-KR"/>
          </a:p>
        </p:txBody>
      </p:sp>
      <p:sp>
        <p:nvSpPr>
          <p:cNvPr id="97" name="Text 97"/>
          <p:cNvSpPr/>
          <p:nvPr/>
        </p:nvSpPr>
        <p:spPr>
          <a:xfrm>
            <a:off x="6995160" y="3767328"/>
            <a:ext cx="4389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t"/>
          <a:lstStyle/>
          <a:p>
            <a:pPr algn="l"/>
            <a:r>
              <a:rPr lang="ko-KR" sz="760">
                <a:solidFill>
                  <a:srgbClr val="334155"/>
                </a:solidFill>
                <a:latin typeface="Malgun Gothic"/>
                <a:ea typeface="Malgun Gothic"/>
              </a:rPr>
              <a:t>ASYNC default? ???</a:t>
            </a:r>
            <a:endParaRPr lang="ko-KR"/>
          </a:p>
        </p:txBody>
      </p:sp>
      <p:sp>
        <p:nvSpPr>
          <p:cNvPr id="98" name="Text 98"/>
          <p:cNvSpPr/>
          <p:nvPr/>
        </p:nvSpPr>
        <p:spPr>
          <a:xfrm>
            <a:off x="685800" y="5166360"/>
            <a:ext cx="1056132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</a:ln>
        </p:spPr>
        <p:txBody>
          <a:bodyPr wrap="square" anchor="t"/>
          <a:lstStyle/>
          <a:p>
            <a:pPr algn="l"/>
            <a:r>
              <a:rPr lang="ko-KR" sz="1150">
                <a:solidFill>
                  <a:srgbClr val="0F172A"/>
                </a:solidFill>
                <a:latin typeface="Malgun Gothic"/>
                <a:ea typeface="Malgun Gothic"/>
              </a:rPr>
              <a:t>?? ??: TB empty-read fatal assertion -&gt; data/control monitor ?? -&gt; RTL guard/expected-count policy ??</a:t>
            </a:r>
            <a:endParaRPr lang="ko-K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 99"/>
          <p:cNvSpPr/>
          <p:nvPr/>
        </p:nvSpPr>
        <p:spPr>
          <a:xfrm>
            <a:off x="411480" y="256032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2300" b="1">
                <a:solidFill>
                  <a:srgbClr val="111827"/>
                </a:solidFill>
                <a:latin typeface="Malgun Gothic"/>
                <a:ea typeface="Malgun Gothic"/>
              </a:rPr>
              <a:t>6. ?? ?? ??</a:t>
            </a:r>
            <a:endParaRPr lang="ko-KR"/>
          </a:p>
        </p:txBody>
      </p:sp>
      <p:sp>
        <p:nvSpPr>
          <p:cNvPr id="100" name="Text 100"/>
          <p:cNvSpPr/>
          <p:nvPr/>
        </p:nvSpPr>
        <p:spPr>
          <a:xfrm>
            <a:off x="411480" y="6291072"/>
            <a:ext cx="113385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800">
                <a:solidFill>
                  <a:srgbClr val="64748B"/>
                </a:solidFill>
                <a:latin typeface="Malgun Gothic"/>
                <a:ea typeface="Malgun Gothic"/>
              </a:rPr>
              <a:t>??: TDC-GPX-Datasheet.pdf / C02_Chip_Acquisition_20260429_v001.md</a:t>
            </a:r>
            <a:endParaRPr lang="ko-KR"/>
          </a:p>
        </p:txBody>
      </p:sp>
      <p:sp>
        <p:nvSpPr>
          <p:cNvPr id="101" name="Text 101"/>
          <p:cNvSpPr/>
          <p:nvPr/>
        </p:nvSpPr>
        <p:spPr>
          <a:xfrm>
            <a:off x="685800" y="1005840"/>
            <a:ext cx="3200400" cy="9144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txBody>
          <a:bodyPr wrap="square" anchor="t"/>
          <a:lstStyle/>
          <a:p>
            <a:pPr algn="ctr"/>
            <a:r>
              <a:rPr lang="ko-KR" sz="1250" b="1">
                <a:solidFill>
                  <a:srgbClr val="111827"/>
                </a:solidFill>
                <a:latin typeface="Malgun Gothic"/>
                <a:ea typeface="Malgun Gothic"/>
              </a:rPr>
              <a:t>1. ??? ??</a:t>
            </a:r>
            <a:endParaRPr lang="ko-KR"/>
          </a:p>
          <a:p>
            <a:pPr algn="ctr"/>
            <a:r>
              <a:rPr lang="ko-KR" sz="1250">
                <a:solidFill>
                  <a:srgbClr val="111827"/>
                </a:solidFill>
                <a:latin typeface="Malgun Gothic"/>
                <a:ea typeface="Malgun Gothic"/>
              </a:rPr>
              <a:t>Nominal mode ??</a:t>
            </a:r>
            <a:endParaRPr lang="ko-KR"/>
          </a:p>
          <a:p>
            <a:pPr algn="ctr"/>
            <a:r>
              <a:rPr lang="ko-KR" sz="1250">
                <a:solidFill>
                  <a:srgbClr val="111827"/>
                </a:solidFill>
                <a:latin typeface="Malgun Gothic"/>
                <a:ea typeface="Malgun Gothic"/>
              </a:rPr>
              <a:t>non-quiet + MasterAluTrig?</a:t>
            </a:r>
            <a:endParaRPr lang="ko-KR"/>
          </a:p>
        </p:txBody>
      </p:sp>
      <p:sp>
        <p:nvSpPr>
          <p:cNvPr id="102" name="Text 102"/>
          <p:cNvSpPr/>
          <p:nvPr/>
        </p:nvSpPr>
        <p:spPr>
          <a:xfrm>
            <a:off x="4480560" y="1005840"/>
            <a:ext cx="3200400" cy="9144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txBody>
          <a:bodyPr wrap="square" anchor="t"/>
          <a:lstStyle/>
          <a:p>
            <a:pPr algn="ctr"/>
            <a:r>
              <a:rPr lang="ko-KR" sz="1250" b="1">
                <a:solidFill>
                  <a:srgbClr val="111827"/>
                </a:solidFill>
                <a:latin typeface="Malgun Gothic"/>
                <a:ea typeface="Malgun Gothic"/>
              </a:rPr>
              <a:t>2. C02 Code-Fix Plan</a:t>
            </a:r>
            <a:endParaRPr lang="ko-KR"/>
          </a:p>
          <a:p>
            <a:pPr algn="ctr"/>
            <a:r>
              <a:rPr lang="ko-KR" sz="1250">
                <a:solidFill>
                  <a:srgbClr val="111827"/>
                </a:solidFill>
                <a:latin typeface="Malgun Gothic"/>
                <a:ea typeface="Malgun Gothic"/>
              </a:rPr>
              <a:t>Review/Plan/Approval</a:t>
            </a:r>
            <a:endParaRPr lang="ko-KR"/>
          </a:p>
          <a:p>
            <a:pPr algn="ctr"/>
            <a:r>
              <a:rPr lang="ko-KR" sz="1250">
                <a:solidFill>
                  <a:srgbClr val="111827"/>
                </a:solidFill>
                <a:latin typeface="Malgun Gothic"/>
                <a:ea typeface="Malgun Gothic"/>
              </a:rPr>
              <a:t>?? ???? v006 ??</a:t>
            </a:r>
            <a:endParaRPr lang="ko-KR"/>
          </a:p>
        </p:txBody>
      </p:sp>
      <p:sp>
        <p:nvSpPr>
          <p:cNvPr id="103" name="Text 103"/>
          <p:cNvSpPr/>
          <p:nvPr/>
        </p:nvSpPr>
        <p:spPr>
          <a:xfrm>
            <a:off x="8275320" y="1005840"/>
            <a:ext cx="3200400" cy="9144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txBody>
          <a:bodyPr wrap="square" anchor="t"/>
          <a:lstStyle/>
          <a:p>
            <a:pPr algn="ctr"/>
            <a:r>
              <a:rPr lang="ko-KR" sz="1250" b="1">
                <a:solidFill>
                  <a:srgbClr val="111827"/>
                </a:solidFill>
                <a:latin typeface="Malgun Gothic"/>
                <a:ea typeface="Malgun Gothic"/>
              </a:rPr>
              <a:t>3. ?? ??</a:t>
            </a:r>
            <a:endParaRPr lang="ko-KR"/>
          </a:p>
          <a:p>
            <a:pPr algn="ctr"/>
            <a:r>
              <a:rPr lang="ko-KR" sz="1250">
                <a:solidFill>
                  <a:srgbClr val="111827"/>
                </a:solidFill>
                <a:latin typeface="Malgun Gothic"/>
                <a:ea typeface="Malgun Gothic"/>
              </a:rPr>
              <a:t>empty read assertion</a:t>
            </a:r>
            <a:endParaRPr lang="ko-KR"/>
          </a:p>
          <a:p>
            <a:pPr algn="ctr"/>
            <a:r>
              <a:rPr lang="ko-KR" sz="1250">
                <a:solidFill>
                  <a:srgbClr val="111827"/>
                </a:solidFill>
                <a:latin typeface="Malgun Gothic"/>
                <a:ea typeface="Malgun Gothic"/>
              </a:rPr>
              <a:t>latency/II waveform</a:t>
            </a:r>
            <a:endParaRPr lang="ko-KR"/>
          </a:p>
        </p:txBody>
      </p:sp>
      <p:cxnSp>
        <p:nvCxnSpPr>
          <p:cNvPr id="104" name="Arrow 104"/>
          <p:cNvCxnSpPr/>
          <p:nvPr/>
        </p:nvCxnSpPr>
        <p:spPr>
          <a:xfrm>
            <a:off x="3886200" y="1463040"/>
            <a:ext cx="548639" cy="9144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</p:cxnSp>
      <p:cxnSp>
        <p:nvCxnSpPr>
          <p:cNvPr id="105" name="Arrow 105"/>
          <p:cNvCxnSpPr/>
          <p:nvPr/>
        </p:nvCxnSpPr>
        <p:spPr>
          <a:xfrm>
            <a:off x="7680960" y="1463040"/>
            <a:ext cx="548639" cy="9144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</p:cxnSp>
      <p:sp>
        <p:nvSpPr>
          <p:cNvPr id="106" name="Text 106"/>
          <p:cNvSpPr/>
          <p:nvPr/>
        </p:nvSpPr>
        <p:spPr>
          <a:xfrm>
            <a:off x="822960" y="2834640"/>
            <a:ext cx="102870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t"/>
          <a:lstStyle/>
          <a:p>
            <a:pPr algn="l"/>
            <a:r>
              <a:rPr lang="ko-KR" sz="1350">
                <a:solidFill>
                  <a:srgbClr val="334155"/>
                </a:solidFill>
                <a:latin typeface="Malgun Gothic"/>
                <a:ea typeface="Malgun Gothic"/>
              </a:rPr>
              <a:t>??? ?? ??:</a:t>
            </a:r>
            <a:endParaRPr lang="ko-KR"/>
          </a:p>
          <a:p>
            <a:pPr algn="l"/>
            <a:r>
              <a:rPr lang="ko-KR" sz="1350">
                <a:solidFill>
                  <a:srgbClr val="334155"/>
                </a:solidFill>
                <a:latin typeface="Malgun Gothic"/>
                <a:ea typeface="Malgun Gothic"/>
              </a:rPr>
              <a:t>Q-C02-01 nominal GPX mode? non-quiet? ????</a:t>
            </a:r>
            <a:endParaRPr lang="ko-KR"/>
          </a:p>
          <a:p>
            <a:pPr algn="l"/>
            <a:r>
              <a:rPr lang="ko-KR" sz="1350">
                <a:solidFill>
                  <a:srgbClr val="334155"/>
                </a:solidFill>
                <a:latin typeface="Malgun Gothic"/>
                <a:ea typeface="Malgun Gothic"/>
              </a:rPr>
              <a:t>Q-C02-02 expected_ififo? hard read bound? ????</a:t>
            </a:r>
            <a:endParaRPr lang="ko-KR"/>
          </a:p>
          <a:p>
            <a:pPr algn="l"/>
            <a:r>
              <a:rPr lang="ko-KR" sz="1350">
                <a:solidFill>
                  <a:srgbClr val="334155"/>
                </a:solidFill>
                <a:latin typeface="Malgun Gothic"/>
                <a:ea typeface="Malgun Gothic"/>
              </a:rPr>
              <a:t>Q-C02-03 TB empty FIFO read? fatal? ????</a:t>
            </a:r>
            <a:endParaRPr lang="ko-KR"/>
          </a:p>
        </p:txBody>
      </p:sp>
      <p:sp>
        <p:nvSpPr>
          <p:cNvPr id="107" name="Text 107"/>
          <p:cNvSpPr/>
          <p:nvPr/>
        </p:nvSpPr>
        <p:spPr>
          <a:xfrm>
            <a:off x="822960" y="4800600"/>
            <a:ext cx="10287000" cy="502920"/>
          </a:xfrm>
          <a:prstGeom prst="rect">
            <a:avLst/>
          </a:prstGeom>
          <a:solidFill>
            <a:srgbClr val="ECFDF5"/>
          </a:solidFill>
          <a:ln w="12700">
            <a:solidFill>
              <a:srgbClr val="5EEAD4"/>
            </a:solidFill>
          </a:ln>
        </p:spPr>
        <p:txBody>
          <a:bodyPr wrap="square" anchor="t"/>
          <a:lstStyle/>
          <a:p>
            <a:pPr algn="l"/>
            <a:r>
              <a:rPr lang="ko-KR" sz="1200">
                <a:solidFill>
                  <a:srgbClr val="0F172A"/>
                </a:solidFill>
                <a:latin typeface="Malgun Gothic"/>
                <a:ea typeface="Malgun Gothic"/>
              </a:rPr>
              <a:t>C02 ?? v001? ?? ?? ? ?? ??????. ?? ??? ?? ?? ?? ?? ? ?????.</a:t>
            </a:r>
            <a:endParaRPr lang="ko-K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864</Words>
  <Application>Microsoft Office PowerPoint</Application>
  <PresentationFormat>와이드스크린</PresentationFormat>
  <Paragraphs>129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9" baseType="lpstr">
      <vt:lpstr>Malgun Gothic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C02 Chip Acquisition Analysis v001</dc:title>
  <dc:creator>Codex</dc:creator>
  <cp:lastModifiedBy>하늘 정</cp:lastModifiedBy>
  <cp:revision>1</cp:revision>
  <dcterms:modified xsi:type="dcterms:W3CDTF">2026-04-30T02:23:31Z</dcterms:modified>
</cp:coreProperties>
</file>