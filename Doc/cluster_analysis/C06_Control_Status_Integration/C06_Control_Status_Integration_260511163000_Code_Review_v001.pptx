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12014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 Code Review v001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1099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Control/Status/IRQ 통합은 구현이 존재하지만, end-to-end II와 SW 계약은 아직 닫히지 않았다.</a:t>
            </a:r>
            <a:endParaRPr lang="en-US" sz="94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2834640" cy="960120"/>
          </a:xfrm>
          <a:prstGeom prst="roundRect">
            <a:avLst>
              <a:gd name="adj" fmla="val 5714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380744"/>
            <a:ext cx="2706624" cy="8503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 목적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C01~C04 data path를 top-level 운용 계약으로 묶기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703320" y="1325880"/>
            <a:ext cx="2834640" cy="960120"/>
          </a:xfrm>
          <a:prstGeom prst="roundRect">
            <a:avLst>
              <a:gd name="adj" fmla="val 5714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67328" y="1380744"/>
            <a:ext cx="2706624" cy="8503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판정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Cluster 진입 전 C06 검증 필요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720840" y="1325880"/>
            <a:ext cx="4526280" cy="960120"/>
          </a:xfrm>
          <a:prstGeom prst="roundRect">
            <a:avLst>
              <a:gd name="adj" fmla="val 5714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84848" y="1380744"/>
            <a:ext cx="4398264" cy="8503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위험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ready stall, sticky clear, IRQ 의미, start 경계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697480"/>
            <a:ext cx="20116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상태 요약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77240" y="315468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ECFDF5"/>
          </a:solidFill>
          <a:ln w="1016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3200400"/>
            <a:ext cx="20939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양호: packet_start register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3200400" y="3154680"/>
            <a:ext cx="2423160" cy="310896"/>
          </a:xfrm>
          <a:prstGeom prst="roundRect">
            <a:avLst>
              <a:gd name="adj" fmla="val 47059"/>
            </a:avLst>
          </a:prstGeom>
          <a:solidFill>
            <a:srgbClr val="ECFDF5"/>
          </a:solidFill>
          <a:ln w="1016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73552" y="3200400"/>
            <a:ext cx="227685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양호: frame_done_both register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5806440" y="315468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ECFDF5"/>
          </a:solidFill>
          <a:ln w="1016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79592" y="3200400"/>
            <a:ext cx="20939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양호: face_closing register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8229600" y="3154680"/>
            <a:ext cx="2468880" cy="310896"/>
          </a:xfrm>
          <a:prstGeom prst="roundRect">
            <a:avLst>
              <a:gd name="adj" fmla="val 47059"/>
            </a:avLst>
          </a:prstGeom>
          <a:solidFill>
            <a:srgbClr val="FFF7ED"/>
          </a:solidFill>
          <a:ln w="10160">
            <a:solidFill>
              <a:srgbClr val="EA58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02752" y="3200400"/>
            <a:ext cx="23225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Open: C06 II/backpressure</a:t>
            </a:r>
            <a:endParaRPr lang="en-US" sz="870" dirty="0"/>
          </a:p>
        </p:txBody>
      </p:sp>
      <p:sp>
        <p:nvSpPr>
          <p:cNvPr id="20" name="Text 18"/>
          <p:cNvSpPr/>
          <p:nvPr/>
        </p:nvSpPr>
        <p:spPr>
          <a:xfrm>
            <a:off x="777240" y="3977640"/>
            <a:ext cx="16459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 기준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77240" y="4370832"/>
            <a:ext cx="32918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4425696"/>
            <a:ext cx="3163824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Datasheet page 25/27/29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I-Mode single, IFIFO read, IrFlag 이후 read sequence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4251960" y="4370832"/>
            <a:ext cx="32918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15968" y="4425696"/>
            <a:ext cx="3163824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규칙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 경계 register, 조합 최대 2-depth, status 추적성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7726680" y="4370832"/>
            <a:ext cx="32918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90688" y="4425696"/>
            <a:ext cx="3163824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 Plan/Analysis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VB-C06-01..10, T0..T6, latency/throughput/II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594360" y="6382512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C06_Control_Status_Integration_260511163000_Code_Review_v001</a:t>
            </a:r>
            <a:endParaRPr lang="en-US" sz="7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12014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Findings 지도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1099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결함, 검증 공백, 문서 계약 미완료를 분리해 다음 수정 순서를 결정한다.</a:t>
            </a:r>
            <a:endParaRPr lang="en-US" sz="94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34440"/>
            <a:ext cx="749808" cy="475488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9496" y="1252728"/>
            <a:ext cx="676656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</a:t>
            </a:r>
            <a:endParaRPr lang="en-US" sz="810" dirty="0"/>
          </a:p>
        </p:txBody>
      </p:sp>
      <p:sp>
        <p:nvSpPr>
          <p:cNvPr id="7" name="Shape 5"/>
          <p:cNvSpPr/>
          <p:nvPr/>
        </p:nvSpPr>
        <p:spPr>
          <a:xfrm>
            <a:off x="1252728" y="1234440"/>
            <a:ext cx="960120" cy="475488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9304" y="1252728"/>
            <a:ext cx="88696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Priority</a:t>
            </a:r>
            <a:endParaRPr lang="en-US" sz="810" dirty="0"/>
          </a:p>
        </p:txBody>
      </p:sp>
      <p:sp>
        <p:nvSpPr>
          <p:cNvPr id="9" name="Shape 7"/>
          <p:cNvSpPr/>
          <p:nvPr/>
        </p:nvSpPr>
        <p:spPr>
          <a:xfrm>
            <a:off x="2212848" y="1234440"/>
            <a:ext cx="5623560" cy="475488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49424" y="1252728"/>
            <a:ext cx="555040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판단</a:t>
            </a:r>
            <a:endParaRPr lang="en-US" sz="810" dirty="0"/>
          </a:p>
        </p:txBody>
      </p:sp>
      <p:sp>
        <p:nvSpPr>
          <p:cNvPr id="11" name="Shape 9"/>
          <p:cNvSpPr/>
          <p:nvPr/>
        </p:nvSpPr>
        <p:spPr>
          <a:xfrm>
            <a:off x="7836408" y="1234440"/>
            <a:ext cx="4160520" cy="475488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72984" y="1252728"/>
            <a:ext cx="408736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조치</a:t>
            </a:r>
            <a:endParaRPr lang="en-US" sz="810" dirty="0"/>
          </a:p>
        </p:txBody>
      </p:sp>
      <p:sp>
        <p:nvSpPr>
          <p:cNvPr id="13" name="Shape 11"/>
          <p:cNvSpPr/>
          <p:nvPr/>
        </p:nvSpPr>
        <p:spPr>
          <a:xfrm>
            <a:off x="502920" y="1709928"/>
            <a:ext cx="74980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" y="1728216"/>
            <a:ext cx="676656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CR-01</a:t>
            </a:r>
            <a:endParaRPr lang="en-US" sz="810" dirty="0"/>
          </a:p>
        </p:txBody>
      </p:sp>
      <p:sp>
        <p:nvSpPr>
          <p:cNvPr id="15" name="Shape 13"/>
          <p:cNvSpPr/>
          <p:nvPr/>
        </p:nvSpPr>
        <p:spPr>
          <a:xfrm>
            <a:off x="1252728" y="1709928"/>
            <a:ext cx="960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89304" y="1728216"/>
            <a:ext cx="88696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</a:t>
            </a:r>
            <a:endParaRPr lang="en-US" sz="810" dirty="0"/>
          </a:p>
        </p:txBody>
      </p:sp>
      <p:sp>
        <p:nvSpPr>
          <p:cNvPr id="17" name="Shape 15"/>
          <p:cNvSpPr/>
          <p:nvPr/>
        </p:nvSpPr>
        <p:spPr>
          <a:xfrm>
            <a:off x="2212848" y="1709928"/>
            <a:ext cx="56235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49424" y="1728216"/>
            <a:ext cx="555040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End-to-end II와 ready stall이 아직 검증되지 않음</a:t>
            </a:r>
            <a:endParaRPr lang="en-US" sz="810" dirty="0"/>
          </a:p>
        </p:txBody>
      </p:sp>
      <p:sp>
        <p:nvSpPr>
          <p:cNvPr id="19" name="Shape 17"/>
          <p:cNvSpPr/>
          <p:nvPr/>
        </p:nvSpPr>
        <p:spPr>
          <a:xfrm>
            <a:off x="7836408" y="1709928"/>
            <a:ext cx="4160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72984" y="1728216"/>
            <a:ext cx="408736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VB-C06-01/04/10 우선 실행</a:t>
            </a:r>
            <a:endParaRPr lang="en-US" sz="810" dirty="0"/>
          </a:p>
        </p:txBody>
      </p:sp>
      <p:sp>
        <p:nvSpPr>
          <p:cNvPr id="21" name="Shape 19"/>
          <p:cNvSpPr/>
          <p:nvPr/>
        </p:nvSpPr>
        <p:spPr>
          <a:xfrm>
            <a:off x="502920" y="2185416"/>
            <a:ext cx="74980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9496" y="2203704"/>
            <a:ext cx="676656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CR-02</a:t>
            </a:r>
            <a:endParaRPr lang="en-US" sz="810" dirty="0"/>
          </a:p>
        </p:txBody>
      </p:sp>
      <p:sp>
        <p:nvSpPr>
          <p:cNvPr id="23" name="Shape 21"/>
          <p:cNvSpPr/>
          <p:nvPr/>
        </p:nvSpPr>
        <p:spPr>
          <a:xfrm>
            <a:off x="1252728" y="2185416"/>
            <a:ext cx="960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89304" y="2203704"/>
            <a:ext cx="88696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</a:t>
            </a:r>
            <a:endParaRPr lang="en-US" sz="810" dirty="0"/>
          </a:p>
        </p:txBody>
      </p:sp>
      <p:sp>
        <p:nvSpPr>
          <p:cNvPr id="25" name="Shape 23"/>
          <p:cNvSpPr/>
          <p:nvPr/>
        </p:nvSpPr>
        <p:spPr>
          <a:xfrm>
            <a:off x="2212848" y="2185416"/>
            <a:ext cx="56235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49424" y="2203704"/>
            <a:ext cx="555040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shot/face start 출력 경계에 조합 qualifier 존재</a:t>
            </a:r>
            <a:endParaRPr lang="en-US" sz="810" dirty="0"/>
          </a:p>
        </p:txBody>
      </p:sp>
      <p:sp>
        <p:nvSpPr>
          <p:cNvPr id="27" name="Shape 25"/>
          <p:cNvSpPr/>
          <p:nvPr/>
        </p:nvSpPr>
        <p:spPr>
          <a:xfrm>
            <a:off x="7836408" y="2185416"/>
            <a:ext cx="4160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72984" y="2203704"/>
            <a:ext cx="408736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baseline 후 register화 검토</a:t>
            </a:r>
            <a:endParaRPr lang="en-US" sz="810" dirty="0"/>
          </a:p>
        </p:txBody>
      </p:sp>
      <p:sp>
        <p:nvSpPr>
          <p:cNvPr id="29" name="Shape 27"/>
          <p:cNvSpPr/>
          <p:nvPr/>
        </p:nvSpPr>
        <p:spPr>
          <a:xfrm>
            <a:off x="502920" y="2660904"/>
            <a:ext cx="74980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9496" y="2679192"/>
            <a:ext cx="676656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CR-03</a:t>
            </a:r>
            <a:endParaRPr lang="en-US" sz="810" dirty="0"/>
          </a:p>
        </p:txBody>
      </p:sp>
      <p:sp>
        <p:nvSpPr>
          <p:cNvPr id="31" name="Shape 29"/>
          <p:cNvSpPr/>
          <p:nvPr/>
        </p:nvSpPr>
        <p:spPr>
          <a:xfrm>
            <a:off x="1252728" y="2660904"/>
            <a:ext cx="960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89304" y="2679192"/>
            <a:ext cx="88696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</a:t>
            </a:r>
            <a:endParaRPr lang="en-US" sz="810" dirty="0"/>
          </a:p>
        </p:txBody>
      </p:sp>
      <p:sp>
        <p:nvSpPr>
          <p:cNvPr id="33" name="Shape 31"/>
          <p:cNvSpPr/>
          <p:nvPr/>
        </p:nvSpPr>
        <p:spPr>
          <a:xfrm>
            <a:off x="2212848" y="2660904"/>
            <a:ext cx="56235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49424" y="2679192"/>
            <a:ext cx="555040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status_agg busy/overrun이 넓은 조합 OR</a:t>
            </a:r>
            <a:endParaRPr lang="en-US" sz="810" dirty="0"/>
          </a:p>
        </p:txBody>
      </p:sp>
      <p:sp>
        <p:nvSpPr>
          <p:cNvPr id="35" name="Shape 33"/>
          <p:cNvSpPr/>
          <p:nvPr/>
        </p:nvSpPr>
        <p:spPr>
          <a:xfrm>
            <a:off x="7836408" y="2660904"/>
            <a:ext cx="4160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72984" y="2679192"/>
            <a:ext cx="408736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 register boundary 추가</a:t>
            </a:r>
            <a:endParaRPr lang="en-US" sz="810" dirty="0"/>
          </a:p>
        </p:txBody>
      </p:sp>
      <p:sp>
        <p:nvSpPr>
          <p:cNvPr id="37" name="Shape 35"/>
          <p:cNvSpPr/>
          <p:nvPr/>
        </p:nvSpPr>
        <p:spPr>
          <a:xfrm>
            <a:off x="502920" y="3136392"/>
            <a:ext cx="74980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9496" y="3154680"/>
            <a:ext cx="676656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CR-04</a:t>
            </a:r>
            <a:endParaRPr lang="en-US" sz="810" dirty="0"/>
          </a:p>
        </p:txBody>
      </p:sp>
      <p:sp>
        <p:nvSpPr>
          <p:cNvPr id="39" name="Shape 37"/>
          <p:cNvSpPr/>
          <p:nvPr/>
        </p:nvSpPr>
        <p:spPr>
          <a:xfrm>
            <a:off x="1252728" y="3136392"/>
            <a:ext cx="960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289304" y="3154680"/>
            <a:ext cx="88696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</a:t>
            </a:r>
            <a:endParaRPr lang="en-US" sz="810" dirty="0"/>
          </a:p>
        </p:txBody>
      </p:sp>
      <p:sp>
        <p:nvSpPr>
          <p:cNvPr id="41" name="Shape 39"/>
          <p:cNvSpPr/>
          <p:nvPr/>
        </p:nvSpPr>
        <p:spPr>
          <a:xfrm>
            <a:off x="2212848" y="3136392"/>
            <a:ext cx="56235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249424" y="3154680"/>
            <a:ext cx="555040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sticky clear 정책이 field별로 다름</a:t>
            </a:r>
            <a:endParaRPr lang="en-US" sz="810" dirty="0"/>
          </a:p>
        </p:txBody>
      </p:sp>
      <p:sp>
        <p:nvSpPr>
          <p:cNvPr id="43" name="Shape 41"/>
          <p:cNvSpPr/>
          <p:nvPr/>
        </p:nvSpPr>
        <p:spPr>
          <a:xfrm>
            <a:off x="7836408" y="3136392"/>
            <a:ext cx="4160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72984" y="3154680"/>
            <a:ext cx="408736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soft_clear 정책 통일 또는 예외화</a:t>
            </a:r>
            <a:endParaRPr lang="en-US" sz="810" dirty="0"/>
          </a:p>
        </p:txBody>
      </p:sp>
      <p:sp>
        <p:nvSpPr>
          <p:cNvPr id="45" name="Shape 43"/>
          <p:cNvSpPr/>
          <p:nvPr/>
        </p:nvSpPr>
        <p:spPr>
          <a:xfrm>
            <a:off x="502920" y="3611880"/>
            <a:ext cx="74980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9496" y="3630168"/>
            <a:ext cx="676656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CR-05</a:t>
            </a:r>
            <a:endParaRPr lang="en-US" sz="810" dirty="0"/>
          </a:p>
        </p:txBody>
      </p:sp>
      <p:sp>
        <p:nvSpPr>
          <p:cNvPr id="47" name="Shape 45"/>
          <p:cNvSpPr/>
          <p:nvPr/>
        </p:nvSpPr>
        <p:spPr>
          <a:xfrm>
            <a:off x="1252728" y="3611880"/>
            <a:ext cx="960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289304" y="3630168"/>
            <a:ext cx="88696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</a:t>
            </a:r>
            <a:endParaRPr lang="en-US" sz="810" dirty="0"/>
          </a:p>
        </p:txBody>
      </p:sp>
      <p:sp>
        <p:nvSpPr>
          <p:cNvPr id="49" name="Shape 47"/>
          <p:cNvSpPr/>
          <p:nvPr/>
        </p:nvSpPr>
        <p:spPr>
          <a:xfrm>
            <a:off x="2212848" y="3611880"/>
            <a:ext cx="56235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249424" y="3630168"/>
            <a:ext cx="555040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o_irq와 o_irq_pipe 의미가 분리되지 않음</a:t>
            </a:r>
            <a:endParaRPr lang="en-US" sz="810" dirty="0"/>
          </a:p>
        </p:txBody>
      </p:sp>
      <p:sp>
        <p:nvSpPr>
          <p:cNvPr id="51" name="Shape 49"/>
          <p:cNvSpPr/>
          <p:nvPr/>
        </p:nvSpPr>
        <p:spPr>
          <a:xfrm>
            <a:off x="7836408" y="3611880"/>
            <a:ext cx="4160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872984" y="3630168"/>
            <a:ext cx="408736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IRQ source/clear 계약 작성</a:t>
            </a:r>
            <a:endParaRPr lang="en-US" sz="810" dirty="0"/>
          </a:p>
        </p:txBody>
      </p:sp>
      <p:sp>
        <p:nvSpPr>
          <p:cNvPr id="53" name="Shape 51"/>
          <p:cNvSpPr/>
          <p:nvPr/>
        </p:nvSpPr>
        <p:spPr>
          <a:xfrm>
            <a:off x="502920" y="4087368"/>
            <a:ext cx="74980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9496" y="4105656"/>
            <a:ext cx="676656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CR-06</a:t>
            </a:r>
            <a:endParaRPr lang="en-US" sz="810" dirty="0"/>
          </a:p>
        </p:txBody>
      </p:sp>
      <p:sp>
        <p:nvSpPr>
          <p:cNvPr id="55" name="Shape 53"/>
          <p:cNvSpPr/>
          <p:nvPr/>
        </p:nvSpPr>
        <p:spPr>
          <a:xfrm>
            <a:off x="1252728" y="4087368"/>
            <a:ext cx="960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289304" y="4105656"/>
            <a:ext cx="88696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P3</a:t>
            </a:r>
            <a:endParaRPr lang="en-US" sz="810" dirty="0"/>
          </a:p>
        </p:txBody>
      </p:sp>
      <p:sp>
        <p:nvSpPr>
          <p:cNvPr id="57" name="Shape 55"/>
          <p:cNvSpPr/>
          <p:nvPr/>
        </p:nvSpPr>
        <p:spPr>
          <a:xfrm>
            <a:off x="2212848" y="4087368"/>
            <a:ext cx="56235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249424" y="4105656"/>
            <a:ext cx="555040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 source/clear가 여러 module에 분산</a:t>
            </a:r>
            <a:endParaRPr lang="en-US" sz="810" dirty="0"/>
          </a:p>
        </p:txBody>
      </p:sp>
      <p:sp>
        <p:nvSpPr>
          <p:cNvPr id="59" name="Shape 57"/>
          <p:cNvSpPr/>
          <p:nvPr/>
        </p:nvSpPr>
        <p:spPr>
          <a:xfrm>
            <a:off x="7836408" y="4087368"/>
            <a:ext cx="4160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872984" y="4105656"/>
            <a:ext cx="408736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 map 작성</a:t>
            </a:r>
            <a:endParaRPr lang="en-US" sz="810" dirty="0"/>
          </a:p>
        </p:txBody>
      </p:sp>
      <p:sp>
        <p:nvSpPr>
          <p:cNvPr id="61" name="Shape 59"/>
          <p:cNvSpPr/>
          <p:nvPr/>
        </p:nvSpPr>
        <p:spPr>
          <a:xfrm>
            <a:off x="502920" y="4562856"/>
            <a:ext cx="74980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39496" y="4581144"/>
            <a:ext cx="676656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CR-07</a:t>
            </a:r>
            <a:endParaRPr lang="en-US" sz="810" dirty="0"/>
          </a:p>
        </p:txBody>
      </p:sp>
      <p:sp>
        <p:nvSpPr>
          <p:cNvPr id="63" name="Shape 61"/>
          <p:cNvSpPr/>
          <p:nvPr/>
        </p:nvSpPr>
        <p:spPr>
          <a:xfrm>
            <a:off x="1252728" y="4562856"/>
            <a:ext cx="960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289304" y="4581144"/>
            <a:ext cx="88696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P3</a:t>
            </a:r>
            <a:endParaRPr lang="en-US" sz="810" dirty="0"/>
          </a:p>
        </p:txBody>
      </p:sp>
      <p:sp>
        <p:nvSpPr>
          <p:cNvPr id="65" name="Shape 63"/>
          <p:cNvSpPr/>
          <p:nvPr/>
        </p:nvSpPr>
        <p:spPr>
          <a:xfrm>
            <a:off x="2212848" y="4562856"/>
            <a:ext cx="56235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249424" y="4581144"/>
            <a:ext cx="555040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fall-only abort는 의도 같지만 검증 필요</a:t>
            </a:r>
            <a:endParaRPr lang="en-US" sz="810" dirty="0"/>
          </a:p>
        </p:txBody>
      </p:sp>
      <p:sp>
        <p:nvSpPr>
          <p:cNvPr id="67" name="Shape 65"/>
          <p:cNvSpPr/>
          <p:nvPr/>
        </p:nvSpPr>
        <p:spPr>
          <a:xfrm>
            <a:off x="7836408" y="4562856"/>
            <a:ext cx="4160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872984" y="4581144"/>
            <a:ext cx="408736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VB-C06-03 수행</a:t>
            </a:r>
            <a:endParaRPr lang="en-US" sz="810" dirty="0"/>
          </a:p>
        </p:txBody>
      </p:sp>
      <p:sp>
        <p:nvSpPr>
          <p:cNvPr id="69" name="Shape 67"/>
          <p:cNvSpPr/>
          <p:nvPr/>
        </p:nvSpPr>
        <p:spPr>
          <a:xfrm>
            <a:off x="777240" y="5440680"/>
            <a:ext cx="10652760" cy="713232"/>
          </a:xfrm>
          <a:prstGeom prst="roundRect">
            <a:avLst>
              <a:gd name="adj" fmla="val 7692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41248" y="5495544"/>
            <a:ext cx="10524744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 결론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C06은 수정 전 baseline 측정이 먼저 필요하다. 특히 start gating register화는 T2를 +1 clock 이동시킬 수 있어 변경 전/후 비교 근거가 필요하다.</a:t>
            </a:r>
            <a:endParaRPr lang="en-US" sz="1020" dirty="0"/>
          </a:p>
        </p:txBody>
      </p:sp>
      <p:sp>
        <p:nvSpPr>
          <p:cNvPr id="71" name="Text 69"/>
          <p:cNvSpPr/>
          <p:nvPr/>
        </p:nvSpPr>
        <p:spPr>
          <a:xfrm>
            <a:off x="594360" y="6382512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Findings: F-C06-CR-01..07</a:t>
            </a:r>
            <a:endParaRPr lang="en-US" sz="7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12014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T0~T6 Timing 관점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1099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 완료 판정은 output tlast가 아니라 다음 start 수락 가능 시점까지 봐야 한다.</a:t>
            </a:r>
            <a:endParaRPr lang="en-US" sz="94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057400"/>
            <a:ext cx="1051560" cy="658368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112264"/>
            <a:ext cx="923544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start_tdc</a:t>
            </a:r>
            <a:endParaRPr lang="en-US" sz="940" dirty="0"/>
          </a:p>
        </p:txBody>
      </p:sp>
      <p:sp>
        <p:nvSpPr>
          <p:cNvPr id="7" name="Shape 5"/>
          <p:cNvSpPr/>
          <p:nvPr/>
        </p:nvSpPr>
        <p:spPr>
          <a:xfrm>
            <a:off x="1755648" y="2386584"/>
            <a:ext cx="22860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057400" y="2057400"/>
            <a:ext cx="1051560" cy="658368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21408" y="2112264"/>
            <a:ext cx="923544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packet_start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3127248" y="2386584"/>
            <a:ext cx="36576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566160" y="2057400"/>
            <a:ext cx="1051560" cy="658368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0168" y="2112264"/>
            <a:ext cx="923544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T2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chip start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4636008" y="2386584"/>
            <a:ext cx="36576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74920" y="2057400"/>
            <a:ext cx="1051560" cy="658368"/>
          </a:xfrm>
          <a:prstGeom prst="roundRect">
            <a:avLst>
              <a:gd name="adj" fmla="val 8333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38928" y="2112264"/>
            <a:ext cx="923544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T3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first beat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6144768" y="2386584"/>
            <a:ext cx="36576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583680" y="2057400"/>
            <a:ext cx="1051560" cy="658368"/>
          </a:xfrm>
          <a:prstGeom prst="roundRect">
            <a:avLst>
              <a:gd name="adj" fmla="val 8333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47688" y="2112264"/>
            <a:ext cx="923544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T4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tlast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7653528" y="2386584"/>
            <a:ext cx="36576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092440" y="2057400"/>
            <a:ext cx="1051560" cy="658368"/>
          </a:xfrm>
          <a:prstGeom prst="roundRect">
            <a:avLst>
              <a:gd name="adj" fmla="val 8333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56448" y="2112264"/>
            <a:ext cx="923544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T5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frame_done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9162288" y="2386584"/>
            <a:ext cx="32004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555480" y="2057400"/>
            <a:ext cx="1051560" cy="658368"/>
          </a:xfrm>
          <a:prstGeom prst="roundRect">
            <a:avLst>
              <a:gd name="adj" fmla="val 8333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19488" y="2112264"/>
            <a:ext cx="923544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T6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 start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713232" y="3154680"/>
            <a:ext cx="10305288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246120"/>
            <a:ext cx="9144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</a:t>
            </a:r>
            <a:endParaRPr lang="en-US" sz="830" dirty="0"/>
          </a:p>
        </p:txBody>
      </p:sp>
      <p:sp>
        <p:nvSpPr>
          <p:cNvPr id="27" name="Text 25"/>
          <p:cNvSpPr/>
          <p:nvPr/>
        </p:nvSpPr>
        <p:spPr>
          <a:xfrm>
            <a:off x="3246120" y="3246120"/>
            <a:ext cx="2103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GPX read / C02 / C03</a:t>
            </a:r>
            <a:endParaRPr lang="en-US" sz="830" dirty="0"/>
          </a:p>
        </p:txBody>
      </p:sp>
      <p:sp>
        <p:nvSpPr>
          <p:cNvPr id="28" name="Text 26"/>
          <p:cNvSpPr/>
          <p:nvPr/>
        </p:nvSpPr>
        <p:spPr>
          <a:xfrm>
            <a:off x="6217920" y="3246120"/>
            <a:ext cx="24688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 final AXIS + ready</a:t>
            </a:r>
            <a:endParaRPr lang="en-US" sz="830" dirty="0"/>
          </a:p>
        </p:txBody>
      </p:sp>
      <p:sp>
        <p:nvSpPr>
          <p:cNvPr id="29" name="Text 27"/>
          <p:cNvSpPr/>
          <p:nvPr/>
        </p:nvSpPr>
        <p:spPr>
          <a:xfrm>
            <a:off x="9098280" y="3246120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 / rearm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822960" y="3977640"/>
            <a:ext cx="33375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6968" y="4032504"/>
            <a:ext cx="3209544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운용 budget</a:t>
            </a:r>
            <a:endParaRPr lang="en-US" sz="1010" dirty="0"/>
          </a:p>
          <a:p>
            <a:pPr algn="ctr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13.888889 us - 8 us reserve - 왕복거리시간</a:t>
            </a:r>
            <a:endParaRPr lang="en-US" sz="1010" dirty="0"/>
          </a:p>
        </p:txBody>
      </p:sp>
      <p:sp>
        <p:nvSpPr>
          <p:cNvPr id="32" name="Shape 30"/>
          <p:cNvSpPr/>
          <p:nvPr/>
        </p:nvSpPr>
        <p:spPr>
          <a:xfrm>
            <a:off x="4434840" y="3977640"/>
            <a:ext cx="3840480" cy="749808"/>
          </a:xfrm>
          <a:prstGeom prst="roundRect">
            <a:avLst>
              <a:gd name="adj" fmla="val 7317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98848" y="4032504"/>
            <a:ext cx="3712464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 조건</a:t>
            </a:r>
            <a:endParaRPr lang="en-US" sz="1010" dirty="0"/>
          </a:p>
          <a:p>
            <a:pPr algn="ctr" indent="0" marL="0">
              <a:buNone/>
            </a:pPr>
            <a:r>
              <a:rPr lang="en-US" sz="101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T0→T6 measured latency + ready stall penalty ≤ usable processing time</a:t>
            </a:r>
            <a:endParaRPr lang="en-US" sz="1010" dirty="0"/>
          </a:p>
        </p:txBody>
      </p:sp>
      <p:sp>
        <p:nvSpPr>
          <p:cNvPr id="34" name="Shape 32"/>
          <p:cNvSpPr/>
          <p:nvPr/>
        </p:nvSpPr>
        <p:spPr>
          <a:xfrm>
            <a:off x="8549640" y="3977640"/>
            <a:ext cx="2880360" cy="749808"/>
          </a:xfrm>
          <a:prstGeom prst="roundRect">
            <a:avLst>
              <a:gd name="adj" fmla="val 7317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13648" y="4032504"/>
            <a:ext cx="2752344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필요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32/64/128 width, max_hits_cfg, 거리, tready pattern 동시 sweep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594360" y="6382512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Timing / Latency / Throughput / Pipeline / II</a:t>
            </a:r>
            <a:endParaRPr lang="en-US" sz="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12014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Start/Face 제어 경계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1099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packet_start는 register로 닫혔지만, final start qualifier는 아직 조합 경계다.</a:t>
            </a:r>
            <a:endParaRPr lang="en-US" sz="94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28800"/>
            <a:ext cx="16002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883664"/>
            <a:ext cx="1472184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shot edge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s_shot_raw_pulse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331720" y="2139696"/>
            <a:ext cx="45720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788920" y="1691640"/>
            <a:ext cx="1874520" cy="896112"/>
          </a:xfrm>
          <a:prstGeom prst="roundRect">
            <a:avLst>
              <a:gd name="adj" fmla="val 6122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52928" y="1746504"/>
            <a:ext cx="1746504" cy="7863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multi-condition gate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s_packet_start_comb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2139696"/>
            <a:ext cx="50292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166360" y="1783080"/>
            <a:ext cx="1600200" cy="713232"/>
          </a:xfrm>
          <a:prstGeom prst="roundRect">
            <a:avLst>
              <a:gd name="adj" fmla="val 7692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30368" y="1837944"/>
            <a:ext cx="1472184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register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s_packet_start_r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766560" y="2139696"/>
            <a:ext cx="50292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269480" y="1618488"/>
            <a:ext cx="2057400" cy="1042416"/>
          </a:xfrm>
          <a:prstGeom prst="roundRect">
            <a:avLst>
              <a:gd name="adj" fmla="val 5263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33488" y="1673352"/>
            <a:ext cx="1929384" cy="9326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pending/closing/abort qualifier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s_shot_start_gated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9326880" y="2139696"/>
            <a:ext cx="502920" cy="0"/>
          </a:xfrm>
          <a:prstGeom prst="line">
            <a:avLst/>
          </a:prstGeom>
          <a:noFill/>
          <a:ln w="1778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829800" y="1783080"/>
            <a:ext cx="1600200" cy="713232"/>
          </a:xfrm>
          <a:prstGeom prst="roundRect">
            <a:avLst>
              <a:gd name="adj" fmla="val 7692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93808" y="1837944"/>
            <a:ext cx="1472184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module outputs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o_shot_start_*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914400" y="3794760"/>
            <a:ext cx="3611880" cy="768096"/>
          </a:xfrm>
          <a:prstGeom prst="roundRect">
            <a:avLst>
              <a:gd name="adj" fmla="val 7143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8408" y="3849624"/>
            <a:ext cx="3483864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 판단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shot_start_gated / face_start_gated / per-chip start를 register boundary로 닫는다.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3794760"/>
            <a:ext cx="3611880" cy="768096"/>
          </a:xfrm>
          <a:prstGeom prst="roundRect">
            <a:avLst>
              <a:gd name="adj" fmla="val 7143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3849624"/>
            <a:ext cx="3483864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 영향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start가 1 clock 늦어질 수 있으므로 baseline T0~T6와 수정 후 T0~T6를 비교해야 한다.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503920" y="3794760"/>
            <a:ext cx="2743200" cy="768096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67928" y="3849624"/>
            <a:ext cx="2615184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연결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VB-C06-01 normal, VB-C06-02 drain 중 next start, VB-C06-03 rise/fall imbalance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594360" y="6382512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 refs: tdc_gpx_face_seq.vhd:515-535, 674-693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12014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 / IRQ 계약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1099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SW가 읽는 status와 interrupt source를 같은 의미로 착각하지 않게 분리해야 한다.</a:t>
            </a:r>
            <a:endParaRPr lang="en-US" sz="94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08760"/>
            <a:ext cx="2057400" cy="804672"/>
          </a:xfrm>
          <a:prstGeom prst="roundRect">
            <a:avLst>
              <a:gd name="adj" fmla="val 6818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563624"/>
            <a:ext cx="1929384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status_agg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busy/overrun/error count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834640" y="1911096"/>
            <a:ext cx="59436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429000" y="1508760"/>
            <a:ext cx="2057400" cy="804672"/>
          </a:xfrm>
          <a:prstGeom prst="roundRect">
            <a:avLst>
              <a:gd name="adj" fmla="val 6818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93008" y="1563624"/>
            <a:ext cx="1929384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tdc_gpx_top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extra sticky fields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0" y="1911096"/>
            <a:ext cx="594360" cy="0"/>
          </a:xfrm>
          <a:prstGeom prst="line">
            <a:avLst/>
          </a:prstGeom>
          <a:noFill/>
          <a:ln w="1778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080760" y="1508760"/>
            <a:ext cx="2057400" cy="804672"/>
          </a:xfrm>
          <a:prstGeom prst="roundRect">
            <a:avLst>
              <a:gd name="adj" fmla="val 6818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44768" y="1563624"/>
            <a:ext cx="1929384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csr_pipeline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STAT5/6/7 packing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138160" y="1911096"/>
            <a:ext cx="594360" cy="0"/>
          </a:xfrm>
          <a:prstGeom prst="line">
            <a:avLst/>
          </a:prstGeom>
          <a:noFill/>
          <a:ln w="1778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732520" y="1508760"/>
            <a:ext cx="205740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96528" y="1563624"/>
            <a:ext cx="1929384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 visible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AXI4-Lite status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051560" y="3154680"/>
            <a:ext cx="2331720" cy="713232"/>
          </a:xfrm>
          <a:prstGeom prst="roundRect">
            <a:avLst>
              <a:gd name="adj" fmla="val 7692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15568" y="3209544"/>
            <a:ext cx="2203704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csr_pipeline IRQ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intrpt_src_in = 0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383280" y="3511296"/>
            <a:ext cx="822960" cy="0"/>
          </a:xfrm>
          <a:prstGeom prst="line">
            <a:avLst/>
          </a:prstGeom>
          <a:noFill/>
          <a:ln w="1778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206240" y="3154680"/>
            <a:ext cx="2240280" cy="713232"/>
          </a:xfrm>
          <a:prstGeom prst="roundRect">
            <a:avLst>
              <a:gd name="adj" fmla="val 7692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70248" y="3209544"/>
            <a:ext cx="2112264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o_irq_pipe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사실상 reserved 후보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6537960" y="3154680"/>
            <a:ext cx="2331720" cy="713232"/>
          </a:xfrm>
          <a:prstGeom prst="roundRect">
            <a:avLst>
              <a:gd name="adj" fmla="val 7692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01968" y="3209544"/>
            <a:ext cx="2203704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config_ctrl IRQ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control/config CSR source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8869680" y="3511296"/>
            <a:ext cx="685800" cy="0"/>
          </a:xfrm>
          <a:prstGeom prst="line">
            <a:avLst/>
          </a:prstGeom>
          <a:noFill/>
          <a:ln w="17780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555480" y="3154680"/>
            <a:ext cx="1463040" cy="713232"/>
          </a:xfrm>
          <a:prstGeom prst="roundRect">
            <a:avLst>
              <a:gd name="adj" fmla="val 7692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19488" y="3209544"/>
            <a:ext cx="1335024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o_irq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IRQ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14400" y="4800600"/>
            <a:ext cx="102870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8408" y="4855464"/>
            <a:ext cx="10158984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필요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1) o_irq_pipe reserved/tied-off로 문서화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2) 또는 pipeline fault/done sticky를 OR한 registered IRQ로 재정의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4360" y="6382512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 refs: tdc_gpx_top.vhd:169-170, 465, 630 / csr_pipeline.vhd:345-346</a:t>
            </a:r>
            <a:endParaRPr lang="en-US" sz="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12014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 진행 순서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1099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바로 수정하기보다 baseline 측정 후 낮은 위험 수정부터 닫는 순서가 안전하다.</a:t>
            </a:r>
            <a:endParaRPr lang="en-US" sz="94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91640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746504"/>
            <a:ext cx="310896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44168" y="1673352"/>
            <a:ext cx="1417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Baseline 측정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344168" y="1929384"/>
            <a:ext cx="14173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T0~T6, ready stall, sticky/IRQ 현재값</a:t>
            </a:r>
            <a:endParaRPr lang="en-US" sz="770" dirty="0"/>
          </a:p>
        </p:txBody>
      </p:sp>
      <p:sp>
        <p:nvSpPr>
          <p:cNvPr id="9" name="Shape 7"/>
          <p:cNvSpPr/>
          <p:nvPr/>
        </p:nvSpPr>
        <p:spPr>
          <a:xfrm>
            <a:off x="2670048" y="1911096"/>
            <a:ext cx="320040" cy="384048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017520" y="2075688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81528" y="2130552"/>
            <a:ext cx="310896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84448" y="2057400"/>
            <a:ext cx="1417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Status/IRQ 계약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84448" y="2313432"/>
            <a:ext cx="14173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STAT5/6/7, o_irq, o_irq_pipe, clear source</a:t>
            </a:r>
            <a:endParaRPr lang="en-US" sz="770" dirty="0"/>
          </a:p>
        </p:txBody>
      </p:sp>
      <p:sp>
        <p:nvSpPr>
          <p:cNvPr id="14" name="Shape 12"/>
          <p:cNvSpPr/>
          <p:nvPr/>
        </p:nvSpPr>
        <p:spPr>
          <a:xfrm>
            <a:off x="4910328" y="2295144"/>
            <a:ext cx="320040" cy="-384048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257800" y="1691640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21808" y="1746504"/>
            <a:ext cx="310896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24728" y="1673352"/>
            <a:ext cx="1417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낮은 위험 수정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824728" y="1929384"/>
            <a:ext cx="14173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status_agg busy/overrun register화</a:t>
            </a:r>
            <a:endParaRPr lang="en-US" sz="770" dirty="0"/>
          </a:p>
        </p:txBody>
      </p:sp>
      <p:sp>
        <p:nvSpPr>
          <p:cNvPr id="19" name="Shape 17"/>
          <p:cNvSpPr/>
          <p:nvPr/>
        </p:nvSpPr>
        <p:spPr>
          <a:xfrm>
            <a:off x="7150608" y="1911096"/>
            <a:ext cx="320040" cy="384048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498080" y="2075688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62088" y="2130552"/>
            <a:ext cx="310896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65008" y="2057400"/>
            <a:ext cx="1417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 경계 수정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065008" y="2313432"/>
            <a:ext cx="14173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shot/face start register화 여부 결정</a:t>
            </a:r>
            <a:endParaRPr lang="en-US" sz="770" dirty="0"/>
          </a:p>
        </p:txBody>
      </p:sp>
      <p:sp>
        <p:nvSpPr>
          <p:cNvPr id="24" name="Shape 22"/>
          <p:cNvSpPr/>
          <p:nvPr/>
        </p:nvSpPr>
        <p:spPr>
          <a:xfrm>
            <a:off x="9390888" y="2295144"/>
            <a:ext cx="320040" cy="-384048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738360" y="1691640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02368" y="1746504"/>
            <a:ext cx="310896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305288" y="1673352"/>
            <a:ext cx="1417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Sticky clear 정리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0305288" y="1929384"/>
            <a:ext cx="14173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soft_clear 통일 또는 reset-only 예외 문서화</a:t>
            </a:r>
            <a:endParaRPr lang="en-US" sz="770" dirty="0"/>
          </a:p>
        </p:txBody>
      </p:sp>
      <p:sp>
        <p:nvSpPr>
          <p:cNvPr id="29" name="Shape 27"/>
          <p:cNvSpPr/>
          <p:nvPr/>
        </p:nvSpPr>
        <p:spPr>
          <a:xfrm>
            <a:off x="1005840" y="3886200"/>
            <a:ext cx="2743200" cy="438912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42416" y="3904488"/>
            <a:ext cx="267004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Exit 기준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749040" y="3886200"/>
            <a:ext cx="7498080" cy="438912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85616" y="3904488"/>
            <a:ext cx="742492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근거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005840" y="4325112"/>
            <a:ext cx="2743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42416" y="4343400"/>
            <a:ext cx="267004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 수정 착수 가능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749040" y="4325112"/>
            <a:ext cx="7498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85616" y="4343400"/>
            <a:ext cx="742492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Baseline v001에서 정상/ready-stall/sticky/IRQ 관측 완료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005840" y="4764024"/>
            <a:ext cx="2743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42416" y="4782312"/>
            <a:ext cx="267004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 완료 가능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749040" y="4764024"/>
            <a:ext cx="7498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85616" y="4782312"/>
            <a:ext cx="742492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후 VB-C06-01/03/04/05/09/10 PASS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005840" y="5202936"/>
            <a:ext cx="2743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42416" y="5221224"/>
            <a:ext cx="267004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Cluster 진입 가능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749040" y="5202936"/>
            <a:ext cx="7498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785616" y="5221224"/>
            <a:ext cx="742492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T0→T6 II와 polygon budget이 32/64/128 폭별로 닫힘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94360" y="6382512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Recommended next artifact: C06_Verify_Baseline_v001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C06 Control Status Integration Code Review v001</dc:title>
  <dc:subject>C06 Control Status Integration Code Review v001</dc:subject>
  <dc:creator>Codex</dc:creator>
  <cp:lastModifiedBy>Codex</cp:lastModifiedBy>
  <cp:revision>1</cp:revision>
  <dcterms:created xsi:type="dcterms:W3CDTF">2026-05-11T07:35:49Z</dcterms:created>
  <dcterms:modified xsi:type="dcterms:W3CDTF">2026-05-11T07:35:49Z</dcterms:modified>
</cp:coreProperties>
</file>