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77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 /mnt/data/TDC-GPX-Datasheet.pdf, section 1.1 System overview, datasheet page 3.
- /mnt/data/tdc_gpx_top.vhd:6-23 (top-level scope and clock-domain description).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/mnt/data/tdc_gpx_top.vhd:6-17,398-866 (cluster map and instantiated pipeline blocks).
- /mnt/data/tdc_gpx_config_ctrl.vhd:6-25 (Cluster 1 composition and TDC/AXIS domains).
- /mnt/data/tdc_gpx_output_stage.vhd:6-17 (Cluster 4 composition).
- Uploaded file /mnt/data/TDC-GPX-Datasheet.pdf, section 1.1 System overview, datasheet page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 /mnt/data/TDC-GPX-Datasheet.pdf, section 2.1 Block diagram I-Mode (datasheet page 22), sections 2.3-2.4 I-Mode basics and data structure (datasheet pages 24-26).
- /mnt/data/tdc_gpx_decoder_i_mode.vhd:6-29 (raw IFIFO word field mapping and output semantics).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file /mnt/data/TDC-GPX-Datasheet.pdf, section 1.3.1 Bus Timings and OEN operations (datasheet pages 7-8).
- /mnt/data/tdc_gpx_bus_phy.vhd:10-47 (response interface and tick-phase timing model).
- /mnt/data/tdc_gpx_cfg_pkg.vhd:266-320 (legal bus timing combinations, min clamps, default bus timing reset value).
- /mnt/data/tdc_gpx_csr_chip.vhd:403 (reg14 init value 0x00000000).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/mnt/data/tdc_gpx_chip_ctrl.vhd:6-38 (coordinator responsibilities, PH_RESP_DRAIN, raw hold/skid).
- /mnt/data/tdc_gpx_chip_run.vhd:6-52 (ARMED/CAPTURE/DRAIN/ALU sequence and timeout causes).
- /mnt/data/tdc_gpx_stop_cfg_decode.vhd:10-19 (expected IFIFO counts are running totals reset on shot_start).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/mnt/data/tdc_gpx_decoder_i_mode.vhd:10-29 (input/output tuser semantics and I-mode raw field mapping).
- /mnt/data/tdc_gpx_raw_event_builder.vhd:6-27,55-78 (chip/shot context tagging and stop_id range check).
- /mnt/data/tdc_gpx_decode_pipe.vhd:1-8 (decoder_i_mode -&gt; raw_event_builder lane structure).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/mnt/data/tdc_gpx_cell_pipe.vhd:4-11,28-44 (slope demux and per-chip rise/fall builders).
- /mnt/data/tdc_gpx_cell_builder.vhd:6-44,65-76,93-105 (dual-buffer ownership, IFIFO1 early output, IFIFO2 wait/timeout, runtime beats per cell).
- /mnt/data/tdc_gpx_pkg.vhd:555-619 (cell layout and metadata fields).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/mnt/data/tdc_gpx_face_assembler.vhd:6-34,41-56 (strict in-order row assembly and blank-fill policy).
- /mnt/data/tdc_gpx_header_inserter.vhd:6-18,28-78 (48B header prefix, line structure, header field layout).
- /mnt/data/tdc_gpx_output_stage.vhd:6-17 (rising/falling duplicated output pipeline).
- /mnt/data/tdc_gpx_top.vhd:681-801 (output_stage integration and status signals).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/mnt/data/tdc_gpx_config_ctrl.vhd:21-44 (domain partition and reset-domain map).
- /mnt/data/tdc_gpx_bus_phy.vhd:10-18 (AXI response hold semantics).
- /mnt/data/tdc_gpx_chip_ctrl.vhd:12-38 (raw hold/skid and PH_RESP_DRAIN).
- /mnt/data/tdc_gpx_output_stage.vhd:11-17 (face FIFOs and duplicated rise/fall output path).
- /mnt/data/tdc_gpx_face_seq.vhd:6-20,44-80 (cmd_start acceptance, shot/face/frame sequencing outputs).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TDC-GPX 읽기 타이밍 &amp; 데이터 흐름 분석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업로드된 RTL과 TDC-GPX datasheet만 기준으로, 칩에서 데이터를 읽어 AXI-Stream으로 내보내는 경로를 한 번에 이해하도록 정리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RTL + Datasheet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66928" y="1353312"/>
            <a:ext cx="5394960" cy="4498848"/>
          </a:xfrm>
          <a:prstGeom prst="roundRect">
            <a:avLst>
              <a:gd name="adj" fmla="val 101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472184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PPT에서 보는 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5065776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TDC-GPX 칩 내부에서 Stop/Start가 IFIFO 데이터가 되는 경로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datasheet 버스 타이밍과 RTL bus_phy 샘플링 정책의 대응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chip_ctrl / chip_run FSM이 한 샷을 읽는 실제 순서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raw word → event → cell → face → AXI 출력으로 이어지는 가공 단계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클록 도메인, backpressure, watchdog이 어디서 설계를 지키는지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19088" y="1389888"/>
            <a:ext cx="5230368" cy="4370832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0" descr="/mnt/data/ds_pages/pag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463" y="1463040"/>
            <a:ext cx="3179618" cy="4114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5577840"/>
            <a:ext cx="508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system overview 중 데이터 생성/IFIFO/버스 블록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장으로 보는 전체 경로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 IFIFO 데이터가 RTL에서 해석되고, cell/face 조립을 거쳐 최종 AXI-Stream line으로 재패킹되는 구조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1920240" cy="640080"/>
          </a:xfrm>
          <a:prstGeom prst="roundRect">
            <a:avLst>
              <a:gd name="adj" fmla="val 7143"/>
            </a:avLst>
          </a:prstGeom>
          <a:solidFill>
            <a:srgbClr val="F4F0FF"/>
          </a:solidFill>
          <a:ln w="12700">
            <a:solidFill>
              <a:srgbClr val="D9C9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csr_pipeline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22960" y="1664208"/>
            <a:ext cx="1591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AXI-Lite CSR / start-stop / soft clear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84064" y="1225296"/>
            <a:ext cx="1993392" cy="749808"/>
          </a:xfrm>
          <a:prstGeom prst="roundRect">
            <a:avLst>
              <a:gd name="adj" fmla="val 6098"/>
            </a:avLst>
          </a:prstGeom>
          <a:solidFill>
            <a:srgbClr val="F4F0FF"/>
          </a:solidFill>
          <a:ln w="12700">
            <a:solidFill>
              <a:srgbClr val="D9C9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48656" y="13441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face_seq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248656" y="1591056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 / face / frame 시퀀싱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28048" y="1298448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4F0FF"/>
          </a:solidFill>
          <a:ln w="12700">
            <a:solidFill>
              <a:srgbClr val="D9C9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0" y="141732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status_agg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692640" y="1664208"/>
            <a:ext cx="14996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sticky / error / timestamp 요약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18488" y="1938528"/>
            <a:ext cx="0" cy="4754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1975104"/>
            <a:ext cx="0" cy="43891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442448" y="1938528"/>
            <a:ext cx="0" cy="4754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2596896"/>
            <a:ext cx="1755648" cy="2267712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271576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TDC-GPX x4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7512" y="2962656"/>
            <a:ext cx="1426464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 FIFO / IFIFO1 / IFIFO2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EF/LF/IrFlag로 읽기 시점 노출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28-bit async bus 데이터 소스</a:t>
            </a:r>
            <a:endParaRPr lang="en-US" sz="1160" dirty="0"/>
          </a:p>
        </p:txBody>
      </p:sp>
      <p:pic>
        <p:nvPicPr>
          <p:cNvPr id="23" name="Image 0" descr="/mnt/data/ds_pages/pag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16" y="3675888"/>
            <a:ext cx="650055" cy="8412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615184" y="2596896"/>
            <a:ext cx="1938528" cy="2267712"/>
          </a:xfrm>
          <a:prstGeom prst="roundRect">
            <a:avLst>
              <a:gd name="adj" fmla="val 2358"/>
            </a:avLst>
          </a:prstGeom>
          <a:solidFill>
            <a:srgbClr val="DCE8FF"/>
          </a:solidFill>
          <a:ln w="12700">
            <a:solidFill>
              <a:srgbClr val="BFD3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779776" y="27157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2779776" y="2962656"/>
            <a:ext cx="1609344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cmd_arb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stop_cfg_decode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x4 + chip_ctrl x4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CDC x4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910328" y="2596896"/>
            <a:ext cx="1938528" cy="2267712"/>
          </a:xfrm>
          <a:prstGeom prst="roundRect">
            <a:avLst>
              <a:gd name="adj" fmla="val 2358"/>
            </a:avLst>
          </a:prstGeom>
          <a:solidFill>
            <a:srgbClr val="D9F3EF"/>
          </a:solidFill>
          <a:ln w="12700">
            <a:solidFill>
              <a:srgbClr val="BEE7D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74920" y="27157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decode_pipe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5074920" y="2962656"/>
            <a:ext cx="1609344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skid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7205472" y="2596896"/>
            <a:ext cx="1938528" cy="2267712"/>
          </a:xfrm>
          <a:prstGeom prst="roundRect">
            <a:avLst>
              <a:gd name="adj" fmla="val 2358"/>
            </a:avLst>
          </a:prstGeom>
          <a:solidFill>
            <a:srgbClr val="DDF4E5"/>
          </a:solidFill>
          <a:ln w="12700">
            <a:solidFill>
              <a:srgbClr val="C6E8D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370064" y="27157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7370064" y="2962656"/>
            <a:ext cx="1609344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slope demux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x8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(4 rise + 4 fall)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9500616" y="2596896"/>
            <a:ext cx="2139696" cy="2267712"/>
          </a:xfrm>
          <a:prstGeom prst="roundRect">
            <a:avLst>
              <a:gd name="adj" fmla="val 2137"/>
            </a:avLst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665208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output_stage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9665208" y="2962656"/>
            <a:ext cx="1810512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 x2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 FIFO x2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 x2</a:t>
            </a:r>
            <a:endParaRPr lang="en-US" sz="1140" dirty="0"/>
          </a:p>
        </p:txBody>
      </p:sp>
      <p:sp>
        <p:nvSpPr>
          <p:cNvPr id="36" name="Shape 33"/>
          <p:cNvSpPr/>
          <p:nvPr/>
        </p:nvSpPr>
        <p:spPr>
          <a:xfrm>
            <a:off x="2295144" y="3730752"/>
            <a:ext cx="26517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4590288" y="3730752"/>
            <a:ext cx="26517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885432" y="3730752"/>
            <a:ext cx="26517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180576" y="3730752"/>
            <a:ext cx="26517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49808" y="5376672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" y="549554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해석</a:t>
            </a:r>
            <a:endParaRPr lang="en-US" sz="1380" dirty="0"/>
          </a:p>
        </p:txBody>
      </p:sp>
      <p:sp>
        <p:nvSpPr>
          <p:cNvPr id="42" name="Text 39"/>
          <p:cNvSpPr/>
          <p:nvPr/>
        </p:nvSpPr>
        <p:spPr>
          <a:xfrm>
            <a:off x="914400" y="5742432"/>
            <a:ext cx="106436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RTL의 데이터 의미는 I-mode 28-bit IFIFO raw word에서 시작한다. 의미 부여는 decode_pipe에서, dense cell과 row/face 조립은 cell_pipe와 output_stage에서 일어난다.</a:t>
            </a:r>
            <a:endParaRPr lang="en-US" sz="11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내부에서 무엇이 IFIFO 데이터가 되나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datasheet의 I-mode 블록도와 RTL의 decoder_i_mode 주석을 겹쳐 보면, 현재 읽기 파이프라인은 28-bit IFIFO raw word를 기준으로 설계돼 있다.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I-mode view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20624" y="1353312"/>
            <a:ext cx="6355080" cy="4169664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ds_pages2/page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079" y="1426464"/>
            <a:ext cx="3024170" cy="3913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" y="5340096"/>
            <a:ext cx="6208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I-mode block diagram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059168" y="1426464"/>
            <a:ext cx="4315968" cy="713232"/>
          </a:xfrm>
          <a:prstGeom prst="roundRect">
            <a:avLst>
              <a:gd name="adj" fmla="val 6410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15453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입력 timestamp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7223760" y="1792224"/>
            <a:ext cx="3986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TStart/TStop가 Measurement Core에 들어가고, stop hit는 per-channel Hit FIFO에 쌓인다.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059168" y="2231136"/>
            <a:ext cx="4315968" cy="713232"/>
          </a:xfrm>
          <a:prstGeom prst="roundRect">
            <a:avLst>
              <a:gd name="adj" fmla="val 6410"/>
            </a:avLst>
          </a:prstGeom>
          <a:solidFill>
            <a:srgbClr val="D9F3EF"/>
          </a:solidFill>
          <a:ln w="12700">
            <a:solidFill>
              <a:srgbClr val="D9F3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235000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내부 후처리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23760" y="2596896"/>
            <a:ext cx="3986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post-processing이 compression, Stop-Start subtraction, data structure assembly를 수행한다.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059168" y="3035808"/>
            <a:ext cx="4315968" cy="713232"/>
          </a:xfrm>
          <a:prstGeom prst="roundRect">
            <a:avLst>
              <a:gd name="adj" fmla="val 6410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315468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IFIFO 이중화</a:t>
            </a:r>
            <a:endParaRPr lang="en-US" sz="1360" dirty="0"/>
          </a:p>
        </p:txBody>
      </p:sp>
      <p:sp>
        <p:nvSpPr>
          <p:cNvPr id="19" name="Text 16"/>
          <p:cNvSpPr/>
          <p:nvPr/>
        </p:nvSpPr>
        <p:spPr>
          <a:xfrm>
            <a:off x="7223760" y="3401568"/>
            <a:ext cx="3986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결과는 Interface FIFO1/2로 분배되고, 외부에서는 EF/LF/IrFlag로 상태를 본다.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059168" y="3840480"/>
            <a:ext cx="4315968" cy="713232"/>
          </a:xfrm>
          <a:prstGeom prst="roundRect">
            <a:avLst>
              <a:gd name="adj" fmla="val 6410"/>
            </a:avLst>
          </a:prstGeom>
          <a:solidFill>
            <a:srgbClr val="FCEFD3"/>
          </a:solidFill>
          <a:ln w="12700">
            <a:solidFill>
              <a:srgbClr val="FCEF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395935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버스 읽기 대상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7223760" y="4206240"/>
            <a:ext cx="3986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FPGA는 register 8/9 방향의 IFIFO data read를 수행해 raw word를 가져온다.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7059168" y="4645152"/>
            <a:ext cx="4315968" cy="713232"/>
          </a:xfrm>
          <a:prstGeom prst="roundRect">
            <a:avLst>
              <a:gd name="adj" fmla="val 6410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47640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RTL 해석 기준</a:t>
            </a:r>
            <a:endParaRPr lang="en-US" sz="1360" dirty="0"/>
          </a:p>
        </p:txBody>
      </p:sp>
      <p:sp>
        <p:nvSpPr>
          <p:cNvPr id="25" name="Text 22"/>
          <p:cNvSpPr/>
          <p:nvPr/>
        </p:nvSpPr>
        <p:spPr>
          <a:xfrm>
            <a:off x="7223760" y="5010912"/>
            <a:ext cx="3986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decoder_i_mode가 [27:26]=ChaCode, [25:18]=Start#, [17]=Slope, [16:0]=Hit 형식을 그대로 해석한다.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03504" y="5596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I-mode raw word 비트 의미</a:t>
            </a:r>
            <a:endParaRPr lang="en-US" sz="1240" dirty="0"/>
          </a:p>
        </p:txBody>
      </p:sp>
      <p:sp>
        <p:nvSpPr>
          <p:cNvPr id="27" name="Shape 24"/>
          <p:cNvSpPr/>
          <p:nvPr/>
        </p:nvSpPr>
        <p:spPr>
          <a:xfrm>
            <a:off x="2816352" y="5760720"/>
            <a:ext cx="914400" cy="347472"/>
          </a:xfrm>
          <a:prstGeom prst="rect">
            <a:avLst/>
          </a:prstGeom>
          <a:solidFill>
            <a:srgbClr val="DCE8FF"/>
          </a:solidFill>
          <a:ln w="12700">
            <a:solidFill>
              <a:srgbClr val="AAC5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6352" y="58521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F6B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[27:26] ChaCode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3730752" y="5760720"/>
            <a:ext cx="1234440" cy="347472"/>
          </a:xfrm>
          <a:prstGeom prst="rect">
            <a:avLst/>
          </a:prstGeom>
          <a:solidFill>
            <a:srgbClr val="EDE4FF"/>
          </a:solidFill>
          <a:ln w="12700">
            <a:solidFill>
              <a:srgbClr val="D4C3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30752" y="58521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7C3AED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[25:18] Start#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4965192" y="5760720"/>
            <a:ext cx="694944" cy="347472"/>
          </a:xfrm>
          <a:prstGeom prst="rect">
            <a:avLst/>
          </a:prstGeom>
          <a:solidFill>
            <a:srgbClr val="D9F3EF"/>
          </a:solidFill>
          <a:ln w="12700">
            <a:solidFill>
              <a:srgbClr val="B8E7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65192" y="585216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0F9D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[17] Slope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5660136" y="5760720"/>
            <a:ext cx="2340864" cy="347472"/>
          </a:xfrm>
          <a:prstGeom prst="rect">
            <a:avLst/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0136" y="5852160"/>
            <a:ext cx="2340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F59E0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[16:0] Hit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8211312" y="57790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decoder_i_mode는 이 raw word를 먼저 event semantic으로 바꾼 뒤, 다음 단계에서 chip/shot 컨텍스트를 추가한다.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 병렬 버스 타이밍: datasheet 제약과 RTL 샘플링 정책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“언제 RDN/WRN을 내리고, 언제 데이터를 샘플링하느냐”다. bus_phy는 datasheet timing을 tick 기반 상태기로 구현한다.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 timing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20624" y="1353312"/>
            <a:ext cx="4315968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/mnt/data/ds_pages/pag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638" y="1426464"/>
            <a:ext cx="1603941" cy="20756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" y="3502152"/>
            <a:ext cx="4169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read timing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0624" y="3913632"/>
            <a:ext cx="4315968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mnt/data/ds_pages/page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001" y="3986784"/>
            <a:ext cx="989215" cy="1280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" y="5266944"/>
            <a:ext cx="4169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OEN permanent / fake-read 개념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5029200" y="1353312"/>
            <a:ext cx="6729984" cy="5321808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193792" y="1472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RTL이 실제로 맞추는 타이밍 포인트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03520" y="1737360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68112" y="18562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tS-AD &gt;= 2ns</a:t>
            </a:r>
            <a:endParaRPr lang="en-US" sz="1340" dirty="0"/>
          </a:p>
        </p:txBody>
      </p:sp>
      <p:sp>
        <p:nvSpPr>
          <p:cNvPr id="18" name="Text 14"/>
          <p:cNvSpPr/>
          <p:nvPr/>
        </p:nvSpPr>
        <p:spPr>
          <a:xfrm>
            <a:off x="5468112" y="2103120"/>
            <a:ext cx="2414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tick 0를 ADR setup phase로 고정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540496" y="1737360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05088" y="18562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tPW-RL &gt;= 6ns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8705088" y="2103120"/>
            <a:ext cx="2414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tick 1..N-2 동안 RDN/WRN low 유지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303520" y="2578608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68112" y="269748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tV-DR &lt;= 11.8ns</a:t>
            </a:r>
            <a:endParaRPr lang="en-US" sz="1340" dirty="0"/>
          </a:p>
        </p:txBody>
      </p:sp>
      <p:sp>
        <p:nvSpPr>
          <p:cNvPr id="24" name="Text 20"/>
          <p:cNvSpPr/>
          <p:nvPr/>
        </p:nvSpPr>
        <p:spPr>
          <a:xfrm>
            <a:off x="5468112" y="2944368"/>
            <a:ext cx="2414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tick을 N-2에 배치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540496" y="2578608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705088" y="269748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tPW-RH &gt;= 6ns</a:t>
            </a:r>
            <a:endParaRPr lang="en-US" sz="1340" dirty="0"/>
          </a:p>
        </p:txBody>
      </p:sp>
      <p:sp>
        <p:nvSpPr>
          <p:cNvPr id="27" name="Text 23"/>
          <p:cNvSpPr/>
          <p:nvPr/>
        </p:nvSpPr>
        <p:spPr>
          <a:xfrm>
            <a:off x="8705088" y="2944368"/>
            <a:ext cx="2414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burst 사이 high gap 2 tick 확보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321808" y="3401568"/>
            <a:ext cx="6144768" cy="457200"/>
          </a:xfrm>
          <a:prstGeom prst="roundRect">
            <a:avLst>
              <a:gd name="adj" fmla="val 10000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0" y="3538728"/>
            <a:ext cx="5815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tick0 = ADR setup  →  tick1..N-2 = read low  →  tick N-2 sample  →  tick N-1 rsp_valid</a:t>
            </a:r>
            <a:endParaRPr lang="en-US" sz="1160" dirty="0"/>
          </a:p>
        </p:txBody>
      </p:sp>
      <p:sp>
        <p:nvSpPr>
          <p:cNvPr id="30" name="Text 26"/>
          <p:cNvSpPr/>
          <p:nvPr/>
        </p:nvSpPr>
        <p:spPr>
          <a:xfrm>
            <a:off x="5340096" y="4078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timing 조합</a:t>
            </a:r>
            <a:endParaRPr lang="en-US" sz="1240" dirty="0"/>
          </a:p>
        </p:txBody>
      </p:sp>
      <p:sp>
        <p:nvSpPr>
          <p:cNvPr id="31" name="Shape 27"/>
          <p:cNvSpPr/>
          <p:nvPr/>
        </p:nvSpPr>
        <p:spPr>
          <a:xfrm>
            <a:off x="5340096" y="4315968"/>
            <a:ext cx="9144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340096" y="44074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clk_div</a:t>
            </a:r>
            <a:endParaRPr lang="en-US" sz="980" dirty="0"/>
          </a:p>
        </p:txBody>
      </p:sp>
      <p:sp>
        <p:nvSpPr>
          <p:cNvPr id="33" name="Shape 29"/>
          <p:cNvSpPr/>
          <p:nvPr/>
        </p:nvSpPr>
        <p:spPr>
          <a:xfrm>
            <a:off x="6254496" y="4315968"/>
            <a:ext cx="9144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54496" y="44074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ticks</a:t>
            </a:r>
            <a:endParaRPr lang="en-US" sz="980" dirty="0"/>
          </a:p>
        </p:txBody>
      </p:sp>
      <p:sp>
        <p:nvSpPr>
          <p:cNvPr id="35" name="Shape 31"/>
          <p:cNvSpPr/>
          <p:nvPr/>
        </p:nvSpPr>
        <p:spPr>
          <a:xfrm>
            <a:off x="7168896" y="4315968"/>
            <a:ext cx="114300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168896" y="440740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sample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8311896" y="4315968"/>
            <a:ext cx="105156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311896" y="440740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rate</a:t>
            </a:r>
            <a:endParaRPr lang="en-US" sz="980" dirty="0"/>
          </a:p>
        </p:txBody>
      </p:sp>
      <p:sp>
        <p:nvSpPr>
          <p:cNvPr id="39" name="Shape 35"/>
          <p:cNvSpPr/>
          <p:nvPr/>
        </p:nvSpPr>
        <p:spPr>
          <a:xfrm>
            <a:off x="9363456" y="4315968"/>
            <a:ext cx="141732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363456" y="44074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5340096" y="4626864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340096" y="47183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</a:t>
            </a:r>
            <a:endParaRPr lang="en-US" sz="970" dirty="0"/>
          </a:p>
        </p:txBody>
      </p:sp>
      <p:sp>
        <p:nvSpPr>
          <p:cNvPr id="43" name="Shape 39"/>
          <p:cNvSpPr/>
          <p:nvPr/>
        </p:nvSpPr>
        <p:spPr>
          <a:xfrm>
            <a:off x="6254496" y="4626864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254496" y="47183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5</a:t>
            </a:r>
            <a:endParaRPr lang="en-US" sz="970" dirty="0"/>
          </a:p>
        </p:txBody>
      </p:sp>
      <p:sp>
        <p:nvSpPr>
          <p:cNvPr id="45" name="Shape 41"/>
          <p:cNvSpPr/>
          <p:nvPr/>
        </p:nvSpPr>
        <p:spPr>
          <a:xfrm>
            <a:off x="7168896" y="4626864"/>
            <a:ext cx="1143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168896" y="471830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25ns</a:t>
            </a:r>
            <a:endParaRPr lang="en-US" sz="970" dirty="0"/>
          </a:p>
        </p:txBody>
      </p:sp>
      <p:sp>
        <p:nvSpPr>
          <p:cNvPr id="47" name="Shape 43"/>
          <p:cNvSpPr/>
          <p:nvPr/>
        </p:nvSpPr>
        <p:spPr>
          <a:xfrm>
            <a:off x="8311896" y="4626864"/>
            <a:ext cx="1051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311896" y="471830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20MHz</a:t>
            </a:r>
            <a:endParaRPr lang="en-US" sz="970" dirty="0"/>
          </a:p>
        </p:txBody>
      </p:sp>
      <p:sp>
        <p:nvSpPr>
          <p:cNvPr id="49" name="Shape 45"/>
          <p:cNvSpPr/>
          <p:nvPr/>
        </p:nvSpPr>
        <p:spPr>
          <a:xfrm>
            <a:off x="9363456" y="4626864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363456" y="471830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reset default</a:t>
            </a:r>
            <a:endParaRPr lang="en-US" sz="970" dirty="0"/>
          </a:p>
        </p:txBody>
      </p:sp>
      <p:sp>
        <p:nvSpPr>
          <p:cNvPr id="51" name="Shape 47"/>
          <p:cNvSpPr/>
          <p:nvPr/>
        </p:nvSpPr>
        <p:spPr>
          <a:xfrm>
            <a:off x="5340096" y="4937760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340096" y="50292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</a:t>
            </a:r>
            <a:endParaRPr lang="en-US" sz="970" dirty="0"/>
          </a:p>
        </p:txBody>
      </p:sp>
      <p:sp>
        <p:nvSpPr>
          <p:cNvPr id="53" name="Shape 49"/>
          <p:cNvSpPr/>
          <p:nvPr/>
        </p:nvSpPr>
        <p:spPr>
          <a:xfrm>
            <a:off x="6254496" y="4937760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254496" y="50292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</a:t>
            </a:r>
            <a:endParaRPr lang="en-US" sz="970" dirty="0"/>
          </a:p>
        </p:txBody>
      </p:sp>
      <p:sp>
        <p:nvSpPr>
          <p:cNvPr id="55" name="Shape 51"/>
          <p:cNvSpPr/>
          <p:nvPr/>
        </p:nvSpPr>
        <p:spPr>
          <a:xfrm>
            <a:off x="7168896" y="4937760"/>
            <a:ext cx="1143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168896" y="502920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15ns</a:t>
            </a:r>
            <a:endParaRPr lang="en-US" sz="970" dirty="0"/>
          </a:p>
        </p:txBody>
      </p:sp>
      <p:sp>
        <p:nvSpPr>
          <p:cNvPr id="57" name="Shape 53"/>
          <p:cNvSpPr/>
          <p:nvPr/>
        </p:nvSpPr>
        <p:spPr>
          <a:xfrm>
            <a:off x="8311896" y="4937760"/>
            <a:ext cx="1051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311896" y="50292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25MHz</a:t>
            </a:r>
            <a:endParaRPr lang="en-US" sz="970" dirty="0"/>
          </a:p>
        </p:txBody>
      </p:sp>
      <p:sp>
        <p:nvSpPr>
          <p:cNvPr id="59" name="Shape 55"/>
          <p:cNvSpPr/>
          <p:nvPr/>
        </p:nvSpPr>
        <p:spPr>
          <a:xfrm>
            <a:off x="9363456" y="4937760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363456" y="502920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RTL 최소</a:t>
            </a:r>
            <a:endParaRPr lang="en-US" sz="970" dirty="0"/>
          </a:p>
        </p:txBody>
      </p:sp>
      <p:sp>
        <p:nvSpPr>
          <p:cNvPr id="61" name="Shape 57"/>
          <p:cNvSpPr/>
          <p:nvPr/>
        </p:nvSpPr>
        <p:spPr>
          <a:xfrm>
            <a:off x="5340096" y="524865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40096" y="534009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</a:t>
            </a:r>
            <a:endParaRPr lang="en-US" sz="970" dirty="0"/>
          </a:p>
        </p:txBody>
      </p:sp>
      <p:sp>
        <p:nvSpPr>
          <p:cNvPr id="63" name="Shape 59"/>
          <p:cNvSpPr/>
          <p:nvPr/>
        </p:nvSpPr>
        <p:spPr>
          <a:xfrm>
            <a:off x="6254496" y="524865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254496" y="534009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5</a:t>
            </a:r>
            <a:endParaRPr lang="en-US" sz="970" dirty="0"/>
          </a:p>
        </p:txBody>
      </p:sp>
      <p:sp>
        <p:nvSpPr>
          <p:cNvPr id="65" name="Shape 61"/>
          <p:cNvSpPr/>
          <p:nvPr/>
        </p:nvSpPr>
        <p:spPr>
          <a:xfrm>
            <a:off x="7168896" y="5248656"/>
            <a:ext cx="1143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168896" y="534009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15ns</a:t>
            </a:r>
            <a:endParaRPr lang="en-US" sz="970" dirty="0"/>
          </a:p>
        </p:txBody>
      </p:sp>
      <p:sp>
        <p:nvSpPr>
          <p:cNvPr id="67" name="Shape 63"/>
          <p:cNvSpPr/>
          <p:nvPr/>
        </p:nvSpPr>
        <p:spPr>
          <a:xfrm>
            <a:off x="8311896" y="5248656"/>
            <a:ext cx="1051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8311896" y="53400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40MHz</a:t>
            </a:r>
            <a:endParaRPr lang="en-US" sz="970" dirty="0"/>
          </a:p>
        </p:txBody>
      </p:sp>
      <p:sp>
        <p:nvSpPr>
          <p:cNvPr id="69" name="Shape 65"/>
          <p:cNvSpPr/>
          <p:nvPr/>
        </p:nvSpPr>
        <p:spPr>
          <a:xfrm>
            <a:off x="9363456" y="5248656"/>
            <a:ext cx="1417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9363456" y="534009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주석상 fastest legal</a:t>
            </a:r>
            <a:endParaRPr lang="en-US" sz="970" dirty="0"/>
          </a:p>
        </p:txBody>
      </p:sp>
      <p:sp>
        <p:nvSpPr>
          <p:cNvPr id="71" name="Shape 67"/>
          <p:cNvSpPr/>
          <p:nvPr/>
        </p:nvSpPr>
        <p:spPr>
          <a:xfrm>
            <a:off x="5340096" y="5650992"/>
            <a:ext cx="607161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5504688" y="5769864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포인트</a:t>
            </a:r>
            <a:endParaRPr lang="en-US" sz="1340" dirty="0"/>
          </a:p>
        </p:txBody>
      </p:sp>
      <p:sp>
        <p:nvSpPr>
          <p:cNvPr id="73" name="Text 69"/>
          <p:cNvSpPr/>
          <p:nvPr/>
        </p:nvSpPr>
        <p:spPr>
          <a:xfrm>
            <a:off x="5504688" y="6016752"/>
            <a:ext cx="5742432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RTL은 28-bit 버스 경로를 전제로 하고, OEN permanent + burst read로 IFIFO를 빠르게 비우되 “empty FIFO를 읽지 않는다”는 datasheet 제약을 지킨다.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1개를 읽는 FSM 계층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제어는 chip_ctrl coordinator와 chip_run sub-FSM의 2단 구조다. coordinator는 phase를 고르고, chip_run은 실제 shot capture/drain/ALU 순서를 수행한다.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Per-chip FSM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4389120" cy="5321808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47218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제어 계층과 역할 분담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72768" y="2304288"/>
            <a:ext cx="0" cy="32918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72768" y="3401568"/>
            <a:ext cx="0" cy="438912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78608" y="4187952"/>
            <a:ext cx="31089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9584" y="4425696"/>
            <a:ext cx="0" cy="38404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9504" y="5468112"/>
            <a:ext cx="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" y="1737360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4F0FF"/>
          </a:solidFill>
          <a:ln w="12700">
            <a:solidFill>
              <a:srgbClr val="D9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85623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cmd_arb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2103120"/>
            <a:ext cx="12435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 / cfg / reg 요청 선택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3232" y="2706624"/>
            <a:ext cx="1719072" cy="676656"/>
          </a:xfrm>
          <a:prstGeom prst="roundRect">
            <a:avLst>
              <a:gd name="adj" fmla="val 6757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8254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072384"/>
            <a:ext cx="13898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PH_RUN / REG / INIT / RESP_DRAIN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3840480"/>
            <a:ext cx="1719072" cy="676656"/>
          </a:xfrm>
          <a:prstGeom prst="roundRect">
            <a:avLst>
              <a:gd name="adj" fmla="val 6757"/>
            </a:avLst>
          </a:prstGeom>
          <a:solidFill>
            <a:srgbClr val="D9F3EF"/>
          </a:solidFill>
          <a:ln w="12700">
            <a:solidFill>
              <a:srgbClr val="BFE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95935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chip_run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4206240"/>
            <a:ext cx="13898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ARMED → CAPTURE → DRAIN → ALU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9504" y="3803904"/>
            <a:ext cx="133502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922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54096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tick 기반 async bus FSM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9504" y="4809744"/>
            <a:ext cx="133502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4928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 pins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54096" y="5175504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ADR / RDN / WRN / EF / LF / IrFlag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" y="5760720"/>
            <a:ext cx="343814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897880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chip_ctrl는 phase 경계와 stale response 배출을, chip_run은 shot 단위 capture/drain 정책을 책임진다.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102352" y="1353312"/>
            <a:ext cx="6656832" cy="5321808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66944" y="1472184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샷 1회 읽기 순서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13248" y="1755648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874520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packet_start / cmd_start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5577840" y="2121408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 timing, drain mode, max_range_clks 등의 run 설정을 snapshot하고 chip_run을 ARMED로 보낸다.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413248" y="2505456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624328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shot_start → CAPTURE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5577840" y="2871216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shot_start_per_chip이 들어오면 range_active가 켜지고 capture window가 열린다. 기대 stop 수는 stop_cfg_decode가 따로 누적한다.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413248" y="3255264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D9F3EF"/>
          </a:solidFill>
          <a:ln w="12700">
            <a:solidFill>
              <a:srgbClr val="D9F3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374136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IrFlag → DRAIN_LATCH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5577840" y="3621024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칩이 내부 post-processing을 끝내면 IrFlag가 올라오고, chip_run이 expected IFIFO1/2 count를 latch한다.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413248" y="4005072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FCEFD3"/>
          </a:solidFill>
          <a:ln w="12700">
            <a:solidFill>
              <a:srgbClr val="FCEF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4123944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DRAIN_EF1 / EF2 / BURST</a:t>
            </a:r>
            <a:endParaRPr lang="en-US" sz="1280" dirty="0"/>
          </a:p>
        </p:txBody>
      </p:sp>
      <p:sp>
        <p:nvSpPr>
          <p:cNvPr id="45" name="Text 43"/>
          <p:cNvSpPr/>
          <p:nvPr/>
        </p:nvSpPr>
        <p:spPr>
          <a:xfrm>
            <a:off x="5577840" y="4370832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EF1-first 정책으로 읽기 시작하고 LF 기반 burst read를 사용한다. 필요하면 IFIFO1 완료 beat를 먼저 내보낸다.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5413248" y="4754880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873752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drain_done → ALU pulse</a:t>
            </a:r>
            <a:endParaRPr lang="en-US" sz="1280" dirty="0"/>
          </a:p>
        </p:txBody>
      </p:sp>
      <p:sp>
        <p:nvSpPr>
          <p:cNvPr id="48" name="Text 46"/>
          <p:cNvSpPr/>
          <p:nvPr/>
        </p:nvSpPr>
        <p:spPr>
          <a:xfrm>
            <a:off x="5577840" y="5120640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읽기가 끝나면 ALU trigger pulse와 recovery를 거쳐 칩 내부 후처리 상태를 정리한다.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413248" y="5504688"/>
            <a:ext cx="5961888" cy="658368"/>
          </a:xfrm>
          <a:prstGeom prst="roundRect">
            <a:avLst>
              <a:gd name="adj" fmla="val 6944"/>
            </a:avLst>
          </a:prstGeom>
          <a:solidFill>
            <a:srgbClr val="FDE5E5"/>
          </a:solidFill>
          <a:ln w="12700">
            <a:solidFill>
              <a:srgbClr val="FD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5623560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457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다음 shot 준비</a:t>
            </a:r>
            <a:endParaRPr lang="en-US" sz="1280" dirty="0"/>
          </a:p>
        </p:txBody>
      </p:sp>
      <p:sp>
        <p:nvSpPr>
          <p:cNvPr id="51" name="Text 49"/>
          <p:cNvSpPr/>
          <p:nvPr/>
        </p:nvSpPr>
        <p:spPr>
          <a:xfrm>
            <a:off x="5577840" y="5870448"/>
            <a:ext cx="56327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cmd_stop이 없으면 ARMED로 복귀하고, 있으면 OFF로 떨어진다. phase 경계에서는 PH_RESP_DRAIN이 남은 response를 비운다.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읽은 28-bit raw word가 event 의미를 갖게 되는 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버스에서 나온 값은 아직 “숫자”에 가깝다. decoder_i_mode가 bit field를 해석하고, raw_event_builder가 chip/shot/stop 문맥을 붙인다.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5650992" cy="5340096"/>
          </a:xfrm>
          <a:prstGeom prst="roundRect">
            <a:avLst>
              <a:gd name="adj" fmla="val 85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472184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비트 필드가 단계별로 바뀌는 방식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7739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A. chip_ctrl raw stream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77824" y="1993392"/>
            <a:ext cx="2423160" cy="365760"/>
          </a:xfrm>
          <a:prstGeom prst="rect">
            <a:avLst/>
          </a:prstGeom>
          <a:solidFill>
            <a:srgbClr val="DCE8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93976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2F6B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tdata[27:0] raw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300984" y="1993392"/>
            <a:ext cx="868680" cy="365760"/>
          </a:xfrm>
          <a:prstGeom prst="rect">
            <a:avLst/>
          </a:prstGeom>
          <a:solidFill>
            <a:srgbClr val="EDE4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09397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C3AED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ififo_id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169664" y="1993392"/>
            <a:ext cx="1051560" cy="365760"/>
          </a:xfrm>
          <a:prstGeom prst="rect">
            <a:avLst/>
          </a:prstGeom>
          <a:solidFill>
            <a:srgbClr val="FCEFD3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0939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F59E0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drain_done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77824" y="245059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drain_done는 data=0인 control beat로 함께 흐른다.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749808" y="28529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B. decoder_i_mode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877824" y="3072384"/>
            <a:ext cx="1188720" cy="365760"/>
          </a:xfrm>
          <a:prstGeom prst="rect">
            <a:avLst/>
          </a:prstGeom>
          <a:solidFill>
            <a:srgbClr val="D9F3E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7296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0F9D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raw_hit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066544" y="3072384"/>
            <a:ext cx="640080" cy="365760"/>
          </a:xfrm>
          <a:prstGeom prst="rect">
            <a:avLst/>
          </a:prstGeom>
          <a:solidFill>
            <a:srgbClr val="EDE4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31729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7C3AED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slope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706624" y="3072384"/>
            <a:ext cx="640080" cy="365760"/>
          </a:xfrm>
          <a:prstGeom prst="rect">
            <a:avLst/>
          </a:prstGeom>
          <a:solidFill>
            <a:srgbClr val="DCE8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31729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2F6B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cha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346704" y="3072384"/>
            <a:ext cx="868680" cy="365760"/>
          </a:xfrm>
          <a:prstGeom prst="rect">
            <a:avLst/>
          </a:prstGeom>
          <a:solidFill>
            <a:srgbClr val="DDF4E5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317296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1E9B4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stop_id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215384" y="3072384"/>
            <a:ext cx="603504" cy="365760"/>
          </a:xfrm>
          <a:prstGeom prst="rect">
            <a:avLst/>
          </a:prstGeom>
          <a:solidFill>
            <a:srgbClr val="FCEFD3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15384" y="317296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F59E0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ififo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818888" y="3072384"/>
            <a:ext cx="749808" cy="365760"/>
          </a:xfrm>
          <a:prstGeom prst="rect">
            <a:avLst/>
          </a:prstGeom>
          <a:solidFill>
            <a:srgbClr val="FDE5E5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17296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E4575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drain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77824" y="352958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I-mode bit layout를 해석해 slope와 stop_id_local을 복원한다.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749808" y="39319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C. raw_event_builder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877824" y="4151376"/>
            <a:ext cx="804672" cy="365760"/>
          </a:xfrm>
          <a:prstGeom prst="rect">
            <a:avLst/>
          </a:prstGeom>
          <a:solidFill>
            <a:srgbClr val="D9F3E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25196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9D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hit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82496" y="4151376"/>
            <a:ext cx="603504" cy="365760"/>
          </a:xfrm>
          <a:prstGeom prst="rect">
            <a:avLst/>
          </a:prstGeom>
          <a:solidFill>
            <a:srgbClr val="DCE8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82496" y="425196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6B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chip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4151376"/>
            <a:ext cx="676656" cy="365760"/>
          </a:xfrm>
          <a:prstGeom prst="rect">
            <a:avLst/>
          </a:prstGeom>
          <a:solidFill>
            <a:srgbClr val="DDF4E5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425196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9B4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stop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62656" y="4151376"/>
            <a:ext cx="566928" cy="365760"/>
          </a:xfrm>
          <a:prstGeom prst="rect">
            <a:avLst/>
          </a:prstGeom>
          <a:solidFill>
            <a:srgbClr val="FCEFD3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62656" y="425196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ififo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29584" y="4151376"/>
            <a:ext cx="658368" cy="365760"/>
          </a:xfrm>
          <a:prstGeom prst="rect">
            <a:avLst/>
          </a:prstGeom>
          <a:solidFill>
            <a:srgbClr val="FDE5E5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425196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575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drain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87952" y="4151376"/>
            <a:ext cx="822960" cy="365760"/>
          </a:xfrm>
          <a:prstGeom prst="rect">
            <a:avLst/>
          </a:prstGeom>
          <a:solidFill>
            <a:srgbClr val="EDE4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87952" y="42519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hit_seq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10912" y="4151376"/>
            <a:ext cx="877824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425196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shot_seq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" y="460857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시점부터 downstream은 “어느 chip의 어느 stop에서 나온 몇 번째 hit인지”를 안다.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77824" y="5577840"/>
            <a:ext cx="47365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416" y="5715000"/>
            <a:ext cx="44074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즉, decoder_i_mode는 비트 해석을, raw_event_builder는 시스템 문맥 부착을 담당한다.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6364224" y="1353312"/>
            <a:ext cx="5376672" cy="5340096"/>
          </a:xfrm>
          <a:prstGeom prst="roundRect">
            <a:avLst>
              <a:gd name="adj" fmla="val 85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28816" y="1472184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모듈별 역할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656832" y="1773936"/>
            <a:ext cx="4773168" cy="841248"/>
          </a:xfrm>
          <a:prstGeom prst="roundRect">
            <a:avLst>
              <a:gd name="adj" fmla="val 5435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1892808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raw AXIS</a:t>
            </a:r>
            <a:endParaRPr lang="en-US" sz="1380" dirty="0"/>
          </a:p>
        </p:txBody>
      </p:sp>
      <p:sp>
        <p:nvSpPr>
          <p:cNvPr id="54" name="Text 52"/>
          <p:cNvSpPr/>
          <p:nvPr/>
        </p:nvSpPr>
        <p:spPr>
          <a:xfrm>
            <a:off x="6821424" y="2139696"/>
            <a:ext cx="4443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응답을 32-bit+tuser 형태로 정리해 decode_pipe로 보냄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6656832" y="2743200"/>
            <a:ext cx="4773168" cy="841248"/>
          </a:xfrm>
          <a:prstGeom prst="roundRect">
            <a:avLst>
              <a:gd name="adj" fmla="val 5435"/>
            </a:avLst>
          </a:prstGeom>
          <a:solidFill>
            <a:srgbClr val="D9F3EF"/>
          </a:solidFill>
          <a:ln w="12700">
            <a:solidFill>
              <a:srgbClr val="D9F3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1424" y="2862072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</a:t>
            </a:r>
            <a:endParaRPr lang="en-US" sz="1380" dirty="0"/>
          </a:p>
        </p:txBody>
      </p:sp>
      <p:sp>
        <p:nvSpPr>
          <p:cNvPr id="57" name="Text 55"/>
          <p:cNvSpPr/>
          <p:nvPr/>
        </p:nvSpPr>
        <p:spPr>
          <a:xfrm>
            <a:off x="6821424" y="3108960"/>
            <a:ext cx="4443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word의 channel / slope / start# 비트를 해석해 event 골격을 만듦</a:t>
            </a:r>
            <a:endParaRPr lang="en-US" sz="1040" dirty="0"/>
          </a:p>
        </p:txBody>
      </p:sp>
      <p:sp>
        <p:nvSpPr>
          <p:cNvPr id="58" name="Shape 56"/>
          <p:cNvSpPr/>
          <p:nvPr/>
        </p:nvSpPr>
        <p:spPr>
          <a:xfrm>
            <a:off x="6656832" y="3712464"/>
            <a:ext cx="4773168" cy="841248"/>
          </a:xfrm>
          <a:prstGeom prst="roundRect">
            <a:avLst>
              <a:gd name="adj" fmla="val 5435"/>
            </a:avLst>
          </a:prstGeom>
          <a:solidFill>
            <a:srgbClr val="FCEFD3"/>
          </a:solidFill>
          <a:ln w="12700">
            <a:solidFill>
              <a:srgbClr val="FCEFD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3831336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</a:t>
            </a:r>
            <a:endParaRPr lang="en-US" sz="1380" dirty="0"/>
          </a:p>
        </p:txBody>
      </p:sp>
      <p:sp>
        <p:nvSpPr>
          <p:cNvPr id="60" name="Text 58"/>
          <p:cNvSpPr/>
          <p:nvPr/>
        </p:nvSpPr>
        <p:spPr>
          <a:xfrm>
            <a:off x="6821424" y="4078224"/>
            <a:ext cx="4443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chip_id / shot_seq / local hit sequence를 붙이고 stop_id 범위를 검사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6656832" y="4681728"/>
            <a:ext cx="4773168" cy="841248"/>
          </a:xfrm>
          <a:prstGeom prst="roundRect">
            <a:avLst>
              <a:gd name="adj" fmla="val 543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21424" y="4800600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evt_sk → cell_pipe</a:t>
            </a:r>
            <a:endParaRPr lang="en-US" sz="1380" dirty="0"/>
          </a:p>
        </p:txBody>
      </p:sp>
      <p:sp>
        <p:nvSpPr>
          <p:cNvPr id="63" name="Text 61"/>
          <p:cNvSpPr/>
          <p:nvPr/>
        </p:nvSpPr>
        <p:spPr>
          <a:xfrm>
            <a:off x="6821424" y="5047488"/>
            <a:ext cx="4443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skid를 지난 뒤 slope demux로 전달되며 여기서부터 rise/fall path가 분리됨</a:t>
            </a:r>
            <a:endParaRPr lang="en-US" sz="1040" dirty="0"/>
          </a:p>
        </p:txBody>
      </p:sp>
      <p:sp>
        <p:nvSpPr>
          <p:cNvPr id="64" name="Shape 62"/>
          <p:cNvSpPr/>
          <p:nvPr/>
        </p:nvSpPr>
        <p:spPr>
          <a:xfrm>
            <a:off x="6656832" y="5614416"/>
            <a:ext cx="4773168" cy="420624"/>
          </a:xfrm>
          <a:prstGeom prst="roundRect">
            <a:avLst>
              <a:gd name="adj" fmla="val 10870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21424" y="5751576"/>
            <a:ext cx="4443984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“raw 숫자”가 “정렬 가능한 event”로 바뀌는 경계가 바로 decode_pipe다.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event가 chip slice(cell array)로 바뀌는 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cell_pipe는 slope로 먼저 분리하고, cell_builder는 sparse event를 stop 순서가 정해진 dense cell로 바꿔서 “칩 1개 분량 slice”를 내보낸다.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build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6455664" cy="5340096"/>
          </a:xfrm>
          <a:prstGeom prst="roundRect">
            <a:avLst>
              <a:gd name="adj" fmla="val 85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47218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 + cell_builder 개요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7556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흐름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04672" y="2011680"/>
            <a:ext cx="969264" cy="603504"/>
          </a:xfrm>
          <a:prstGeom prst="roundRect">
            <a:avLst>
              <a:gd name="adj" fmla="val 7576"/>
            </a:avLst>
          </a:prstGeom>
          <a:solidFill>
            <a:srgbClr val="DCE8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1305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evt_sk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969264" y="2377440"/>
            <a:ext cx="6400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event 입력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121408" y="2011680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D9F3EF"/>
          </a:solidFill>
          <a:ln w="12700">
            <a:solidFill>
              <a:srgbClr val="BFE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1305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slope demux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2286000" y="2377440"/>
            <a:ext cx="7863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 / fall 분리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657600" y="2011680"/>
            <a:ext cx="1316736" cy="603504"/>
          </a:xfrm>
          <a:prstGeom prst="roundRect">
            <a:avLst>
              <a:gd name="adj" fmla="val 7576"/>
            </a:avLst>
          </a:prstGeom>
          <a:solidFill>
            <a:srgbClr val="DDF4E5"/>
          </a:solidFill>
          <a:ln w="12700">
            <a:solidFill>
              <a:srgbClr val="C6E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21305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x8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822192" y="2377440"/>
            <a:ext cx="9875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rise + 4 fall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394960" y="2011680"/>
            <a:ext cx="914400" cy="603504"/>
          </a:xfrm>
          <a:prstGeom prst="roundRect">
            <a:avLst>
              <a:gd name="adj" fmla="val 7576"/>
            </a:avLst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213055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slice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559552" y="2377440"/>
            <a:ext cx="5852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dense cell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792224" y="2313432"/>
            <a:ext cx="256032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55264" y="2313432"/>
            <a:ext cx="32918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92624" y="2313432"/>
            <a:ext cx="32918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49808" y="296265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개 cell_builder 내부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932688" y="3273552"/>
            <a:ext cx="1078992" cy="841248"/>
          </a:xfrm>
          <a:prstGeom prst="roundRect">
            <a:avLst>
              <a:gd name="adj" fmla="val 5435"/>
            </a:avLst>
          </a:prstGeom>
          <a:solidFill>
            <a:srgbClr val="DCE8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3924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BUF_COLLECT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097280" y="3639312"/>
            <a:ext cx="7498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 동안 raw hit 기록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980944" y="3273552"/>
            <a:ext cx="1078992" cy="841248"/>
          </a:xfrm>
          <a:prstGeom prst="roundRect">
            <a:avLst>
              <a:gd name="adj" fmla="val 5435"/>
            </a:avLst>
          </a:prstGeom>
          <a:solidFill>
            <a:srgbClr val="D9F3EF"/>
          </a:solidFill>
          <a:ln w="12700">
            <a:solidFill>
              <a:srgbClr val="BFE7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5536" y="33924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BUF_SHARED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3145536" y="3639312"/>
            <a:ext cx="7498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상반부 출력과 하반부 stop 기록 병행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29200" y="3273552"/>
            <a:ext cx="1078992" cy="841248"/>
          </a:xfrm>
          <a:prstGeom prst="roundRect">
            <a:avLst>
              <a:gd name="adj" fmla="val 5435"/>
            </a:avLst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33924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SLICE OUT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193792" y="3639312"/>
            <a:ext cx="7498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index 순서로 cell + metadata 출력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2048256" y="3685032"/>
            <a:ext cx="85953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96512" y="3685032"/>
            <a:ext cx="859536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32688" y="4626864"/>
            <a:ext cx="517550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7457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정책</a:t>
            </a:r>
            <a:endParaRPr lang="en-US" sz="1360" dirty="0"/>
          </a:p>
        </p:txBody>
      </p:sp>
      <p:sp>
        <p:nvSpPr>
          <p:cNvPr id="40" name="Text 38"/>
          <p:cNvSpPr/>
          <p:nvPr/>
        </p:nvSpPr>
        <p:spPr>
          <a:xfrm>
            <a:off x="109728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ififo1_done이 오면 stop0~3 출력이 먼저 시작되고, stop3→4 경계에서는 WAIT_IFIFO2로 넘어간다. IFIFO2가 늦으면 synthetic final beat로 slice를 닫아 상위 영구대기를 막는다.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150608" y="1353312"/>
            <a:ext cx="4590288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0" y="1472184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의미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0" y="1719072"/>
            <a:ext cx="426110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stop index 기준으로 정렬된 dense cell 배열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hit slot들 뒤에 metadata beat가 붙음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metadata에는 hit_valid / hit_count_actual / dropped / error_fill / chip_id가 담김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50608" y="3675888"/>
            <a:ext cx="4590288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15200" y="3794760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max_hits_cfg와 output beat 수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24928" y="4133088"/>
            <a:ext cx="82296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24928" y="42428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max_hits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8247888" y="4133088"/>
            <a:ext cx="91440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42428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cell_size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9162288" y="4133088"/>
            <a:ext cx="105156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62288" y="424281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32b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213848" y="4133088"/>
            <a:ext cx="105156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13848" y="424281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64b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7424928" y="449884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24928" y="460857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8247888" y="4498848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47888" y="460857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4B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9162288" y="449884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62288" y="46085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10213848" y="449884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13848" y="46085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7424928" y="486460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24928" y="497433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8247888" y="4864608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47888" y="49743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8B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9162288" y="486460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62288" y="497433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10213848" y="486460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13848" y="497433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7424928" y="523036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24928" y="534009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8247888" y="5230368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47888" y="534009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16B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9162288" y="523036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62288" y="53400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10213848" y="523036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13848" y="53400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80" dirty="0"/>
          </a:p>
        </p:txBody>
      </p:sp>
      <p:sp>
        <p:nvSpPr>
          <p:cNvPr id="78" name="Shape 76"/>
          <p:cNvSpPr/>
          <p:nvPr/>
        </p:nvSpPr>
        <p:spPr>
          <a:xfrm>
            <a:off x="7424928" y="559612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24928" y="57058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80" dirty="0"/>
          </a:p>
        </p:txBody>
      </p:sp>
      <p:sp>
        <p:nvSpPr>
          <p:cNvPr id="80" name="Shape 78"/>
          <p:cNvSpPr/>
          <p:nvPr/>
        </p:nvSpPr>
        <p:spPr>
          <a:xfrm>
            <a:off x="8247888" y="5596128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47888" y="570585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9B4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32B</a:t>
            </a:r>
            <a:endParaRPr lang="en-US" sz="980" dirty="0"/>
          </a:p>
        </p:txBody>
      </p:sp>
      <p:sp>
        <p:nvSpPr>
          <p:cNvPr id="82" name="Shape 80"/>
          <p:cNvSpPr/>
          <p:nvPr/>
        </p:nvSpPr>
        <p:spPr>
          <a:xfrm>
            <a:off x="9162288" y="559612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162288" y="57058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10213848" y="5596128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13848" y="57058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80" dirty="0"/>
          </a:p>
        </p:txBody>
      </p:sp>
      <p:sp>
        <p:nvSpPr>
          <p:cNvPr id="86" name="Shape 84"/>
          <p:cNvSpPr/>
          <p:nvPr/>
        </p:nvSpPr>
        <p:spPr>
          <a:xfrm>
            <a:off x="7424928" y="6071616"/>
            <a:ext cx="40416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89520" y="6208776"/>
            <a:ext cx="371246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즉, max_hits_cfg는 slice 폭과 후단 메모리 대역 요구량을 직접 바꾼다.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slice가 face / frame / AXI stream으로 나가는 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output_stage는 chip 단위 slice를 shot 단위 row로 묶고, face header를 앞에 붙여서 최종 VDMA/AXI-Stream line으로 만든다.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5760720" cy="5340096"/>
          </a:xfrm>
          <a:prstGeom prst="roundRect">
            <a:avLst>
              <a:gd name="adj" fmla="val 85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472184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조립 파이프라인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75564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generic lane (동일한 구조가 rising / falling에 각각 1벌씩 존재)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86384" y="2048256"/>
            <a:ext cx="969264" cy="621792"/>
          </a:xfrm>
          <a:prstGeom prst="roundRect">
            <a:avLst>
              <a:gd name="adj" fmla="val 7353"/>
            </a:avLst>
          </a:prstGeom>
          <a:solidFill>
            <a:srgbClr val="DCE8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67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chip slices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50976" y="2414016"/>
            <a:ext cx="640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chip0..3 input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975104" y="2048256"/>
            <a:ext cx="1005840" cy="621792"/>
          </a:xfrm>
          <a:prstGeom prst="roundRect">
            <a:avLst>
              <a:gd name="adj" fmla="val 7353"/>
            </a:avLst>
          </a:prstGeom>
          <a:solidFill>
            <a:srgbClr val="D9F3EF"/>
          </a:solidFill>
          <a:ln w="12700">
            <a:solidFill>
              <a:srgbClr val="BFE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9696" y="216712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139696" y="2414016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조립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200400" y="2048256"/>
            <a:ext cx="841248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1671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 FIFO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364992" y="2414016"/>
            <a:ext cx="5120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완충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261104" y="2048256"/>
            <a:ext cx="1005840" cy="621792"/>
          </a:xfrm>
          <a:prstGeom prst="roundRect">
            <a:avLst>
              <a:gd name="adj" fmla="val 7353"/>
            </a:avLst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216712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2414016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 부착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5486400" y="2048256"/>
            <a:ext cx="512064" cy="621792"/>
          </a:xfrm>
          <a:prstGeom prst="roundRect">
            <a:avLst>
              <a:gd name="adj" fmla="val 8929"/>
            </a:avLst>
          </a:prstGeom>
          <a:solidFill>
            <a:srgbClr val="EEF2F7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2167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AXI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650992" y="2414016"/>
            <a:ext cx="1828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1773936" y="2359152"/>
            <a:ext cx="14630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99232" y="2359152"/>
            <a:ext cx="14630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59936" y="2359152"/>
            <a:ext cx="14630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85232" y="2359152"/>
            <a:ext cx="14630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" y="3054096"/>
            <a:ext cx="52120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3172968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 정책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950976" y="3419856"/>
            <a:ext cx="4882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strict in-order로 chip0 → chip1 → chip2 → chip3 순서를 강제한다. inactive chip은 skip하고, timeout chip은 blank cell로 self-complete해 row 흐름을 끊지 않는다.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786384" y="4370832"/>
            <a:ext cx="52120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48970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 역할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950976" y="4736592"/>
            <a:ext cx="48828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line0에는 실제 metadata header를 붙이고, 이후 line에는 zero prefix를 붙인다. upstream tlast는 최종 output line의 EOL(tlast)로 전달된다.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786384" y="5669280"/>
            <a:ext cx="5212080" cy="420624"/>
          </a:xfrm>
          <a:prstGeom prst="roundRect">
            <a:avLst>
              <a:gd name="adj" fmla="val 10870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5806440"/>
            <a:ext cx="48828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output_stage는 “chip slice → row → face header 포함 AXI line” 변환기다.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437376" y="1353312"/>
            <a:ext cx="5303520" cy="5340096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01968" y="147218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 / header 포맷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29984" y="1755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VDMA line 구조</a:t>
            </a:r>
            <a:endParaRPr lang="en-US" sz="1240" dirty="0"/>
          </a:p>
        </p:txBody>
      </p:sp>
      <p:sp>
        <p:nvSpPr>
          <p:cNvPr id="41" name="Shape 39"/>
          <p:cNvSpPr/>
          <p:nvPr/>
        </p:nvSpPr>
        <p:spPr>
          <a:xfrm>
            <a:off x="6729984" y="2048256"/>
            <a:ext cx="1207008" cy="420624"/>
          </a:xfrm>
          <a:prstGeom prst="rect">
            <a:avLst/>
          </a:prstGeom>
          <a:solidFill>
            <a:srgbClr val="FCEFD3"/>
          </a:solidFill>
          <a:ln w="12700">
            <a:solidFill>
              <a:srgbClr val="F5D79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21122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prefix 48B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36992" y="2048256"/>
            <a:ext cx="3493008" cy="420624"/>
          </a:xfrm>
          <a:prstGeom prst="rect">
            <a:avLst/>
          </a:prstGeom>
          <a:solidFill>
            <a:srgbClr val="DDF4E5"/>
          </a:solidFill>
          <a:ln w="12700">
            <a:solidFill>
              <a:srgbClr val="C6E8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36992" y="2176272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data region  (rows_per_face × stops_per_chip × beats/cell)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6729984" y="2651760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Beat0 of line0은 SOF(tuser[0])를 세우고, upstream tlast는 output EOL로 전달된다.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6729984" y="30175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header에 들어가는 대표 필드</a:t>
            </a:r>
            <a:endParaRPr lang="en-US" sz="1240" dirty="0"/>
          </a:p>
        </p:txBody>
      </p:sp>
      <p:sp>
        <p:nvSpPr>
          <p:cNvPr id="47" name="Shape 45"/>
          <p:cNvSpPr/>
          <p:nvPr/>
        </p:nvSpPr>
        <p:spPr>
          <a:xfrm>
            <a:off x="6766560" y="3328416"/>
            <a:ext cx="4553712" cy="365760"/>
          </a:xfrm>
          <a:prstGeom prst="roundRect">
            <a:avLst>
              <a:gd name="adj" fmla="val 12500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3465576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magic / frame_id / face_id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6766560" y="3767328"/>
            <a:ext cx="4553712" cy="365760"/>
          </a:xfrm>
          <a:prstGeom prst="roundRect">
            <a:avLst>
              <a:gd name="adj" fmla="val 12500"/>
            </a:avLst>
          </a:prstGeom>
          <a:solidFill>
            <a:srgbClr val="D9F3EF"/>
          </a:solidFill>
          <a:ln w="12700">
            <a:solidFill>
              <a:srgbClr val="D9F3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31152" y="3904488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active mask / n_faces / stops_per_chip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6766560" y="4206240"/>
            <a:ext cx="4553712" cy="365760"/>
          </a:xfrm>
          <a:prstGeom prst="roundRect">
            <a:avLst>
              <a:gd name="adj" fmla="val 12500"/>
            </a:avLst>
          </a:prstGeom>
          <a:solidFill>
            <a:srgbClr val="DDF4E5"/>
          </a:solidFill>
          <a:ln w="12700">
            <a:solidFill>
              <a:srgbClr val="DDF4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4343400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9B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rows_per_face / cols_per_face / max_hits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6766560" y="4645152"/>
            <a:ext cx="4553712" cy="365760"/>
          </a:xfrm>
          <a:prstGeom prst="roundRect">
            <a:avLst>
              <a:gd name="adj" fmla="val 12500"/>
            </a:avLst>
          </a:prstGeom>
          <a:solidFill>
            <a:srgbClr val="FCEFD3"/>
          </a:solidFill>
          <a:ln w="12700">
            <a:solidFill>
              <a:srgbClr val="FCEF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4782312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shot_seq / start_off1 / bin_resolution_ps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6766560" y="5084064"/>
            <a:ext cx="4553712" cy="365760"/>
          </a:xfrm>
          <a:prstGeom prst="roundRect">
            <a:avLst>
              <a:gd name="adj" fmla="val 12500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31152" y="5221224"/>
            <a:ext cx="422452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timestamp_ns / error_count / chip_err_mask</a:t>
            </a:r>
            <a:endParaRPr lang="en-US" sz="1060" dirty="0"/>
          </a:p>
        </p:txBody>
      </p:sp>
      <p:sp>
        <p:nvSpPr>
          <p:cNvPr id="57" name="Shape 55"/>
          <p:cNvSpPr/>
          <p:nvPr/>
        </p:nvSpPr>
        <p:spPr>
          <a:xfrm>
            <a:off x="6729984" y="5669280"/>
            <a:ext cx="45902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5806440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소비자는 header를 보고 face geometry와 timing snapshot을 해석한 뒤, 뒤따르는 cell region을 같은 face 데이터로 읽으면 된다.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클록 도메인, backpressure, watchdog, 디버그 관찰점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768096"/>
            <a:ext cx="9784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경계·FIFO·skid·watchdog이 버스와 AXI 출력 사이의 변동을 흡수한다. bring-up에서는 “핀 → FSM → AXI” 순서로 좁혀 가는 것이 가장 빠르다.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1201400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32918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2992" y="38404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CDC / debug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5724144" cy="5340096"/>
          </a:xfrm>
          <a:prstGeom prst="roundRect">
            <a:avLst>
              <a:gd name="adj" fmla="val 85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4721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경계와 완충 구조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" y="1773936"/>
            <a:ext cx="1408176" cy="4334256"/>
          </a:xfrm>
          <a:prstGeom prst="roundRect">
            <a:avLst>
              <a:gd name="adj" fmla="val 3247"/>
            </a:avLst>
          </a:prstGeom>
          <a:solidFill>
            <a:srgbClr val="F4F0FF"/>
          </a:solidFill>
          <a:ln w="12700">
            <a:solidFill>
              <a:srgbClr val="D9C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928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s_axi_aclk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139696"/>
            <a:ext cx="1078992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csr_chip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csr_pipeline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 pulse 생성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soft clear / status read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377440" y="1773936"/>
            <a:ext cx="1755648" cy="4334256"/>
          </a:xfrm>
          <a:prstGeom prst="roundRect">
            <a:avLst>
              <a:gd name="adj" fmla="val 2604"/>
            </a:avLst>
          </a:prstGeom>
          <a:solidFill>
            <a:srgbClr val="EDF4FF"/>
          </a:solidFill>
          <a:ln w="12700">
            <a:solidFill>
              <a:srgbClr val="C8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8928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i_tdc_clk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2542032" y="2139696"/>
            <a:ext cx="1426464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/ chip_run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hold + skid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raw_cdc xpm_fifo_async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25696" y="1773936"/>
            <a:ext cx="1481328" cy="4334256"/>
          </a:xfrm>
          <a:prstGeom prst="roundRect">
            <a:avLst>
              <a:gd name="adj" fmla="val 3086"/>
            </a:avLst>
          </a:prstGeom>
          <a:solidFill>
            <a:srgbClr val="D9F3EF"/>
          </a:solidFill>
          <a:ln w="12700">
            <a:solidFill>
              <a:srgbClr val="BFE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89280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F9D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i_axis_aclk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590288" y="2139696"/>
            <a:ext cx="1152144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stop_cfg_decode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decode_pipe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output_stage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121408" y="3913632"/>
            <a:ext cx="20116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9664" y="3913632"/>
            <a:ext cx="201168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82512" y="1353312"/>
            <a:ext cx="5358384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47104" y="1472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watchdog / 보호 포인트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6547104" y="1719072"/>
            <a:ext cx="5029200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chip_run: drain response wait + pending-stuck 감시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face_assembler: scan timeout / blank-fill self-complete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header_inserter: drain watchdog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err_handler: read timeout / frame wait escape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382512" y="3273552"/>
            <a:ext cx="53583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33924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ILA / 시뮬레이션에서 꼭 볼 신호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47104" y="3639312"/>
            <a:ext cx="50292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EF1, EF2, LF1, LF2, IrFlag, o_busy, o_rsp_pending, raw_sk_tvalid/tready, evt_sk_tvalid/tready, cell_tlast, frame_done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382512" y="4736592"/>
            <a:ext cx="5358384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47104" y="4855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0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bring-up 체크 순서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47104" y="5102352"/>
            <a:ext cx="502920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핀/버스: ADR/CSN/RDN/WRN/OEN, EF/LF, IrFlag 파형이 datasheet 순서와 맞는지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FSM/카운트: chip_ctrl phase, chip_run CAPTURE→DRAIN, expected/actual drain count가 맞는지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3) AXIS/포맷: raw→event→cell 전파, face_assembler chip0→3 순서, header SOF와 output tlast(EOL)가 맞는지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2998</Words>
  <Application>Microsoft Office PowerPoint</Application>
  <PresentationFormat>와이드스크린</PresentationFormat>
  <Paragraphs>295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NanumGothicCoding</vt:lpstr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읽기 타이밍 및 데이터 흐름 분석</dc:title>
  <dc:subject>TDC-GPX timing and data-flow analysis</dc:subject>
  <dc:creator>OpenAI</dc:creator>
  <cp:lastModifiedBy>하늘 정</cp:lastModifiedBy>
  <cp:revision>2</cp:revision>
  <dcterms:created xsi:type="dcterms:W3CDTF">2026-04-19T12:15:02Z</dcterms:created>
  <dcterms:modified xsi:type="dcterms:W3CDTF">2026-04-28T07:45:26Z</dcterms:modified>
</cp:coreProperties>
</file>